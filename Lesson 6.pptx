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  <p:sldMasterId id="2147483671" r:id="rId3"/>
  </p:sldMasterIdLst>
  <p:sldIdLst>
    <p:sldId id="256" r:id="rId4"/>
    <p:sldId id="279" r:id="rId5"/>
    <p:sldId id="258" r:id="rId6"/>
    <p:sldId id="261" r:id="rId7"/>
    <p:sldId id="259" r:id="rId8"/>
    <p:sldId id="281" r:id="rId9"/>
    <p:sldId id="282" r:id="rId10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28F"/>
    <a:srgbClr val="6B8F78"/>
    <a:srgbClr val="A5937C"/>
    <a:srgbClr val="B8A389"/>
    <a:srgbClr val="72A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6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480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1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4.svg"/><Relationship Id="rId7" Type="http://schemas.openxmlformats.org/officeDocument/2006/relationships/image" Target="../media/image2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1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0.svg"/><Relationship Id="rId7" Type="http://schemas.openxmlformats.org/officeDocument/2006/relationships/image" Target="../media/image2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0.svg"/><Relationship Id="rId7" Type="http://schemas.openxmlformats.org/officeDocument/2006/relationships/image" Target="../media/image2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DC2DC8-1595-44EF-BFD9-634D72F2F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22976C-28C1-4BC5-9217-130437DA3E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0204" y="-38100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10095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DBD948-FFCE-4D2E-BEE0-3C32B762D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58351E-B534-465D-A8F5-236C4D80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518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E6EAD658-A226-A3A6-41F7-B72B2B8341C3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73EAC630-A11A-D73E-3199-107B2F705E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7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01B5D9-F6E0-4A39-98D1-657D0A8C9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060" y="-1899920"/>
            <a:ext cx="7310519" cy="6858000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00EDBD10-4EDE-4618-85CA-6D2CADFB3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2FCA5C9-AA13-4F01-BD43-FC044507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2FFC77-4263-4986-8A76-0AC15E91BB2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7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3041FD-6EA9-499C-A61F-4E874A0AB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0153" y="482600"/>
            <a:ext cx="7291214" cy="6858000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8E4274C-D935-4115-A7D5-157F47ABB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74869F-179C-4489-8DC6-0CDA85AF7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58FBD195-76D0-453F-9596-9D71F5E73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A9D2A2-1D2C-402D-9EFF-500B66E2871C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9B83FE-1E29-4DE1-BFF2-44C1353434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DBAC5DF-9D84-4F82-96C7-C30B101A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77F94C-29EA-49B1-879F-EF1E254E71E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AD901F8E-46CC-4F1F-941A-9C8CB460F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AFF098-F98A-4D1C-A827-F7E92128388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77A5F91-C19C-4830-8C59-8A0C00ECA2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8420" y="1549400"/>
            <a:ext cx="7310519" cy="68580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89277C-13FF-4D71-B74A-FB978E49F7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F9B0AC-F7CE-4C89-A37F-1DA7456E21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642A39B-DF47-433F-B7B6-809C07A39B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E8F16DF-C8BD-40A7-910D-248B961089D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0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47822F0-FC3A-4855-A2A3-A14BA9B7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49B80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983A5480-DF03-4035-B3B8-1553171D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C859BB-0BCE-4C54-90C2-2BD4AED5D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00714" y="1231900"/>
            <a:ext cx="7291214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6C8595-4940-402A-9564-B9334E2D83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0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B772CFF-81A1-4F2A-A9F8-4FEB1A48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D8A24-A315-4944-9867-C1DA065734D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B2E5A99-BFD6-4694-9C56-3AC298D88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BF817F-52BB-442A-8FFF-A25989AA8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95780" y="-1153159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8A929-0234-4EEB-B329-01E890F4A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B49530-6DA7-4F35-9514-8BE833DAD4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E99A0E-2129-4E57-9789-F25B42D14C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1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ел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49B80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CE900B-2FB8-4A3F-9338-99F3B9AF71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00714" y="1231900"/>
            <a:ext cx="7291214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8404D3-404E-4ABA-BB23-9BD1CAD36F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642B1264-4497-3856-F421-999A21A66E5F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2BF36D35-0701-2958-3FE6-A461B9A40D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57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0CC9A-347F-4696-B90E-12366BD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F3A619-A762-4B38-8E0F-2DAE159B46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8237" y="-46567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41071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713A2-3A3E-479C-B2D8-A8A8B59E54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5465B1-A71B-4D1A-9B20-033F0C9588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3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50F990-8C58-9B06-442C-6FCD14A6EADB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E0F2196A-AA2C-7D93-4038-7C05358C30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6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0BC3B13-ADD8-4A96-BA31-E2D2E226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14A78A83-CE00-402B-8F3A-A4A908373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8"/>
            <a:ext cx="5120640" cy="37636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D0FF8FCB-7D6B-4BF0-A980-F1007F0E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257800" cy="56133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B3337A-2127-4A09-9DA9-088D83920078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1B506B72-42A8-44EA-862B-37BC99F6233D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F95E6434-2293-39B7-2152-0F18EEB7D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60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7E8F52-96D2-4A1B-AE6A-40A7150C3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42249" y="914400"/>
            <a:ext cx="7397057" cy="6858000"/>
          </a:xfrm>
          <a:prstGeom prst="rect">
            <a:avLst/>
          </a:prstGeom>
        </p:spPr>
      </p:pic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E89D047B-7CBB-4256-AE89-B70A8BAA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1AEE2F4-3150-4558-BBAB-90CE35BBC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>
            <a:extLst>
              <a:ext uri="{FF2B5EF4-FFF2-40B4-BE49-F238E27FC236}">
                <a16:creationId xmlns:a16="http://schemas.microsoft.com/office/drawing/2014/main" id="{3AE18B6B-9355-4E0C-9EE6-2AC62F95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9A6B1D-B9A0-4A34-A547-56B7EAA74483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91EAE45-7CEB-4BAB-A77A-ACA04C42AB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58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02F980-77F1-4034-99A9-ED911C070E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B4FCC4B-C0D0-4C37-95B6-B8FBB88A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5CAFBB7-69A1-422F-9EDB-FEFCFD81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B13095-225E-4E37-8E0E-C0A30DFBCC2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774939AC-6322-4ED8-954A-C72C5620342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EB643FC0-87AC-4E8C-8025-4FBD80A697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2021E72-12F4-4437-9D61-85147A11C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3795032-345E-46AA-B0A0-CA6FCFC494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69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5575B9-F26A-4F89-9C8D-4B55258A7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9412" y="1224637"/>
            <a:ext cx="7310519" cy="68580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5D01B1D-FD5F-40C5-B133-FB07F3F0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E1C443C-3522-4792-B5A4-CE9582C7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3A4661-9E8D-46A7-A090-8E59ED88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66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4750BEF-B5D4-469C-B034-BB9A1A9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352516-8A73-4932-82BB-B9CD41C9BAF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EC7020A-97E9-4487-97F1-9DE6E474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47F1027-212D-48AD-BC20-875F24643FB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B9BF6E-B3AF-4B71-8733-5EA40999F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ECA3CC-5CB9-4137-9BE0-889AAA7B32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40251E-90F2-437F-8630-722F412E73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17C989-5497-4FA1-B95E-451A8E72BD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59A685-1FBC-44DC-8AE2-2CACEBE51E5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89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E52CF1-E2DC-4845-97B2-8A8F2536CF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7DFB984-A410-4F1E-924E-32DBD5EF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57945D-708C-4B53-B47D-732F0A36481D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60302506-4DB1-4217-97D4-BCE625DA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584BB9B-8973-47ED-B7C0-4186B1DCF1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0530ABE-CBDC-4FC4-84E7-36EF1DF310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4D9FC69-1C2C-4FE8-B4AA-A6A8403FF80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19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84CC287-EC0D-4649-AD8F-23BF7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12BA82-E5F3-4806-B740-AFE1CCFE6042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340667B-5D23-411F-8C48-518015D4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530EFBB-9F9D-4A0F-8FB6-A34508E70C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512A5C1-722C-41C0-B67A-1EBC58C6A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32DB44-2463-4D4D-8931-315D05E8E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9A4828-3F3E-4778-A041-D66C11698A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AA7C9-B1B6-4E88-B0D6-B090F65F75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D5D892-2891-41EA-81F2-DCBDDE884A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8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8AAEA8-B3ED-49FB-A821-379ACE662F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B61119-1930-4639-8A95-2C1955FCDA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560" y="-33126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937864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4A68D1-9680-4CE6-9E47-B4EF5C8B3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54A482-91C2-4667-9BD5-AB549982F7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8560" y="-66992"/>
            <a:ext cx="7310519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032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4E73F807-5DA6-9785-4A54-BE4A37D12FA5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B27174C5-D2DF-5C53-62CA-A71DB25389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978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E01F7D-1F81-4DF0-8C39-49BC4D2AD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252" y="882650"/>
            <a:ext cx="7243196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6E1931B-0CBF-4A08-8947-8B499025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AD95C48-59F0-4685-B96D-246C719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111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A38DD6-45D8-431D-8A91-C6CEE352BA0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980506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7F9DBF1-EDBD-4C67-AD42-85421179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A71DC7A-6F84-499B-89BA-C830E1EE9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F13EEAEE-6CDA-4670-8ED2-79D457F7C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F19C2F-4C72-4C0C-8583-1731CBD8380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D948FD4-3067-4A13-804C-A45E069463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23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113E84-D1CB-496C-96D6-1AD8FCE44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52" y="2417128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3323971-C755-434A-BD41-61917102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901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20B953E-D106-4A57-AF0B-30E930ADA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1B0F410-B337-4C94-B938-7548A0BA2711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9B702B78-D833-472E-8554-75AE840BE90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1827847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70CC8E4F-D53E-479C-980E-59A051A5C5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1372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1A7316-47EA-43C3-976C-2AE3220F09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0E08F9B-6950-4550-A87C-6C7800F798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68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02C97-1F85-4BF6-96B6-B44EBFDD9A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5972" y="-152400"/>
            <a:ext cx="7310519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E229FF7-E7D1-402F-9F97-A4479C921AD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558799"/>
            <a:ext cx="6949014" cy="56203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D3AC320-2BC7-4B39-80DC-F0D06A98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BBF62A7-CB76-4201-AFD5-C65DA47CE2E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22BD306E-F571-4555-AC45-277C87FA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24CD73-1AD2-47CA-8688-6D04B7B33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4A17FA0-2B36-4198-8AEC-E9B2740150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53B99D-BC5C-40BE-A25A-DF0DDCDC7AD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B2CA3A-2BD3-419B-AC86-4DF1B2F04E2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008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860954-3ED1-49CE-B617-61C85D0FC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0" y="-1738312"/>
            <a:ext cx="7310519" cy="685800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90501DD-A3A7-479D-97B6-609A597E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AD82E11-AA7E-42FE-89ED-BB1481CBE776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3D55C13C-9F95-4B2C-98EE-BA3460C27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47CC49-8335-4E58-B739-4BCEF51D7D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E13EFE5-C0E8-4429-B3FC-AC9643127DD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1DC1D-ECD9-48EC-AB20-AFF40AB8533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837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A6E8A29-52AD-4BD1-808F-39C7735EF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3BBBF77-1802-41C5-8276-9F69E1270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9A977234-724D-4967-94B4-C8B247929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8C1255-9948-487E-A9DE-2B48E5FBB5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161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Беж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FFA702-AFB7-47CE-9126-B6593F6A8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793F36-A140-4C27-939D-4F196E382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21299876-26E2-09CB-0AF5-59EEFE6C4AA2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B2D29A15-58C4-5CF7-47DF-A87B6375B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83F00-5E2A-08C7-18E6-82F0E23704E4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83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02C23-C3A3-9D2A-A68A-CBC7B7DCDD8B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439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57619-B362-84B8-82DF-828C6577D311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224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C3D6B-A20C-45DD-855B-4950EA141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1467" y="2235200"/>
            <a:ext cx="9144000" cy="2387600"/>
          </a:xfrm>
        </p:spPr>
        <p:txBody>
          <a:bodyPr/>
          <a:lstStyle/>
          <a:p>
            <a:r>
              <a:rPr lang="ru-RU" sz="5400" dirty="0"/>
              <a:t>Особенности тестирования </a:t>
            </a:r>
            <a:r>
              <a:rPr lang="en-US" sz="5400" dirty="0"/>
              <a:t>Web-</a:t>
            </a:r>
            <a:r>
              <a:rPr lang="ru-RU" sz="5400" dirty="0"/>
              <a:t>приложений</a:t>
            </a:r>
            <a:endParaRPr lang="ru-UA" sz="5400"/>
          </a:p>
        </p:txBody>
      </p:sp>
    </p:spTree>
    <p:extLst>
      <p:ext uri="{BB962C8B-B14F-4D97-AF65-F5344CB8AC3E}">
        <p14:creationId xmlns:p14="http://schemas.microsoft.com/office/powerpoint/2010/main" val="2220502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1FF85C-D319-4CC4-9E4D-E32F79E45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533" y="666045"/>
            <a:ext cx="9144000" cy="4399844"/>
          </a:xfrm>
        </p:spPr>
        <p:txBody>
          <a:bodyPr/>
          <a:lstStyle/>
          <a:p>
            <a:pPr algn="l"/>
            <a:r>
              <a:rPr lang="ru-RU" sz="1800" b="1" dirty="0">
                <a:solidFill>
                  <a:srgbClr val="6B8F78"/>
                </a:solidFill>
                <a:latin typeface="Montserrat" pitchFamily="2" charset="77"/>
              </a:rPr>
              <a:t>Веб-приложение</a:t>
            </a:r>
            <a:r>
              <a:rPr lang="ru-RU" sz="1800" dirty="0">
                <a:solidFill>
                  <a:srgbClr val="6B8F78"/>
                </a:solidFill>
                <a:latin typeface="Montserrat" pitchFamily="2" charset="77"/>
              </a:rPr>
              <a:t> – </a:t>
            </a:r>
            <a:r>
              <a:rPr lang="ru-RU" sz="1800" dirty="0">
                <a:solidFill>
                  <a:srgbClr val="6B8F78"/>
                </a:solidFill>
              </a:rPr>
              <a:t>это программное обеспечение, к которому пользователь получает доступ через браузер. </a:t>
            </a:r>
          </a:p>
          <a:p>
            <a:pPr algn="l"/>
            <a:r>
              <a:rPr lang="ru-RU" sz="1800" dirty="0">
                <a:solidFill>
                  <a:srgbClr val="6B8F78"/>
                </a:solidFill>
              </a:rPr>
              <a:t>Оно может быть простым (</a:t>
            </a:r>
            <a:r>
              <a:rPr lang="ru-RU" sz="1800" dirty="0" err="1">
                <a:solidFill>
                  <a:srgbClr val="6B8F78"/>
                </a:solidFill>
              </a:rPr>
              <a:t>лендинг</a:t>
            </a:r>
            <a:r>
              <a:rPr lang="ru-RU" sz="1800" dirty="0">
                <a:solidFill>
                  <a:srgbClr val="6B8F78"/>
                </a:solidFill>
              </a:rPr>
              <a:t>) или сложным (онлайн-магазин, банковская система, чат и т.д.), и работает по модели </a:t>
            </a:r>
            <a:r>
              <a:rPr lang="ru-RU" sz="1800" b="1" dirty="0">
                <a:solidFill>
                  <a:srgbClr val="6B8F78"/>
                </a:solidFill>
              </a:rPr>
              <a:t>клиент-сервер</a:t>
            </a:r>
            <a:r>
              <a:rPr lang="ru-RU" sz="1800" dirty="0">
                <a:solidFill>
                  <a:srgbClr val="6B8F78"/>
                </a:solidFill>
              </a:rPr>
              <a:t>.</a:t>
            </a:r>
          </a:p>
          <a:p>
            <a:pPr algn="l"/>
            <a:endParaRPr lang="ru-RU" sz="1800" dirty="0">
              <a:solidFill>
                <a:srgbClr val="6B8F78"/>
              </a:solidFill>
            </a:endParaRPr>
          </a:p>
          <a:p>
            <a:pPr algn="l"/>
            <a:r>
              <a:rPr lang="ru-RU" sz="1800" b="1" dirty="0">
                <a:solidFill>
                  <a:srgbClr val="6B8F78"/>
                </a:solidFill>
              </a:rPr>
              <a:t>Клиент = браузер, НЕ человек! </a:t>
            </a:r>
            <a:r>
              <a:rPr lang="ru-RU" sz="1800" b="1" dirty="0">
                <a:solidFill>
                  <a:srgbClr val="6B8F78"/>
                </a:solidFill>
                <a:sym typeface="Wingdings" pitchFamily="2" charset="2"/>
              </a:rPr>
              <a:t></a:t>
            </a:r>
          </a:p>
          <a:p>
            <a:pPr algn="l"/>
            <a:endParaRPr lang="ru-RU" sz="1800" b="1" dirty="0">
              <a:solidFill>
                <a:srgbClr val="6B8F78"/>
              </a:solidFill>
              <a:sym typeface="Wingdings" pitchFamily="2" charset="2"/>
            </a:endParaRPr>
          </a:p>
          <a:p>
            <a:pPr algn="l"/>
            <a:endParaRPr lang="ru-RU" sz="1800" dirty="0">
              <a:solidFill>
                <a:srgbClr val="6B8F78"/>
              </a:solidFill>
            </a:endParaRPr>
          </a:p>
          <a:p>
            <a:pPr algn="l"/>
            <a:endParaRPr lang="ru-UA" sz="1800">
              <a:solidFill>
                <a:srgbClr val="6B8F78"/>
              </a:solidFill>
              <a:latin typeface="Montserrat" pitchFamily="2" charset="77"/>
            </a:endParaRPr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805CEDE8-144E-1E8E-A166-CFED76D9D8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77402" y="6176962"/>
            <a:ext cx="569913" cy="528637"/>
          </a:xfrm>
        </p:spPr>
        <p:txBody>
          <a:bodyPr/>
          <a:lstStyle/>
          <a:p>
            <a:r>
              <a:rPr lang="ru-RU" dirty="0"/>
              <a:t>01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49340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BB233D7-5AB3-495E-AD46-22BE1C664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689"/>
            <a:ext cx="10515600" cy="5251274"/>
          </a:xfrm>
        </p:spPr>
        <p:txBody>
          <a:bodyPr/>
          <a:lstStyle/>
          <a:p>
            <a:r>
              <a:rPr lang="ru-RU" sz="1800" b="1" dirty="0">
                <a:solidFill>
                  <a:srgbClr val="6B8F78"/>
                </a:solidFill>
              </a:rPr>
              <a:t>Двухзвенная архитектура (2-</a:t>
            </a:r>
            <a:r>
              <a:rPr lang="en-US" sz="1800" b="1" dirty="0">
                <a:solidFill>
                  <a:srgbClr val="6B8F78"/>
                </a:solidFill>
              </a:rPr>
              <a:t>tier)</a:t>
            </a:r>
            <a:r>
              <a:rPr lang="ru-RU" sz="1800" b="1" dirty="0">
                <a:solidFill>
                  <a:srgbClr val="6B8F78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Клиентский уровень (</a:t>
            </a:r>
            <a:r>
              <a:rPr lang="en-US" sz="1600" b="1" dirty="0">
                <a:solidFill>
                  <a:srgbClr val="6B8F78"/>
                </a:solidFill>
              </a:rPr>
              <a:t>frontend)</a:t>
            </a:r>
            <a:r>
              <a:rPr lang="en-US" sz="1600" dirty="0">
                <a:solidFill>
                  <a:srgbClr val="6B8F78"/>
                </a:solidFill>
              </a:rPr>
              <a:t> — </a:t>
            </a:r>
            <a:r>
              <a:rPr lang="ru-RU" sz="1600" dirty="0">
                <a:solidFill>
                  <a:srgbClr val="6B8F78"/>
                </a:solidFill>
              </a:rPr>
              <a:t>пользовательский интерфейс, установленный на машине пользователя или в браузере (если это веб).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Серверный уровень (</a:t>
            </a:r>
            <a:r>
              <a:rPr lang="en-US" sz="1600" b="1" dirty="0">
                <a:solidFill>
                  <a:srgbClr val="6B8F78"/>
                </a:solidFill>
              </a:rPr>
              <a:t>backend + </a:t>
            </a:r>
            <a:r>
              <a:rPr lang="ru-RU" sz="1600" b="1" dirty="0">
                <a:solidFill>
                  <a:srgbClr val="6B8F78"/>
                </a:solidFill>
              </a:rPr>
              <a:t>база данных)</a:t>
            </a:r>
            <a:r>
              <a:rPr lang="ru-RU" sz="1600" dirty="0">
                <a:solidFill>
                  <a:srgbClr val="6B8F78"/>
                </a:solidFill>
              </a:rPr>
              <a:t> — обработка логики и хранение данных.</a:t>
            </a:r>
          </a:p>
          <a:p>
            <a:endParaRPr lang="ru-RU" dirty="0">
              <a:solidFill>
                <a:srgbClr val="6B8F78"/>
              </a:solidFill>
            </a:endParaRPr>
          </a:p>
          <a:p>
            <a:endParaRPr lang="ru-RU" dirty="0">
              <a:solidFill>
                <a:srgbClr val="6B8F78"/>
              </a:solidFill>
            </a:endParaRPr>
          </a:p>
          <a:p>
            <a:r>
              <a:rPr lang="ru-RU" sz="1800" b="1" dirty="0">
                <a:solidFill>
                  <a:srgbClr val="6B8F78"/>
                </a:solidFill>
              </a:rPr>
              <a:t>Трёхзвенная архитектура (3-</a:t>
            </a:r>
            <a:r>
              <a:rPr lang="en-US" sz="1800" b="1" dirty="0">
                <a:solidFill>
                  <a:srgbClr val="6B8F78"/>
                </a:solidFill>
              </a:rPr>
              <a:t>tier architecture) — </a:t>
            </a:r>
            <a:r>
              <a:rPr lang="ru-RU" sz="1800" b="1" dirty="0">
                <a:solidFill>
                  <a:srgbClr val="6B8F78"/>
                </a:solidFill>
              </a:rPr>
              <a:t>это архитектурный уровень, структура расположения компонентов: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Клиент (</a:t>
            </a:r>
            <a:r>
              <a:rPr lang="en-US" sz="1600" b="1" dirty="0">
                <a:solidFill>
                  <a:srgbClr val="6B8F78"/>
                </a:solidFill>
              </a:rPr>
              <a:t>presentation layer):</a:t>
            </a:r>
            <a:r>
              <a:rPr lang="en-US" sz="1600" dirty="0">
                <a:solidFill>
                  <a:srgbClr val="6B8F78"/>
                </a:solidFill>
              </a:rPr>
              <a:t> UI, </a:t>
            </a:r>
            <a:r>
              <a:rPr lang="ru-RU" sz="1600" dirty="0">
                <a:solidFill>
                  <a:srgbClr val="6B8F78"/>
                </a:solidFill>
              </a:rPr>
              <a:t>браузер, мобильное приложение.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Сервер приложений (</a:t>
            </a:r>
            <a:r>
              <a:rPr lang="en-US" sz="1600" b="1" dirty="0">
                <a:solidFill>
                  <a:srgbClr val="6B8F78"/>
                </a:solidFill>
              </a:rPr>
              <a:t>application logic):</a:t>
            </a:r>
            <a:r>
              <a:rPr lang="en-US" sz="1600" dirty="0">
                <a:solidFill>
                  <a:srgbClr val="6B8F78"/>
                </a:solidFill>
              </a:rPr>
              <a:t> </a:t>
            </a:r>
            <a:r>
              <a:rPr lang="ru-RU" sz="1600" dirty="0">
                <a:solidFill>
                  <a:srgbClr val="6B8F78"/>
                </a:solidFill>
              </a:rPr>
              <a:t>бизнес-логика.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6B8F78"/>
                </a:solidFill>
              </a:rPr>
              <a:t>Сервер базы данных (</a:t>
            </a:r>
            <a:r>
              <a:rPr lang="en-US" sz="1600" b="1" dirty="0">
                <a:solidFill>
                  <a:srgbClr val="6B8F78"/>
                </a:solidFill>
              </a:rPr>
              <a:t>data layer):</a:t>
            </a:r>
            <a:r>
              <a:rPr lang="en-US" sz="1600" dirty="0">
                <a:solidFill>
                  <a:srgbClr val="6B8F78"/>
                </a:solidFill>
              </a:rPr>
              <a:t> </a:t>
            </a:r>
            <a:r>
              <a:rPr lang="ru-RU" sz="1600" dirty="0">
                <a:solidFill>
                  <a:srgbClr val="6B8F78"/>
                </a:solidFill>
              </a:rPr>
              <a:t>хранение данных.</a:t>
            </a:r>
          </a:p>
          <a:p>
            <a:endParaRPr lang="ru-UA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AA94F2B-2AC4-49B0-98CB-7170678C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6386"/>
          </a:xfrm>
        </p:spPr>
        <p:txBody>
          <a:bodyPr/>
          <a:lstStyle/>
          <a:p>
            <a:r>
              <a:rPr lang="ru-RU" sz="2400" dirty="0">
                <a:solidFill>
                  <a:srgbClr val="6B8F78"/>
                </a:solidFill>
              </a:rPr>
              <a:t>2х и 3х уровневая (</a:t>
            </a:r>
            <a:r>
              <a:rPr lang="ru-RU" sz="2400" dirty="0" err="1">
                <a:solidFill>
                  <a:srgbClr val="6B8F78"/>
                </a:solidFill>
              </a:rPr>
              <a:t>звенная</a:t>
            </a:r>
            <a:r>
              <a:rPr lang="ru-RU" sz="2400" dirty="0">
                <a:solidFill>
                  <a:srgbClr val="6B8F78"/>
                </a:solidFill>
              </a:rPr>
              <a:t>) архитектура</a:t>
            </a:r>
            <a:endParaRPr lang="ru-UA" sz="2400">
              <a:solidFill>
                <a:srgbClr val="6B8F78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D19D43-40E2-491F-AE55-44EFD490DC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02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7927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5697284-F5F3-437C-A3B9-B0DBA3B62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14652" y="6181905"/>
            <a:ext cx="664459" cy="528637"/>
          </a:xfrm>
        </p:spPr>
        <p:txBody>
          <a:bodyPr/>
          <a:lstStyle/>
          <a:p>
            <a:r>
              <a:rPr lang="ru-RU" dirty="0"/>
              <a:t>03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6BE3E3-9FAC-4CEA-BC00-693C4814CA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361244"/>
            <a:ext cx="10515600" cy="581571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600" b="1" dirty="0">
                <a:solidFill>
                  <a:srgbClr val="1E628F"/>
                </a:solidFill>
              </a:rPr>
              <a:t>1. </a:t>
            </a:r>
            <a:r>
              <a:rPr lang="ru-RU" sz="1600" b="1" dirty="0" err="1">
                <a:solidFill>
                  <a:srgbClr val="1E628F"/>
                </a:solidFill>
              </a:rPr>
              <a:t>Кроссбраузерность</a:t>
            </a:r>
            <a:endParaRPr lang="ru-RU" sz="1600" b="1" dirty="0">
              <a:solidFill>
                <a:srgbClr val="1E628F"/>
              </a:solidFill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1E628F"/>
                </a:solidFill>
              </a:rPr>
              <a:t>Проблема:</a:t>
            </a:r>
            <a:r>
              <a:rPr lang="ru-RU" sz="1400" dirty="0">
                <a:solidFill>
                  <a:srgbClr val="1E628F"/>
                </a:solidFill>
              </a:rPr>
              <a:t> Различные браузеры (</a:t>
            </a:r>
            <a:r>
              <a:rPr lang="en-US" sz="1400" dirty="0">
                <a:solidFill>
                  <a:srgbClr val="1E628F"/>
                </a:solidFill>
              </a:rPr>
              <a:t>Chrome, Firefox, Safari) </a:t>
            </a:r>
            <a:r>
              <a:rPr lang="ru-RU" sz="1400" dirty="0">
                <a:solidFill>
                  <a:srgbClr val="1E628F"/>
                </a:solidFill>
              </a:rPr>
              <a:t>рендерят </a:t>
            </a:r>
            <a:r>
              <a:rPr lang="en-US" sz="1400" dirty="0">
                <a:solidFill>
                  <a:srgbClr val="1E628F"/>
                </a:solidFill>
              </a:rPr>
              <a:t>HTML/CSS/JS </a:t>
            </a:r>
            <a:r>
              <a:rPr lang="ru-RU" sz="1400" dirty="0">
                <a:solidFill>
                  <a:srgbClr val="1E628F"/>
                </a:solidFill>
              </a:rPr>
              <a:t>по-разному.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E628F"/>
                </a:solidFill>
              </a:rPr>
              <a:t>Что тестировать:</a:t>
            </a:r>
            <a:r>
              <a:rPr lang="ru-RU" sz="1400" dirty="0">
                <a:solidFill>
                  <a:srgbClr val="1E628F"/>
                </a:solidFill>
              </a:rPr>
              <a:t> </a:t>
            </a:r>
            <a:r>
              <a:rPr lang="en-US" sz="1400" dirty="0">
                <a:solidFill>
                  <a:srgbClr val="1E628F"/>
                </a:solidFill>
              </a:rPr>
              <a:t>UI-</a:t>
            </a:r>
            <a:r>
              <a:rPr lang="ru-RU" sz="1400" dirty="0">
                <a:solidFill>
                  <a:srgbClr val="1E628F"/>
                </a:solidFill>
              </a:rPr>
              <a:t>отображение, работа скриптов, поведение элементов.</a:t>
            </a:r>
            <a:endParaRPr lang="en-US" sz="1400" dirty="0">
              <a:solidFill>
                <a:srgbClr val="1E628F"/>
              </a:solidFill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1E628F"/>
                </a:solidFill>
              </a:rPr>
              <a:t>Инструменты:</a:t>
            </a:r>
            <a:r>
              <a:rPr lang="ru-RU" sz="1400" dirty="0">
                <a:solidFill>
                  <a:srgbClr val="1E628F"/>
                </a:solidFill>
              </a:rPr>
              <a:t> </a:t>
            </a:r>
            <a:r>
              <a:rPr lang="en-US" sz="1400" dirty="0" err="1">
                <a:solidFill>
                  <a:srgbClr val="1E628F"/>
                </a:solidFill>
              </a:rPr>
              <a:t>BrowserStack</a:t>
            </a:r>
            <a:r>
              <a:rPr lang="en-US" sz="1400" dirty="0">
                <a:solidFill>
                  <a:srgbClr val="1E628F"/>
                </a:solidFill>
              </a:rPr>
              <a:t>, </a:t>
            </a:r>
            <a:r>
              <a:rPr lang="en-US" sz="1400" dirty="0" err="1">
                <a:solidFill>
                  <a:srgbClr val="1E628F"/>
                </a:solidFill>
              </a:rPr>
              <a:t>SauceLabs</a:t>
            </a:r>
            <a:r>
              <a:rPr lang="en-US" sz="1400" dirty="0">
                <a:solidFill>
                  <a:srgbClr val="1E628F"/>
                </a:solidFill>
              </a:rPr>
              <a:t>, </a:t>
            </a:r>
            <a:r>
              <a:rPr lang="en-US" sz="1400" dirty="0" err="1">
                <a:solidFill>
                  <a:srgbClr val="1E628F"/>
                </a:solidFill>
              </a:rPr>
              <a:t>LambdaTest</a:t>
            </a:r>
            <a:r>
              <a:rPr lang="en-US" sz="1400" dirty="0">
                <a:solidFill>
                  <a:srgbClr val="1E628F"/>
                </a:solidFill>
              </a:rPr>
              <a:t>.</a:t>
            </a:r>
            <a:endParaRPr lang="ru-RU" sz="1400" dirty="0">
              <a:solidFill>
                <a:srgbClr val="1E628F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rgbClr val="1E628F"/>
              </a:solidFill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1E628F"/>
                </a:solidFill>
              </a:rPr>
              <a:t>В браузере есть два ключевых движка:</a:t>
            </a:r>
          </a:p>
          <a:p>
            <a:r>
              <a:rPr lang="en-US" sz="1400" b="1" dirty="0">
                <a:solidFill>
                  <a:srgbClr val="1E628F"/>
                </a:solidFill>
              </a:rPr>
              <a:t>Rendering engine (</a:t>
            </a:r>
            <a:r>
              <a:rPr lang="ru-RU" sz="1400" b="1" dirty="0">
                <a:solidFill>
                  <a:srgbClr val="1E628F"/>
                </a:solidFill>
              </a:rPr>
              <a:t>движок рендеринга)</a:t>
            </a:r>
            <a:r>
              <a:rPr lang="ru-RU" sz="1400" dirty="0">
                <a:solidFill>
                  <a:srgbClr val="1E628F"/>
                </a:solidFill>
              </a:rPr>
              <a:t> — отвечает за отображение </a:t>
            </a:r>
            <a:r>
              <a:rPr lang="en-US" sz="1400" dirty="0">
                <a:solidFill>
                  <a:srgbClr val="1E628F"/>
                </a:solidFill>
              </a:rPr>
              <a:t>HTML/CSS</a:t>
            </a:r>
            <a:r>
              <a:rPr lang="ru-RU" sz="1400" dirty="0">
                <a:solidFill>
                  <a:srgbClr val="1E628F"/>
                </a:solidFill>
              </a:rPr>
              <a:t> (</a:t>
            </a:r>
            <a:r>
              <a:rPr lang="en-US" sz="1400" dirty="0">
                <a:solidFill>
                  <a:srgbClr val="1E628F"/>
                </a:solidFill>
              </a:rPr>
              <a:t>Blink, Gecko, WebKit)</a:t>
            </a:r>
          </a:p>
          <a:p>
            <a:r>
              <a:rPr lang="en-US" sz="1400" b="1" dirty="0">
                <a:solidFill>
                  <a:srgbClr val="1E628F"/>
                </a:solidFill>
              </a:rPr>
              <a:t>JavaScript engine (</a:t>
            </a:r>
            <a:r>
              <a:rPr lang="ru-RU" sz="1400" b="1" dirty="0">
                <a:solidFill>
                  <a:srgbClr val="1E628F"/>
                </a:solidFill>
              </a:rPr>
              <a:t>движок выполнения </a:t>
            </a:r>
            <a:r>
              <a:rPr lang="en-US" sz="1400" b="1" dirty="0">
                <a:solidFill>
                  <a:srgbClr val="1E628F"/>
                </a:solidFill>
              </a:rPr>
              <a:t>JS)</a:t>
            </a:r>
            <a:r>
              <a:rPr lang="en-US" sz="1400" dirty="0">
                <a:solidFill>
                  <a:srgbClr val="1E628F"/>
                </a:solidFill>
              </a:rPr>
              <a:t> — </a:t>
            </a:r>
            <a:r>
              <a:rPr lang="ru-RU" sz="1400" dirty="0">
                <a:solidFill>
                  <a:srgbClr val="1E628F"/>
                </a:solidFill>
              </a:rPr>
              <a:t>исполняет </a:t>
            </a:r>
            <a:r>
              <a:rPr lang="en-US" sz="1400" dirty="0">
                <a:solidFill>
                  <a:srgbClr val="1E628F"/>
                </a:solidFill>
              </a:rPr>
              <a:t>JavaScript-</a:t>
            </a:r>
            <a:r>
              <a:rPr lang="ru-RU" sz="1400" dirty="0">
                <a:solidFill>
                  <a:srgbClr val="1E628F"/>
                </a:solidFill>
              </a:rPr>
              <a:t>код на страницах</a:t>
            </a:r>
            <a:r>
              <a:rPr lang="en-US" sz="1400" dirty="0">
                <a:solidFill>
                  <a:srgbClr val="1E628F"/>
                </a:solidFill>
              </a:rPr>
              <a:t> (V8, </a:t>
            </a:r>
            <a:r>
              <a:rPr lang="en-US" sz="1400" dirty="0" err="1">
                <a:solidFill>
                  <a:srgbClr val="1E628F"/>
                </a:solidFill>
              </a:rPr>
              <a:t>SpiderMonkey</a:t>
            </a:r>
            <a:r>
              <a:rPr lang="en-US" sz="1400" dirty="0">
                <a:solidFill>
                  <a:srgbClr val="1E628F"/>
                </a:solidFill>
              </a:rPr>
              <a:t>, </a:t>
            </a:r>
            <a:r>
              <a:rPr lang="en-US" sz="1400" dirty="0" err="1">
                <a:solidFill>
                  <a:srgbClr val="1E628F"/>
                </a:solidFill>
              </a:rPr>
              <a:t>JavaScriptCore</a:t>
            </a:r>
            <a:r>
              <a:rPr lang="en-US" sz="1400" dirty="0">
                <a:solidFill>
                  <a:srgbClr val="1E628F"/>
                </a:solidFill>
              </a:rPr>
              <a:t> ("Nitro")</a:t>
            </a:r>
            <a:r>
              <a:rPr lang="ru-RU" sz="1400" dirty="0">
                <a:solidFill>
                  <a:srgbClr val="1E628F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sz="1600" b="1" dirty="0">
                <a:solidFill>
                  <a:srgbClr val="1E628F"/>
                </a:solidFill>
              </a:rPr>
              <a:t>2. Кроссплатформенность и адаптивность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E628F"/>
                </a:solidFill>
              </a:rPr>
              <a:t>Проблема:</a:t>
            </a:r>
            <a:r>
              <a:rPr lang="ru-RU" sz="1400" dirty="0">
                <a:solidFill>
                  <a:srgbClr val="1E628F"/>
                </a:solidFill>
              </a:rPr>
              <a:t> Пользователи открывают сайт с разных устройств — ПК, планшетов, смартфонов.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E628F"/>
                </a:solidFill>
              </a:rPr>
              <a:t>Что тестировать:</a:t>
            </a:r>
            <a:r>
              <a:rPr lang="ru-RU" sz="1400" dirty="0">
                <a:solidFill>
                  <a:srgbClr val="1E628F"/>
                </a:solidFill>
              </a:rPr>
              <a:t> Адаптивность дизайна, удобство использования, кликабельность элементов.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1E628F"/>
                </a:solidFill>
              </a:rPr>
              <a:t>Инструменты:</a:t>
            </a:r>
            <a:r>
              <a:rPr lang="ru-RU" sz="1400" dirty="0">
                <a:solidFill>
                  <a:srgbClr val="1E628F"/>
                </a:solidFill>
              </a:rPr>
              <a:t> </a:t>
            </a:r>
            <a:r>
              <a:rPr lang="en-US" sz="1400" dirty="0" err="1">
                <a:solidFill>
                  <a:srgbClr val="1E628F"/>
                </a:solidFill>
              </a:rPr>
              <a:t>DevTools</a:t>
            </a:r>
            <a:r>
              <a:rPr lang="en-US" sz="1400" dirty="0">
                <a:solidFill>
                  <a:srgbClr val="1E628F"/>
                </a:solidFill>
              </a:rPr>
              <a:t> </a:t>
            </a:r>
            <a:r>
              <a:rPr lang="ru-RU" sz="1400" dirty="0">
                <a:solidFill>
                  <a:srgbClr val="1E628F"/>
                </a:solidFill>
              </a:rPr>
              <a:t>в браузерах, </a:t>
            </a:r>
            <a:r>
              <a:rPr lang="en-US" sz="1400" dirty="0">
                <a:solidFill>
                  <a:srgbClr val="1E628F"/>
                </a:solidFill>
              </a:rPr>
              <a:t>Responsive Design Mode, </a:t>
            </a:r>
            <a:r>
              <a:rPr lang="ru-RU" sz="1400" dirty="0">
                <a:solidFill>
                  <a:srgbClr val="1E628F"/>
                </a:solidFill>
              </a:rPr>
              <a:t>эмуляторы.</a:t>
            </a:r>
          </a:p>
          <a:p>
            <a:pPr marL="0" indent="0">
              <a:buNone/>
            </a:pP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22641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94C706D-CB16-4F9C-9728-CFFD1637C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98379" y="6199540"/>
            <a:ext cx="714598" cy="528637"/>
          </a:xfrm>
        </p:spPr>
        <p:txBody>
          <a:bodyPr/>
          <a:lstStyle/>
          <a:p>
            <a:r>
              <a:rPr lang="ru-RU" dirty="0"/>
              <a:t>04</a:t>
            </a:r>
            <a:endParaRPr lang="ru-UA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1D8917E-0538-476B-87A1-F31E9BD01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06400"/>
            <a:ext cx="10639202" cy="4741333"/>
          </a:xfrm>
        </p:spPr>
        <p:txBody>
          <a:bodyPr/>
          <a:lstStyle/>
          <a:p>
            <a:r>
              <a:rPr lang="ru-RU" sz="1600" b="1" dirty="0">
                <a:solidFill>
                  <a:srgbClr val="6B8F78"/>
                </a:solidFill>
              </a:rPr>
              <a:t>3. Скорость загрузки и производительность</a:t>
            </a:r>
          </a:p>
          <a:p>
            <a:r>
              <a:rPr lang="ru-RU" sz="1400" b="1" dirty="0">
                <a:solidFill>
                  <a:srgbClr val="6B8F78"/>
                </a:solidFill>
              </a:rPr>
              <a:t>Почему важно:</a:t>
            </a:r>
            <a:r>
              <a:rPr lang="ru-RU" sz="1400" dirty="0">
                <a:solidFill>
                  <a:srgbClr val="6B8F78"/>
                </a:solidFill>
              </a:rPr>
              <a:t> Пользователи не будут ждать, пока медленно грузится страница.</a:t>
            </a:r>
          </a:p>
          <a:p>
            <a:r>
              <a:rPr lang="ru-RU" sz="1400" b="1" dirty="0">
                <a:solidFill>
                  <a:srgbClr val="6B8F78"/>
                </a:solidFill>
              </a:rPr>
              <a:t>Что проверять:</a:t>
            </a:r>
            <a:r>
              <a:rPr lang="ru-RU" sz="1400" dirty="0">
                <a:solidFill>
                  <a:srgbClr val="6B8F78"/>
                </a:solidFill>
              </a:rPr>
              <a:t> Время загрузки, рендеринг, ответ сервера.</a:t>
            </a:r>
          </a:p>
          <a:p>
            <a:endParaRPr lang="en-US" sz="1600" dirty="0">
              <a:solidFill>
                <a:srgbClr val="6B8F78"/>
              </a:solidFill>
            </a:endParaRPr>
          </a:p>
          <a:p>
            <a:r>
              <a:rPr lang="en-US" sz="1600" b="1" dirty="0">
                <a:solidFill>
                  <a:srgbClr val="6B8F78"/>
                </a:solidFill>
              </a:rPr>
              <a:t>4. </a:t>
            </a:r>
            <a:r>
              <a:rPr lang="ru-RU" sz="1600" b="1" dirty="0">
                <a:solidFill>
                  <a:srgbClr val="6B8F78"/>
                </a:solidFill>
              </a:rPr>
              <a:t>Обновление кэша</a:t>
            </a:r>
          </a:p>
          <a:p>
            <a:r>
              <a:rPr lang="ru-RU" sz="1400" b="1" dirty="0">
                <a:solidFill>
                  <a:srgbClr val="6B8F78"/>
                </a:solidFill>
              </a:rPr>
              <a:t>Кэш</a:t>
            </a:r>
            <a:r>
              <a:rPr lang="ru-RU" sz="1400" dirty="0">
                <a:solidFill>
                  <a:srgbClr val="6B8F78"/>
                </a:solidFill>
              </a:rPr>
              <a:t> — это </a:t>
            </a:r>
            <a:r>
              <a:rPr lang="ru-RU" sz="1400" b="1" dirty="0">
                <a:solidFill>
                  <a:srgbClr val="6B8F78"/>
                </a:solidFill>
              </a:rPr>
              <a:t>временное хранилище данных</a:t>
            </a:r>
            <a:r>
              <a:rPr lang="ru-RU" sz="1400" dirty="0">
                <a:solidFill>
                  <a:srgbClr val="6B8F78"/>
                </a:solidFill>
              </a:rPr>
              <a:t>, которое позволяет быстрее получать часто используемую информацию, избегая повторных дорогостоящих операций (например, обращения к серверу, базе данных, пересчётов).</a:t>
            </a:r>
            <a:endParaRPr lang="ru-RU" sz="1400" b="1" dirty="0">
              <a:solidFill>
                <a:srgbClr val="6B8F78"/>
              </a:solidFill>
            </a:endParaRPr>
          </a:p>
          <a:p>
            <a:r>
              <a:rPr lang="ru-RU" sz="1400" b="1" dirty="0">
                <a:solidFill>
                  <a:srgbClr val="6B8F78"/>
                </a:solidFill>
              </a:rPr>
              <a:t>Проблема:</a:t>
            </a:r>
            <a:r>
              <a:rPr lang="ru-RU" sz="1400" dirty="0">
                <a:solidFill>
                  <a:srgbClr val="6B8F78"/>
                </a:solidFill>
              </a:rPr>
              <a:t> Браузер может кэшировать старые версии страниц, скриптов.</a:t>
            </a:r>
          </a:p>
          <a:p>
            <a:r>
              <a:rPr lang="ru-RU" sz="1400" b="1" dirty="0">
                <a:solidFill>
                  <a:srgbClr val="6B8F78"/>
                </a:solidFill>
              </a:rPr>
              <a:t>Что проверять:</a:t>
            </a:r>
            <a:r>
              <a:rPr lang="ru-RU" sz="1400" dirty="0">
                <a:solidFill>
                  <a:srgbClr val="6B8F78"/>
                </a:solidFill>
              </a:rPr>
              <a:t> Принудительное обновление, заголовки </a:t>
            </a:r>
            <a:r>
              <a:rPr lang="en-US" sz="1400" dirty="0">
                <a:solidFill>
                  <a:srgbClr val="6B8F78"/>
                </a:solidFill>
              </a:rPr>
              <a:t>Cache-Control, </a:t>
            </a:r>
            <a:r>
              <a:rPr lang="ru-RU" sz="1400" dirty="0">
                <a:solidFill>
                  <a:srgbClr val="6B8F78"/>
                </a:solidFill>
              </a:rPr>
              <a:t>использование версий скриптов.</a:t>
            </a:r>
          </a:p>
          <a:p>
            <a:endParaRPr lang="ru-RU" sz="1600" dirty="0">
              <a:solidFill>
                <a:srgbClr val="6B8F78"/>
              </a:solidFill>
            </a:endParaRPr>
          </a:p>
          <a:p>
            <a:r>
              <a:rPr lang="ru-RU" sz="1600" b="1" dirty="0">
                <a:solidFill>
                  <a:srgbClr val="6B8F78"/>
                </a:solidFill>
              </a:rPr>
              <a:t>5. Обновление Куки</a:t>
            </a:r>
          </a:p>
          <a:p>
            <a:r>
              <a:rPr lang="en-US" sz="1400" b="1" dirty="0">
                <a:solidFill>
                  <a:srgbClr val="6B8F78"/>
                </a:solidFill>
              </a:rPr>
              <a:t>Cookies</a:t>
            </a:r>
            <a:r>
              <a:rPr lang="en-US" sz="1400" dirty="0">
                <a:solidFill>
                  <a:srgbClr val="6B8F78"/>
                </a:solidFill>
              </a:rPr>
              <a:t> — </a:t>
            </a:r>
            <a:r>
              <a:rPr lang="ru-RU" sz="1400" dirty="0">
                <a:solidFill>
                  <a:srgbClr val="6B8F78"/>
                </a:solidFill>
              </a:rPr>
              <a:t>это </a:t>
            </a:r>
            <a:r>
              <a:rPr lang="ru-RU" sz="1400" b="1" dirty="0">
                <a:solidFill>
                  <a:srgbClr val="6B8F78"/>
                </a:solidFill>
              </a:rPr>
              <a:t>небольшие текстовые файлы</a:t>
            </a:r>
            <a:r>
              <a:rPr lang="ru-RU" sz="1400" dirty="0">
                <a:solidFill>
                  <a:srgbClr val="6B8F78"/>
                </a:solidFill>
              </a:rPr>
              <a:t>, которые веб-сервер отправляет браузеру, и которые сохраняются на стороне пользователя.</a:t>
            </a:r>
            <a:br>
              <a:rPr lang="ru-RU" sz="1400" dirty="0">
                <a:solidFill>
                  <a:srgbClr val="6B8F78"/>
                </a:solidFill>
              </a:rPr>
            </a:br>
            <a:r>
              <a:rPr lang="ru-RU" sz="1400" dirty="0">
                <a:solidFill>
                  <a:srgbClr val="6B8F78"/>
                </a:solidFill>
              </a:rPr>
              <a:t>При последующих запросах к тому же сайту браузер автоматически отправляет куки обратно серверу.</a:t>
            </a:r>
          </a:p>
          <a:p>
            <a:r>
              <a:rPr lang="en-US" sz="1400" dirty="0">
                <a:solidFill>
                  <a:srgbClr val="6B8F78"/>
                </a:solidFill>
              </a:rPr>
              <a:t>🔁 </a:t>
            </a:r>
            <a:r>
              <a:rPr lang="ru-RU" sz="1400" dirty="0">
                <a:solidFill>
                  <a:srgbClr val="6B8F78"/>
                </a:solidFill>
              </a:rPr>
              <a:t>Это способ </a:t>
            </a:r>
            <a:r>
              <a:rPr lang="ru-RU" sz="1400" b="1" dirty="0">
                <a:solidFill>
                  <a:srgbClr val="6B8F78"/>
                </a:solidFill>
              </a:rPr>
              <a:t>хранить информацию между сессиями и запросами</a:t>
            </a:r>
            <a:r>
              <a:rPr lang="ru-RU" sz="1400" dirty="0">
                <a:solidFill>
                  <a:srgbClr val="6B8F78"/>
                </a:solidFill>
              </a:rPr>
              <a:t>.</a:t>
            </a:r>
          </a:p>
          <a:p>
            <a:endParaRPr lang="en-US" sz="1600" dirty="0">
              <a:solidFill>
                <a:srgbClr val="6B8F7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5587-0981-BF35-B8D9-4E2708310EB0}"/>
              </a:ext>
            </a:extLst>
          </p:cNvPr>
          <p:cNvSpPr txBox="1"/>
          <p:nvPr/>
        </p:nvSpPr>
        <p:spPr>
          <a:xfrm>
            <a:off x="838199" y="5228271"/>
            <a:ext cx="468206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rgbClr val="6B8F78"/>
                </a:solidFill>
              </a:rPr>
              <a:t>В куки обычно хранится: </a:t>
            </a:r>
            <a:endParaRPr lang="en-US" sz="1400" b="1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сессия пользователя (например, </a:t>
            </a:r>
            <a:r>
              <a:rPr lang="en-US" sz="1400" dirty="0" err="1">
                <a:solidFill>
                  <a:srgbClr val="6B8F78"/>
                </a:solidFill>
              </a:rPr>
              <a:t>session_id</a:t>
            </a:r>
            <a:r>
              <a:rPr lang="en-US" sz="1400" dirty="0">
                <a:solidFill>
                  <a:srgbClr val="6B8F78"/>
                </a:solidFill>
              </a:rPr>
              <a:t>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6B8F78"/>
                </a:solidFill>
              </a:rPr>
              <a:t>ID </a:t>
            </a:r>
            <a:r>
              <a:rPr lang="ru-RU" sz="1400" dirty="0">
                <a:solidFill>
                  <a:srgbClr val="6B8F78"/>
                </a:solidFill>
              </a:rPr>
              <a:t>авторизации / токен</a:t>
            </a:r>
            <a:r>
              <a:rPr lang="en-US" sz="1400" dirty="0">
                <a:solidFill>
                  <a:srgbClr val="6B8F78"/>
                </a:solidFill>
              </a:rPr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данные корзины покупок, </a:t>
            </a:r>
            <a:endParaRPr lang="en-US" sz="1400" dirty="0">
              <a:solidFill>
                <a:srgbClr val="6B8F78"/>
              </a:solidFill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ED6D9-4830-19A6-602C-803343490512}"/>
              </a:ext>
            </a:extLst>
          </p:cNvPr>
          <p:cNvSpPr txBox="1"/>
          <p:nvPr/>
        </p:nvSpPr>
        <p:spPr>
          <a:xfrm>
            <a:off x="5520266" y="5228271"/>
            <a:ext cx="527285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выбранный язык / регион, </a:t>
            </a:r>
            <a:endParaRPr lang="en-US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данные трекинга и аналитики (например, </a:t>
            </a:r>
            <a:r>
              <a:rPr lang="en-US" sz="1400" dirty="0">
                <a:solidFill>
                  <a:srgbClr val="6B8F78"/>
                </a:solidFill>
              </a:rPr>
              <a:t>Google Analytics ID)</a:t>
            </a:r>
            <a:r>
              <a:rPr lang="ru-RU" sz="1400" dirty="0">
                <a:solidFill>
                  <a:srgbClr val="6B8F78"/>
                </a:solidFill>
              </a:rPr>
              <a:t>, </a:t>
            </a:r>
            <a:endParaRPr lang="en-US" sz="1400" dirty="0">
              <a:solidFill>
                <a:srgbClr val="6B8F7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6B8F78"/>
                </a:solidFill>
              </a:rPr>
              <a:t>информация о согласии с политикой </a:t>
            </a:r>
            <a:r>
              <a:rPr lang="en-US" sz="1400" dirty="0">
                <a:solidFill>
                  <a:srgbClr val="6B8F78"/>
                </a:solidFill>
              </a:rPr>
              <a:t>cookies / GDPR.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2879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4F6BCB-3B45-4580-A20B-58E0500B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400" y="474133"/>
            <a:ext cx="11071002" cy="5702829"/>
          </a:xfrm>
        </p:spPr>
        <p:txBody>
          <a:bodyPr/>
          <a:lstStyle/>
          <a:p>
            <a:pPr algn="l"/>
            <a:r>
              <a:rPr lang="en-US" sz="1400" b="1" dirty="0">
                <a:solidFill>
                  <a:srgbClr val="A5937C"/>
                </a:solidFill>
              </a:rPr>
              <a:t>6. </a:t>
            </a:r>
            <a:r>
              <a:rPr lang="ru-RU" sz="1400" b="1" dirty="0">
                <a:solidFill>
                  <a:srgbClr val="A5937C"/>
                </a:solidFill>
              </a:rPr>
              <a:t>Локализация (</a:t>
            </a:r>
            <a:r>
              <a:rPr lang="en-US" sz="1400" b="1" dirty="0">
                <a:solidFill>
                  <a:srgbClr val="A5937C"/>
                </a:solidFill>
              </a:rPr>
              <a:t>L10n</a:t>
            </a:r>
            <a:r>
              <a:rPr lang="ru-RU" sz="1400" b="1" dirty="0">
                <a:solidFill>
                  <a:srgbClr val="A5937C"/>
                </a:solidFill>
              </a:rPr>
              <a:t>) и интернализация (</a:t>
            </a:r>
            <a:r>
              <a:rPr lang="en-US" sz="1400" b="1" dirty="0">
                <a:solidFill>
                  <a:srgbClr val="A5937C"/>
                </a:solidFill>
              </a:rPr>
              <a:t>I18n</a:t>
            </a:r>
            <a:r>
              <a:rPr lang="ru-RU" sz="1400" b="1" dirty="0">
                <a:solidFill>
                  <a:srgbClr val="A5937C"/>
                </a:solidFill>
              </a:rPr>
              <a:t>)</a:t>
            </a:r>
          </a:p>
          <a:p>
            <a:pPr algn="l"/>
            <a:r>
              <a:rPr lang="ru-RU" sz="1400" b="1" dirty="0">
                <a:solidFill>
                  <a:srgbClr val="A5937C"/>
                </a:solidFill>
              </a:rPr>
              <a:t>Интернационализация</a:t>
            </a:r>
            <a:r>
              <a:rPr lang="ru-RU" sz="1400" dirty="0">
                <a:solidFill>
                  <a:srgbClr val="A5937C"/>
                </a:solidFill>
              </a:rPr>
              <a:t> - </a:t>
            </a:r>
            <a:r>
              <a:rPr lang="ru-RU" sz="1400" b="1" dirty="0">
                <a:solidFill>
                  <a:srgbClr val="A5937C"/>
                </a:solidFill>
              </a:rPr>
              <a:t>процесс подготовки</a:t>
            </a:r>
            <a:r>
              <a:rPr lang="ru-RU" sz="1400" dirty="0">
                <a:solidFill>
                  <a:srgbClr val="A5937C"/>
                </a:solidFill>
              </a:rPr>
              <a:t> программного продукта к возможности быть легко адаптированным под разные языки и регионы </a:t>
            </a:r>
            <a:r>
              <a:rPr lang="ru-RU" sz="1400" b="1" dirty="0">
                <a:solidFill>
                  <a:srgbClr val="A5937C"/>
                </a:solidFill>
              </a:rPr>
              <a:t>без необходимости изменения исходного кода</a:t>
            </a:r>
            <a:r>
              <a:rPr lang="ru-RU" sz="1400" dirty="0">
                <a:solidFill>
                  <a:srgbClr val="A5937C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Отделение текста от кода.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Использование </a:t>
            </a:r>
            <a:r>
              <a:rPr lang="en-US" sz="1400" dirty="0">
                <a:solidFill>
                  <a:srgbClr val="A5937C"/>
                </a:solidFill>
              </a:rPr>
              <a:t>placeholders (</a:t>
            </a:r>
            <a:r>
              <a:rPr lang="ru-RU" sz="1400" dirty="0">
                <a:solidFill>
                  <a:srgbClr val="A5937C"/>
                </a:solidFill>
              </a:rPr>
              <a:t>например, {{</a:t>
            </a:r>
            <a:r>
              <a:rPr lang="en-US" sz="1400" dirty="0">
                <a:solidFill>
                  <a:srgbClr val="A5937C"/>
                </a:solidFill>
              </a:rPr>
              <a:t>username}}).</a:t>
            </a:r>
            <a:endParaRPr lang="ru-RU" sz="1400" dirty="0">
              <a:solidFill>
                <a:srgbClr val="A5937C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Хранение переводов во внешних файлах (</a:t>
            </a:r>
            <a:r>
              <a:rPr lang="en-US" sz="1400" dirty="0">
                <a:solidFill>
                  <a:srgbClr val="A5937C"/>
                </a:solidFill>
              </a:rPr>
              <a:t>JSON, .properties </a:t>
            </a:r>
            <a:r>
              <a:rPr lang="ru-RU" sz="1400" dirty="0">
                <a:solidFill>
                  <a:srgbClr val="A5937C"/>
                </a:solidFill>
              </a:rPr>
              <a:t>и т.д.).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Учёт форматов даты, валют, чисел.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Поддержка читаемости справа налево (</a:t>
            </a:r>
            <a:r>
              <a:rPr lang="en-US" sz="1400" dirty="0">
                <a:solidFill>
                  <a:srgbClr val="A5937C"/>
                </a:solidFill>
              </a:rPr>
              <a:t>RTL).</a:t>
            </a:r>
            <a:endParaRPr lang="ru-RU" sz="1400" dirty="0">
              <a:solidFill>
                <a:srgbClr val="A5937C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Использование </a:t>
            </a:r>
            <a:r>
              <a:rPr lang="en-US" sz="1400" dirty="0">
                <a:solidFill>
                  <a:srgbClr val="A5937C"/>
                </a:solidFill>
              </a:rPr>
              <a:t>Unicode.</a:t>
            </a:r>
          </a:p>
          <a:p>
            <a:pPr algn="l"/>
            <a:endParaRPr lang="ru-RU" sz="1400" dirty="0">
              <a:solidFill>
                <a:srgbClr val="A5937C"/>
              </a:solidFill>
            </a:endParaRPr>
          </a:p>
          <a:p>
            <a:pPr algn="l"/>
            <a:r>
              <a:rPr lang="ru-RU" sz="1400" b="1" dirty="0">
                <a:solidFill>
                  <a:srgbClr val="A5937C"/>
                </a:solidFill>
              </a:rPr>
              <a:t>Локализация</a:t>
            </a:r>
            <a:r>
              <a:rPr lang="ru-RU" sz="1400" dirty="0">
                <a:solidFill>
                  <a:srgbClr val="A5937C"/>
                </a:solidFill>
              </a:rPr>
              <a:t> - </a:t>
            </a:r>
            <a:r>
              <a:rPr lang="ru-RU" sz="1400" b="1" dirty="0">
                <a:solidFill>
                  <a:srgbClr val="A5937C"/>
                </a:solidFill>
              </a:rPr>
              <a:t>процесс адаптации</a:t>
            </a:r>
            <a:r>
              <a:rPr lang="ru-RU" sz="1400" dirty="0">
                <a:solidFill>
                  <a:srgbClr val="A5937C"/>
                </a:solidFill>
              </a:rPr>
              <a:t> уже подготовленного (интернационализированного) продукта </a:t>
            </a:r>
            <a:r>
              <a:rPr lang="ru-RU" sz="1400" b="1" dirty="0">
                <a:solidFill>
                  <a:srgbClr val="A5937C"/>
                </a:solidFill>
              </a:rPr>
              <a:t>под конкретный язык, культуру и регион</a:t>
            </a:r>
            <a:r>
              <a:rPr lang="ru-RU" sz="1400" dirty="0">
                <a:solidFill>
                  <a:srgbClr val="A5937C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Перевод текста на нужный язык.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Замена изображений, символов, иконок (например, флагов, валют).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Настройка форматов времени, даты, чисел.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A5937C"/>
                </a:solidFill>
              </a:rPr>
              <a:t>Учёт культурных и правовых норм (например, </a:t>
            </a:r>
            <a:r>
              <a:rPr lang="en-US" sz="1400" dirty="0">
                <a:solidFill>
                  <a:srgbClr val="A5937C"/>
                </a:solidFill>
              </a:rPr>
              <a:t>GDPR </a:t>
            </a:r>
            <a:r>
              <a:rPr lang="ru-RU" sz="1400" dirty="0">
                <a:solidFill>
                  <a:srgbClr val="A5937C"/>
                </a:solidFill>
              </a:rPr>
              <a:t>в Европе).</a:t>
            </a:r>
          </a:p>
          <a:p>
            <a:pPr algn="l"/>
            <a:endParaRPr lang="ru-UA" sz="1400">
              <a:solidFill>
                <a:srgbClr val="A5937C"/>
              </a:solidFill>
            </a:endParaRPr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3667F8C9-D478-D83B-2064-89C7D11EAE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398379" y="6199540"/>
            <a:ext cx="714598" cy="528637"/>
          </a:xfrm>
        </p:spPr>
        <p:txBody>
          <a:bodyPr/>
          <a:lstStyle/>
          <a:p>
            <a:r>
              <a:rPr lang="ru-RU" dirty="0"/>
              <a:t>05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896407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CEDE05-8CE2-1A3C-07AF-2B25F6A56D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5941" y="6204483"/>
            <a:ext cx="630592" cy="528637"/>
          </a:xfrm>
        </p:spPr>
        <p:txBody>
          <a:bodyPr/>
          <a:lstStyle/>
          <a:p>
            <a:r>
              <a:rPr lang="ru-RU" dirty="0"/>
              <a:t>06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8484E-1FBE-4988-275B-EFFF3FF49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372532"/>
            <a:ext cx="10610319" cy="6208889"/>
          </a:xfrm>
        </p:spPr>
        <p:txBody>
          <a:bodyPr/>
          <a:lstStyle/>
          <a:p>
            <a:r>
              <a:rPr lang="en-US" sz="1600" dirty="0">
                <a:solidFill>
                  <a:srgbClr val="1E628F"/>
                </a:solidFill>
              </a:rPr>
              <a:t>7</a:t>
            </a:r>
            <a:r>
              <a:rPr lang="ru-RU" sz="1600" dirty="0">
                <a:solidFill>
                  <a:srgbClr val="1E628F"/>
                </a:solidFill>
              </a:rPr>
              <a:t>. Разрешения экрана</a:t>
            </a:r>
          </a:p>
          <a:p>
            <a:r>
              <a:rPr lang="ru-RU" sz="1600" dirty="0">
                <a:solidFill>
                  <a:srgbClr val="1E628F"/>
                </a:solidFill>
              </a:rPr>
              <a:t>8</a:t>
            </a:r>
            <a:r>
              <a:rPr lang="en-US" sz="1600" dirty="0">
                <a:solidFill>
                  <a:srgbClr val="1E628F"/>
                </a:solidFill>
              </a:rPr>
              <a:t>. </a:t>
            </a:r>
            <a:r>
              <a:rPr lang="ru-RU" sz="1600" dirty="0">
                <a:solidFill>
                  <a:srgbClr val="1E628F"/>
                </a:solidFill>
              </a:rPr>
              <a:t>Навигация по кнопкам Назад/ Вперед</a:t>
            </a:r>
          </a:p>
          <a:p>
            <a:r>
              <a:rPr lang="en-US" sz="1600" dirty="0">
                <a:solidFill>
                  <a:srgbClr val="1E628F"/>
                </a:solidFill>
              </a:rPr>
              <a:t>9. </a:t>
            </a:r>
            <a:r>
              <a:rPr lang="ru-RU" sz="1600" dirty="0">
                <a:solidFill>
                  <a:srgbClr val="1E628F"/>
                </a:solidFill>
              </a:rPr>
              <a:t>Обновление страницы</a:t>
            </a:r>
          </a:p>
          <a:p>
            <a:r>
              <a:rPr lang="en-US" sz="1600" dirty="0">
                <a:solidFill>
                  <a:srgbClr val="1E628F"/>
                </a:solidFill>
              </a:rPr>
              <a:t>10</a:t>
            </a:r>
            <a:r>
              <a:rPr lang="ru-RU" sz="1600" dirty="0">
                <a:solidFill>
                  <a:srgbClr val="1E628F"/>
                </a:solidFill>
              </a:rPr>
              <a:t>. </a:t>
            </a:r>
            <a:r>
              <a:rPr lang="ru-RU" sz="1600" dirty="0" err="1">
                <a:solidFill>
                  <a:srgbClr val="1E628F"/>
                </a:solidFill>
              </a:rPr>
              <a:t>Фавиконка</a:t>
            </a:r>
            <a:endParaRPr lang="ru-RU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11</a:t>
            </a:r>
            <a:r>
              <a:rPr lang="ru-RU" sz="1600" dirty="0">
                <a:solidFill>
                  <a:srgbClr val="1E628F"/>
                </a:solidFill>
              </a:rPr>
              <a:t> Протокол (</a:t>
            </a:r>
            <a:r>
              <a:rPr lang="en-US" sz="1600" dirty="0">
                <a:solidFill>
                  <a:srgbClr val="1E628F"/>
                </a:solidFill>
              </a:rPr>
              <a:t>http, https)</a:t>
            </a:r>
            <a:endParaRPr lang="ru-RU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12. </a:t>
            </a:r>
            <a:r>
              <a:rPr lang="ru-RU" sz="1600" dirty="0">
                <a:solidFill>
                  <a:srgbClr val="1E628F"/>
                </a:solidFill>
              </a:rPr>
              <a:t>Подмена </a:t>
            </a:r>
            <a:r>
              <a:rPr lang="en-US" sz="1600" dirty="0">
                <a:solidFill>
                  <a:srgbClr val="1E628F"/>
                </a:solidFill>
              </a:rPr>
              <a:t>URL</a:t>
            </a:r>
            <a:endParaRPr lang="ru-RU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13. </a:t>
            </a:r>
            <a:r>
              <a:rPr lang="ru-RU" sz="1600" dirty="0">
                <a:solidFill>
                  <a:srgbClr val="1E628F"/>
                </a:solidFill>
              </a:rPr>
              <a:t>Добавление в закладки/ заголовки страниц</a:t>
            </a:r>
            <a:endParaRPr lang="en-US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14. </a:t>
            </a:r>
            <a:r>
              <a:rPr lang="ru-RU" sz="1600" dirty="0">
                <a:solidFill>
                  <a:srgbClr val="1E628F"/>
                </a:solidFill>
              </a:rPr>
              <a:t>Многопользовательский режим</a:t>
            </a:r>
          </a:p>
          <a:p>
            <a:r>
              <a:rPr lang="ru-RU" sz="1600" dirty="0">
                <a:solidFill>
                  <a:srgbClr val="1E628F"/>
                </a:solidFill>
              </a:rPr>
              <a:t>1</a:t>
            </a:r>
            <a:r>
              <a:rPr lang="en-US" sz="1600" dirty="0">
                <a:solidFill>
                  <a:srgbClr val="1E628F"/>
                </a:solidFill>
              </a:rPr>
              <a:t>5</a:t>
            </a:r>
            <a:r>
              <a:rPr lang="ru-RU" sz="1600" dirty="0">
                <a:solidFill>
                  <a:srgbClr val="1E628F"/>
                </a:solidFill>
              </a:rPr>
              <a:t>. </a:t>
            </a:r>
            <a:r>
              <a:rPr lang="ru-RU" sz="1600" dirty="0" err="1">
                <a:solidFill>
                  <a:srgbClr val="1E628F"/>
                </a:solidFill>
              </a:rPr>
              <a:t>Скролл</a:t>
            </a:r>
            <a:endParaRPr lang="en-US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16. Zoom</a:t>
            </a:r>
            <a:endParaRPr lang="ru-RU" sz="1600" dirty="0">
              <a:solidFill>
                <a:srgbClr val="1E628F"/>
              </a:solidFill>
            </a:endParaRPr>
          </a:p>
          <a:p>
            <a:r>
              <a:rPr lang="ru-RU" sz="1600" dirty="0">
                <a:solidFill>
                  <a:srgbClr val="1E628F"/>
                </a:solidFill>
              </a:rPr>
              <a:t>1</a:t>
            </a:r>
            <a:r>
              <a:rPr lang="en-US" sz="1600" dirty="0">
                <a:solidFill>
                  <a:srgbClr val="1E628F"/>
                </a:solidFill>
              </a:rPr>
              <a:t>7</a:t>
            </a:r>
            <a:r>
              <a:rPr lang="ru-RU" sz="1600" dirty="0">
                <a:solidFill>
                  <a:srgbClr val="1E628F"/>
                </a:solidFill>
              </a:rPr>
              <a:t>. Изменение размера окна браузера</a:t>
            </a:r>
          </a:p>
          <a:p>
            <a:r>
              <a:rPr lang="ru-RU" sz="1600" dirty="0">
                <a:solidFill>
                  <a:srgbClr val="1E628F"/>
                </a:solidFill>
              </a:rPr>
              <a:t>1</a:t>
            </a:r>
            <a:r>
              <a:rPr lang="en-US" sz="1600" dirty="0">
                <a:solidFill>
                  <a:srgbClr val="1E628F"/>
                </a:solidFill>
              </a:rPr>
              <a:t>8</a:t>
            </a:r>
            <a:r>
              <a:rPr lang="ru-RU" sz="1600" dirty="0">
                <a:solidFill>
                  <a:srgbClr val="1E628F"/>
                </a:solidFill>
              </a:rPr>
              <a:t>. </a:t>
            </a:r>
            <a:r>
              <a:rPr lang="en-US" sz="1600" dirty="0">
                <a:solidFill>
                  <a:srgbClr val="1E628F"/>
                </a:solidFill>
              </a:rPr>
              <a:t>Hot keys</a:t>
            </a:r>
          </a:p>
          <a:p>
            <a:r>
              <a:rPr lang="en-US" sz="1600" dirty="0">
                <a:solidFill>
                  <a:srgbClr val="1E628F"/>
                </a:solidFill>
              </a:rPr>
              <a:t>19. </a:t>
            </a:r>
            <a:r>
              <a:rPr lang="ru-RU" sz="1600" dirty="0">
                <a:solidFill>
                  <a:srgbClr val="1E628F"/>
                </a:solidFill>
              </a:rPr>
              <a:t>Навигация клавиатурой</a:t>
            </a:r>
          </a:p>
          <a:p>
            <a:r>
              <a:rPr lang="en-US" sz="1600" dirty="0">
                <a:solidFill>
                  <a:srgbClr val="1E628F"/>
                </a:solidFill>
              </a:rPr>
              <a:t>20</a:t>
            </a:r>
            <a:r>
              <a:rPr lang="ru-RU" sz="1600" dirty="0">
                <a:solidFill>
                  <a:srgbClr val="1E628F"/>
                </a:solidFill>
              </a:rPr>
              <a:t>. Переход по ссылкам </a:t>
            </a:r>
            <a:endParaRPr lang="en-US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21. </a:t>
            </a:r>
            <a:r>
              <a:rPr lang="ru-RU" sz="1600" dirty="0">
                <a:solidFill>
                  <a:srgbClr val="1E628F"/>
                </a:solidFill>
              </a:rPr>
              <a:t>404 страница</a:t>
            </a:r>
          </a:p>
          <a:p>
            <a:r>
              <a:rPr lang="en-US" sz="1600" dirty="0">
                <a:solidFill>
                  <a:srgbClr val="1E628F"/>
                </a:solidFill>
              </a:rPr>
              <a:t>22</a:t>
            </a:r>
            <a:r>
              <a:rPr lang="ru-RU" sz="1600" dirty="0">
                <a:solidFill>
                  <a:srgbClr val="1E628F"/>
                </a:solidFill>
              </a:rPr>
              <a:t>. Отключение всплывающих окон/ </a:t>
            </a:r>
            <a:r>
              <a:rPr lang="en-US" sz="1600" dirty="0">
                <a:solidFill>
                  <a:srgbClr val="1E628F"/>
                </a:solidFill>
              </a:rPr>
              <a:t>pop-up</a:t>
            </a:r>
            <a:endParaRPr lang="ru-RU" sz="1600" dirty="0">
              <a:solidFill>
                <a:srgbClr val="1E628F"/>
              </a:solidFill>
            </a:endParaRPr>
          </a:p>
          <a:p>
            <a:r>
              <a:rPr lang="en-US" sz="1600" dirty="0">
                <a:solidFill>
                  <a:srgbClr val="1E628F"/>
                </a:solidFill>
              </a:rPr>
              <a:t>23</a:t>
            </a:r>
            <a:r>
              <a:rPr lang="ru-RU" sz="1600" dirty="0">
                <a:solidFill>
                  <a:srgbClr val="1E628F"/>
                </a:solidFill>
              </a:rPr>
              <a:t>. Отключение местоположения</a:t>
            </a:r>
          </a:p>
          <a:p>
            <a:r>
              <a:rPr lang="ru-RU" sz="1600" dirty="0">
                <a:solidFill>
                  <a:srgbClr val="1E628F"/>
                </a:solidFill>
              </a:rPr>
              <a:t>24. Другие надстройки</a:t>
            </a:r>
            <a:endParaRPr lang="en-US" sz="1600" dirty="0">
              <a:solidFill>
                <a:srgbClr val="1E62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0297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703</Words>
  <Application>Microsoft Macintosh PowerPoint</Application>
  <PresentationFormat>Widescreen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Montserrat</vt:lpstr>
      <vt:lpstr>Wingdings</vt:lpstr>
      <vt:lpstr>Тема Office</vt:lpstr>
      <vt:lpstr>1_Тема Office</vt:lpstr>
      <vt:lpstr>2_Тема Office</vt:lpstr>
      <vt:lpstr>Особенности тестирования Web-приложений</vt:lpstr>
      <vt:lpstr>PowerPoint Presentation</vt:lpstr>
      <vt:lpstr>2х и 3х уровневая (звенная) архитектура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Oksana Mishura</dc:creator>
  <cp:lastModifiedBy>Ekaterina Laptyuhova</cp:lastModifiedBy>
  <cp:revision>12</cp:revision>
  <dcterms:created xsi:type="dcterms:W3CDTF">2025-05-21T13:16:37Z</dcterms:created>
  <dcterms:modified xsi:type="dcterms:W3CDTF">2025-06-23T15:23:24Z</dcterms:modified>
</cp:coreProperties>
</file>