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  <p:sldMasterId id="2147483671" r:id="rId3"/>
  </p:sldMasterIdLst>
  <p:notesMasterIdLst>
    <p:notesMasterId r:id="rId20"/>
  </p:notesMasterIdLst>
  <p:handoutMasterIdLst>
    <p:handoutMasterId r:id="rId21"/>
  </p:handoutMasterIdLst>
  <p:sldIdLst>
    <p:sldId id="256" r:id="rId4"/>
    <p:sldId id="284" r:id="rId5"/>
    <p:sldId id="286" r:id="rId6"/>
    <p:sldId id="287" r:id="rId7"/>
    <p:sldId id="257" r:id="rId8"/>
    <p:sldId id="258" r:id="rId9"/>
    <p:sldId id="288" r:id="rId10"/>
    <p:sldId id="283" r:id="rId11"/>
    <p:sldId id="289" r:id="rId12"/>
    <p:sldId id="290" r:id="rId13"/>
    <p:sldId id="291" r:id="rId14"/>
    <p:sldId id="292" r:id="rId15"/>
    <p:sldId id="293" r:id="rId16"/>
    <p:sldId id="294" r:id="rId17"/>
    <p:sldId id="259" r:id="rId18"/>
    <p:sldId id="295" r:id="rId19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8F78"/>
    <a:srgbClr val="807262"/>
    <a:srgbClr val="A5937C"/>
    <a:srgbClr val="B8A389"/>
    <a:srgbClr val="749B80"/>
    <a:srgbClr val="1E628F"/>
    <a:srgbClr val="72A5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13" autoAdjust="0"/>
    <p:restoredTop sz="94761"/>
  </p:normalViewPr>
  <p:slideViewPr>
    <p:cSldViewPr snapToGrid="0" showGuides="1">
      <p:cViewPr varScale="1">
        <p:scale>
          <a:sx n="92" d="100"/>
          <a:sy n="92" d="100"/>
        </p:scale>
        <p:origin x="840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4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CF739E-943D-3E6D-936A-48A2AE0FB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AB02AC-4532-06EB-BEDA-7BFCABDC13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7822E-6C93-C54D-A503-697B2AFD5749}" type="datetimeFigureOut">
              <a:rPr lang="en-US" smtClean="0"/>
              <a:t>7/16/25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E4315-1793-25A7-6093-9819CE673D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72443-FE07-5600-6230-6EBCC5E83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92D44-776B-5449-A7CC-4BC53790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442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E82483-0894-2A4F-9D2A-B2357F08F4F2}" type="datetimeFigureOut">
              <a:rPr lang="en-US" smtClean="0"/>
              <a:t>7/16/25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11A14-6DEF-974F-814F-8208A6F67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6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11A14-6DEF-974F-814F-8208A6F67D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12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svg"/><Relationship Id="rId7" Type="http://schemas.openxmlformats.org/officeDocument/2006/relationships/image" Target="../media/image2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svg"/><Relationship Id="rId7" Type="http://schemas.openxmlformats.org/officeDocument/2006/relationships/image" Target="../media/image2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svg"/><Relationship Id="rId7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svg"/><Relationship Id="rId7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16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6.svg"/><Relationship Id="rId7" Type="http://schemas.openxmlformats.org/officeDocument/2006/relationships/image" Target="../media/image2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6.svg"/><Relationship Id="rId7" Type="http://schemas.openxmlformats.org/officeDocument/2006/relationships/image" Target="../media/image2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4.svg"/><Relationship Id="rId7" Type="http://schemas.openxmlformats.org/officeDocument/2006/relationships/image" Target="../media/image26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6.svg"/><Relationship Id="rId7" Type="http://schemas.openxmlformats.org/officeDocument/2006/relationships/image" Target="../media/image2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16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0.svg"/><Relationship Id="rId7" Type="http://schemas.openxmlformats.org/officeDocument/2006/relationships/image" Target="../media/image2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0.svg"/><Relationship Id="rId7" Type="http://schemas.openxmlformats.org/officeDocument/2006/relationships/image" Target="../media/image26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DC2DC8-1595-44EF-BFD9-634D72F2FB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22976C-28C1-4BC5-9217-130437DA3E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0204" y="-38100"/>
            <a:ext cx="816086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10095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DBD948-FFCE-4D2E-BEE0-3C32B762D8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58351E-B534-465D-A8F5-236C4D802C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0970" y="711200"/>
            <a:ext cx="8160860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518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E6EAD658-A226-A3A6-41F7-B72B2B8341C3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Текст 14">
            <a:extLst>
              <a:ext uri="{FF2B5EF4-FFF2-40B4-BE49-F238E27FC236}">
                <a16:creationId xmlns:a16="http://schemas.microsoft.com/office/drawing/2014/main" id="{73EAC630-A11A-D73E-3199-107B2F705E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8519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47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01B5D9-F6E0-4A39-98D1-657D0A8C90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060" y="-1899920"/>
            <a:ext cx="7310519" cy="6858000"/>
          </a:xfrm>
          <a:prstGeom prst="rect">
            <a:avLst/>
          </a:prstGeom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00EDBD10-4EDE-4618-85CA-6D2CADFB3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2FCA5C9-AA13-4F01-BD43-FC0445078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E2FFC77-4263-4986-8A76-0AC15E91BB2D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17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23041FD-6EA9-499C-A61F-4E874A0AB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0153" y="482600"/>
            <a:ext cx="7291214" cy="6858000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8E4274C-D935-4115-A7D5-157F47ABB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74869F-179C-4489-8DC6-0CDA85AF7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3">
            <a:extLst>
              <a:ext uri="{FF2B5EF4-FFF2-40B4-BE49-F238E27FC236}">
                <a16:creationId xmlns:a16="http://schemas.microsoft.com/office/drawing/2014/main" id="{58FBD195-76D0-453F-9596-9D71F5E73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EA9D2A2-1D2C-402D-9EFF-500B66E2871C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39B83FE-1E29-4DE1-BFF2-44C1353434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6AF3C3-2CF2-47DF-8127-86B04ADCBF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647" y="882174"/>
            <a:ext cx="7272242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06E00C9D-2AE6-4DB1-8502-064FB4F8B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41C53A3E-DF47-46FD-8F6B-D32BF63EE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09D6F0B-1953-4A0E-A09B-D1DDCAE2AB5E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E81E00CE-1729-4A49-BC47-BAECF73F95E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0266AFA1-86B3-44DC-AAF4-61C10959C23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A4B5F2B-EBEE-48C0-950E-D08CF03EE8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168ADA2-EDB7-4D98-8435-503D65CDF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3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6AF3C3-2CF2-47DF-8127-86B04ADCBF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647" y="882174"/>
            <a:ext cx="7272242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06E00C9D-2AE6-4DB1-8502-064FB4F8B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41C53A3E-DF47-46FD-8F6B-D32BF63EE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09D6F0B-1953-4A0E-A09B-D1DDCAE2AB5E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E81E00CE-1729-4A49-BC47-BAECF73F95E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0266AFA1-86B3-44DC-AAF4-61C10959C23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A4B5F2B-EBEE-48C0-950E-D08CF03EE8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168ADA2-EDB7-4D98-8435-503D65CDF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3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DBAC5DF-9D84-4F82-96C7-C30B101A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77F94C-29EA-49B1-879F-EF1E254E71E9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AD901F8E-46CC-4F1F-941A-9C8CB460F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49B80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E3AFF098-F98A-4D1C-A827-F7E921283889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77A5F91-C19C-4830-8C59-8A0C00ECA2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8420" y="1549400"/>
            <a:ext cx="7310519" cy="68580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589277C-13FF-4D71-B74A-FB978E49F7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DF9B0AC-F7CE-4C89-A37F-1DA7456E213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642A39B-DF47-433F-B7B6-809C07A39B5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E8F16DF-C8BD-40A7-910D-248B961089D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09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Титульный слайд_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DBAC5DF-9D84-4F82-96C7-C30B101A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77F94C-29EA-49B1-879F-EF1E254E71E9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AD901F8E-46CC-4F1F-941A-9C8CB460F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49B80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E3AFF098-F98A-4D1C-A827-F7E921283889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77A5F91-C19C-4830-8C59-8A0C00ECA2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1957" y="-2679700"/>
            <a:ext cx="7310519" cy="68580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589277C-13FF-4D71-B74A-FB978E49F7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685" y="5030176"/>
            <a:ext cx="476200" cy="4762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DF9B0AC-F7CE-4C89-A37F-1DA7456E213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7660" y="6296024"/>
            <a:ext cx="409575" cy="40957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642A39B-DF47-433F-B7B6-809C07A39B5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4685" y="5595248"/>
            <a:ext cx="942975" cy="94297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E8F16DF-C8BD-40A7-910D-248B961089D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48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147822F0-FC3A-4855-A2A3-A14BA9B7B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49B80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983A5480-DF03-4035-B3B8-1553171D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0C859BB-0BCE-4C54-90C2-2BD4AED5D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00714" y="1231900"/>
            <a:ext cx="7291214" cy="685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26C8595-4940-402A-9564-B9334E2D83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60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B772CFF-81A1-4F2A-A9F8-4FEB1A48E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4D8A24-A315-4944-9867-C1DA065734D9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6B2E5A99-BFD6-4694-9C56-3AC298D88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49B80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8BF817F-52BB-442A-8FFF-A25989AA8C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395780" y="-1153159"/>
            <a:ext cx="731051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548A929-0234-4EEB-B329-01E890F4A5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AB49530-6DA7-4F35-9514-8BE833DAD44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FE99A0E-2129-4E57-9789-F25B42D14CD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317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B772CFF-81A1-4F2A-A9F8-4FEB1A48E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4D8A24-A315-4944-9867-C1DA065734D9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6B2E5A99-BFD6-4694-9C56-3AC298D88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49B80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8BF817F-52BB-442A-8FFF-A25989AA8C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173665" y="-1751329"/>
            <a:ext cx="731051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548A929-0234-4EEB-B329-01E890F4A5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660" y="6006031"/>
            <a:ext cx="436033" cy="43603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AB49530-6DA7-4F35-9514-8BE833DAD44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129" y="5669481"/>
            <a:ext cx="673100" cy="6731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FE99A0E-2129-4E57-9789-F25B42D14CD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744" y="4980506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4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5E79-1D4F-B1F6-E9BF-8794897B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1761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90CC9A-347F-4696-B90E-12366BD42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F3A619-A762-4B38-8E0F-2DAE159B466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8237" y="-46567"/>
            <a:ext cx="816086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341071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0713A2-3A3E-479C-B2D8-A8A8B59E54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E5465B1-A71B-4D1A-9B20-033F0C9588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0970" y="711200"/>
            <a:ext cx="8160860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3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350F990-8C58-9B06-442C-6FCD14A6EADB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E0F2196A-AA2C-7D93-4038-7C05358C30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0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0BC3B13-ADD8-4A96-BA31-E2D2E2268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tx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14A78A83-CE00-402B-8F3A-A4A908373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8"/>
            <a:ext cx="5120640" cy="37636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D0FF8FCB-7D6B-4BF0-A980-F1007F0E7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257800" cy="56133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9B3337A-2127-4A09-9DA9-088D83920078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1B506B72-42A8-44EA-862B-37BC99F6233D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F95E6434-2293-39B7-2152-0F18EEB7DA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8602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A7E8F52-96D2-4A1B-AE6A-40A7150C3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42249" y="914400"/>
            <a:ext cx="7397057" cy="6858000"/>
          </a:xfrm>
          <a:prstGeom prst="rect">
            <a:avLst/>
          </a:prstGeom>
        </p:spPr>
      </p:pic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E89D047B-7CBB-4256-AE89-B70A8BAA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61AEE2F4-3150-4558-BBAB-90CE35BBC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>
            <a:extLst>
              <a:ext uri="{FF2B5EF4-FFF2-40B4-BE49-F238E27FC236}">
                <a16:creationId xmlns:a16="http://schemas.microsoft.com/office/drawing/2014/main" id="{3AE18B6B-9355-4E0C-9EE6-2AC62F951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C9A6B1D-B9A0-4A34-A547-56B7EAA74483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91EAE45-7CEB-4BAB-A77A-ACA04C42AB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58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02F980-77F1-4034-99A9-ED911C070E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1449" y="3634293"/>
            <a:ext cx="11268075" cy="5838825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B4FCC4B-C0D0-4C37-95B6-B8FBB88A3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F5CAFBB7-69A1-422F-9EDB-FEFCFD81E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B13095-225E-4E37-8E0E-C0A30DFBCC22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774939AC-6322-4ED8-954A-C72C5620342D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EB643FC0-87AC-4E8C-8025-4FBD80A6970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2021E72-12F4-4437-9D61-85147A11C8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3795032-345E-46AA-B0A0-CA6FCFC4948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69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45575B9-F26A-4F89-9C8D-4B55258A7B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09412" y="1224637"/>
            <a:ext cx="7310519" cy="6858000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15D01B1D-FD5F-40C5-B133-FB07F3F0F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2A5CE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EE1C443C-3522-4792-B5A4-CE9582C76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23A4661-9E8D-46A7-A090-8E59ED88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669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4750BEF-B5D4-469C-B034-BB9A1A99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6352516-8A73-4932-82BB-B9CD41C9BAFB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EC7020A-97E9-4487-97F1-9DE6E4747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47F1027-212D-48AD-BC20-875F24643FB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2B9BF6E-B3AF-4B71-8733-5EA40999F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537868" y="1178243"/>
            <a:ext cx="731051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0ECA3CC-5CB9-4137-9BE0-889AAA7B32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840251E-90F2-437F-8630-722F412E73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017C989-5497-4FA1-B95E-451A8E72BD6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C59A685-1FBC-44DC-8AE2-2CACEBE51E5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89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Титульный слайд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4750BEF-B5D4-469C-B034-BB9A1A99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6352516-8A73-4932-82BB-B9CD41C9BAFB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EC7020A-97E9-4487-97F1-9DE6E4747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47F1027-212D-48AD-BC20-875F24643FB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2B9BF6E-B3AF-4B71-8733-5EA40999F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301564" y="514128"/>
            <a:ext cx="731051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0ECA3CC-5CB9-4137-9BE0-889AAA7B32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624" y="6351569"/>
            <a:ext cx="476200" cy="4762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840251E-90F2-437F-8630-722F412E73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068" y="5268276"/>
            <a:ext cx="409575" cy="4095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017C989-5497-4FA1-B95E-451A8E72BD6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068" y="5762624"/>
            <a:ext cx="942975" cy="9429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C59A685-1FBC-44DC-8AE2-2CACEBE51E5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022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E52CF1-E2DC-4845-97B2-8A8F2536CF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1449" y="3634293"/>
            <a:ext cx="11268075" cy="5838825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67DFB984-A410-4F1E-924E-32DBD5EF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857945D-708C-4B53-B47D-732F0A36481D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60302506-4DB1-4217-97D4-BCE625DA5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584BB9B-8973-47ED-B7C0-4186B1DCF1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0530ABE-CBDC-4FC4-84E7-36EF1DF3108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4D9FC69-1C2C-4FE8-B4AA-A6A8403FF80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193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84CC287-EC0D-4649-AD8F-23BF797B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12BA82-E5F3-4806-B740-AFE1CCFE6042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340667B-5D23-411F-8C48-518015D4B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4530EFBB-9F9D-4A0F-8FB6-A34508E70C3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512A5C1-722C-41C0-B67A-1EBC58C6A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537868" y="1178243"/>
            <a:ext cx="7310519" cy="6858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632DB44-2463-4D4D-8931-315D05E8E7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79A4828-3F3E-4778-A041-D66C11698AB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D2AA7C9-B1B6-4E88-B0D6-B090F65F751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8D5D892-2891-41EA-81F2-DCBDDE884AD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385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8AAEA8-B3ED-49FB-A821-379ACE662F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FB61119-1930-4639-8A95-2C1955FCDA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7560" y="-33126"/>
            <a:ext cx="731051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6937864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E4A68D1-9680-4CE6-9E47-B4EF5C8B3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854A482-91C2-4667-9BD5-AB549982F70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8560" y="-66992"/>
            <a:ext cx="7310519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0320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4E73F807-5DA6-9785-4A54-BE4A37D12FA5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Текст 14">
            <a:extLst>
              <a:ext uri="{FF2B5EF4-FFF2-40B4-BE49-F238E27FC236}">
                <a16:creationId xmlns:a16="http://schemas.microsoft.com/office/drawing/2014/main" id="{B27174C5-D2DF-5C53-62CA-A71DB25389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4978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E01F7D-1F81-4DF0-8C39-49BC4D2ADA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252" y="882650"/>
            <a:ext cx="7243196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B6E1931B-0CBF-4A08-8947-8B4990253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AD95C48-59F0-4685-B96D-246C7190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1115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9A38DD6-45D8-431D-8A91-C6CEE352BA02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9980506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B7F9DBF1-EDBD-4C67-AD42-85421179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A71DC7A-6F84-499B-89BA-C830E1EE9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F13EEAEE-6CDA-4670-8ED2-79D457F7C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F19C2F-4C72-4C0C-8583-1731CBD8380D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D948FD4-3067-4A13-804C-A45E069463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237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113E84-D1CB-496C-96D6-1AD8FCE44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852" y="2417128"/>
            <a:ext cx="7310519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43323971-C755-434A-BD41-61917102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901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20B953E-D106-4A57-AF0B-30E930ADA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1B0F410-B337-4C94-B938-7548A0BA2711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9B702B78-D833-472E-8554-75AE840BE90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4786" y="1827847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70CC8E4F-D53E-479C-980E-59A051A5C5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1372" y="1825625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D1A7316-47EA-43C3-976C-2AE3220F09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0E08F9B-6950-4550-A87C-6C7800F798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680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B202C97-1F85-4BF6-96B6-B44EBFDD9A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5972" y="-152400"/>
            <a:ext cx="7310519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EE229FF7-E7D1-402F-9F97-A4479C921AD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4786" y="558799"/>
            <a:ext cx="6949014" cy="56203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2D3AC320-2BC7-4B39-80DC-F0D06A98C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BBF62A7-CB76-4201-AFD5-C65DA47CE2EB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B8A389"/>
              </a:solidFill>
            </a:endParaRPr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22BD306E-F571-4555-AC45-277C87FA3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B8A389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224CD73-1AD2-47CA-8688-6D04B7B33B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4A17FA0-2B36-4198-8AEC-E9B2740150C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553B99D-BC5C-40BE-A25A-DF0DDCDC7AD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FB2CA3A-2BD3-419B-AC86-4DF1B2F04E2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008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D860954-3ED1-49CE-B617-61C85D0FC8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0" y="-1738312"/>
            <a:ext cx="7310519" cy="685800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90501DD-A3A7-479D-97B6-609A597E9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AD82E11-AA7E-42FE-89ED-BB1481CBE776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3D55C13C-9F95-4B2C-98EE-BA3460C27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B8A389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F47CC49-8335-4E58-B739-4BCEF51D7D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E13EFE5-C0E8-4429-B3FC-AC9643127DD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4A1DC1D-ECD9-48EC-AB20-AFF40AB8533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837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B8A389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A6E8A29-52AD-4BD1-808F-39C7735EF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07282" y="1600200"/>
            <a:ext cx="7310519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63BBBF77-1802-41C5-8276-9F69E1270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B8A389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9A977234-724D-4967-94B4-C8B247929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C8C1255-9948-487E-A9DE-2B48E5FBB5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1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783F00-5E2A-08C7-18E6-82F0E23704E4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88337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87" r:id="rId9"/>
    <p:sldLayoutId id="2147483657" r:id="rId10"/>
    <p:sldLayoutId id="2147483658" r:id="rId11"/>
    <p:sldLayoutId id="2147483685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702C23-C3A3-9D2A-A68A-CBC7B7DCDD8B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439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8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557619-B362-84B8-82DF-828C6577D311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92249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TP/Reference/Headers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7C3D6B-A20C-45DD-855B-4950EA141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85301"/>
            <a:ext cx="9144000" cy="1087397"/>
          </a:xfrm>
        </p:spPr>
        <p:txBody>
          <a:bodyPr/>
          <a:lstStyle/>
          <a:p>
            <a:r>
              <a:rPr lang="en-US" dirty="0"/>
              <a:t>API</a:t>
            </a:r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220502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62A542-CF75-F105-6562-F0EDD76FA2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02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8CBF54-558C-5E17-743F-59DAC6730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35192" cy="466148"/>
          </a:xfrm>
        </p:spPr>
        <p:txBody>
          <a:bodyPr/>
          <a:lstStyle/>
          <a:p>
            <a:r>
              <a:rPr lang="ru-RU" sz="2400" dirty="0">
                <a:solidFill>
                  <a:srgbClr val="A5937C"/>
                </a:solidFill>
              </a:rPr>
              <a:t>Что такое </a:t>
            </a:r>
            <a:r>
              <a:rPr lang="en-US" sz="2400" dirty="0">
                <a:solidFill>
                  <a:srgbClr val="A5937C"/>
                </a:solidFill>
              </a:rPr>
              <a:t>API (Application Programming Interface)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B6BF5-ABEA-A469-A14A-9F4D560B4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73777"/>
            <a:ext cx="10515600" cy="4595750"/>
          </a:xfrm>
        </p:spPr>
        <p:txBody>
          <a:bodyPr/>
          <a:lstStyle/>
          <a:p>
            <a:r>
              <a:rPr lang="en-US" sz="1800" b="1" dirty="0">
                <a:solidFill>
                  <a:srgbClr val="A5937C"/>
                </a:solidFill>
              </a:rPr>
              <a:t>API (</a:t>
            </a:r>
            <a:r>
              <a:rPr lang="ru-RU" sz="1800" b="1" dirty="0">
                <a:solidFill>
                  <a:srgbClr val="A5937C"/>
                </a:solidFill>
              </a:rPr>
              <a:t>интерфейс программирования приложений)</a:t>
            </a:r>
            <a:r>
              <a:rPr lang="ru-RU" sz="1800" dirty="0">
                <a:solidFill>
                  <a:srgbClr val="A5937C"/>
                </a:solidFill>
              </a:rPr>
              <a:t> — это способ, с помощью которого одна программа взаимодействует с другой.</a:t>
            </a:r>
          </a:p>
          <a:p>
            <a:endParaRPr lang="ru-RU" sz="1800" dirty="0">
              <a:solidFill>
                <a:srgbClr val="A5937C"/>
              </a:solidFill>
            </a:endParaRPr>
          </a:p>
          <a:p>
            <a:r>
              <a:rPr lang="ru-RU" sz="1400" i="1" dirty="0">
                <a:solidFill>
                  <a:srgbClr val="A5937C"/>
                </a:solidFill>
              </a:rPr>
              <a:t>Представь, что ты в ресторане. Ты (клиент) выбираешь еду из меню (интерфейс), официант (</a:t>
            </a:r>
            <a:r>
              <a:rPr lang="en-US" sz="1400" i="1" dirty="0">
                <a:solidFill>
                  <a:srgbClr val="A5937C"/>
                </a:solidFill>
              </a:rPr>
              <a:t>API) </a:t>
            </a:r>
            <a:r>
              <a:rPr lang="ru-RU" sz="1400" i="1" dirty="0">
                <a:solidFill>
                  <a:srgbClr val="A5937C"/>
                </a:solidFill>
              </a:rPr>
              <a:t>передаёт заказ на кухню (сервер), повар готовит и возвращает блюдо через того же официанта. Ты не взаимодействуешь напрямую с поваром — только через </a:t>
            </a:r>
            <a:r>
              <a:rPr lang="en-US" sz="1400" i="1" dirty="0">
                <a:solidFill>
                  <a:srgbClr val="A5937C"/>
                </a:solidFill>
              </a:rPr>
              <a:t>API.</a:t>
            </a:r>
            <a:endParaRPr lang="ru-RU" sz="1400" i="1" dirty="0">
              <a:solidFill>
                <a:srgbClr val="A5937C"/>
              </a:solidFill>
            </a:endParaRPr>
          </a:p>
          <a:p>
            <a:endParaRPr lang="ru-RU" sz="1600" dirty="0">
              <a:solidFill>
                <a:srgbClr val="A5937C"/>
              </a:solidFill>
            </a:endParaRPr>
          </a:p>
          <a:p>
            <a:r>
              <a:rPr lang="en-US" sz="1400" b="1" dirty="0">
                <a:solidFill>
                  <a:srgbClr val="A5937C"/>
                </a:solidFill>
                <a:latin typeface="Montserrat" pitchFamily="2" charset="77"/>
              </a:rPr>
              <a:t>❓ </a:t>
            </a:r>
            <a:r>
              <a:rPr lang="ru-RU" sz="1400" b="1" dirty="0">
                <a:solidFill>
                  <a:srgbClr val="A5937C"/>
                </a:solidFill>
                <a:latin typeface="Montserrat" pitchFamily="2" charset="77"/>
              </a:rPr>
              <a:t>Может ли программа работать без </a:t>
            </a:r>
            <a:r>
              <a:rPr lang="en-US" sz="1400" b="1" dirty="0">
                <a:solidFill>
                  <a:srgbClr val="A5937C"/>
                </a:solidFill>
                <a:latin typeface="Montserrat" pitchFamily="2" charset="77"/>
              </a:rPr>
              <a:t>API?</a:t>
            </a:r>
          </a:p>
          <a:p>
            <a:r>
              <a:rPr lang="en-US" sz="1400" b="1" dirty="0">
                <a:solidFill>
                  <a:srgbClr val="A5937C"/>
                </a:solidFill>
                <a:latin typeface="Montserrat" pitchFamily="2" charset="77"/>
              </a:rPr>
              <a:t>✅ </a:t>
            </a:r>
            <a:r>
              <a:rPr lang="ru-RU" sz="1400" b="1" dirty="0">
                <a:solidFill>
                  <a:srgbClr val="A5937C"/>
                </a:solidFill>
                <a:latin typeface="Montserrat" pitchFamily="2" charset="77"/>
              </a:rPr>
              <a:t>Да, может, </a:t>
            </a:r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если</a:t>
            </a:r>
            <a:r>
              <a:rPr lang="ru-RU" sz="1400" b="1" dirty="0">
                <a:solidFill>
                  <a:srgbClr val="A5937C"/>
                </a:solidFill>
                <a:latin typeface="Montserrat" pitchFamily="2" charset="77"/>
              </a:rPr>
              <a:t> </a:t>
            </a:r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программа </a:t>
            </a:r>
            <a:r>
              <a:rPr lang="ru-RU" sz="1400" b="1" dirty="0">
                <a:solidFill>
                  <a:srgbClr val="A5937C"/>
                </a:solidFill>
                <a:latin typeface="Montserrat" pitchFamily="2" charset="77"/>
              </a:rPr>
              <a:t>не взаимодействует с другими системами</a:t>
            </a:r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 и </a:t>
            </a:r>
            <a:r>
              <a:rPr lang="ru-RU" sz="1400" b="1" dirty="0">
                <a:solidFill>
                  <a:srgbClr val="A5937C"/>
                </a:solidFill>
                <a:latin typeface="Montserrat" pitchFamily="2" charset="77"/>
              </a:rPr>
              <a:t>вся логика, данные и интерфейс находятся внутри неё</a:t>
            </a:r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.</a:t>
            </a:r>
          </a:p>
          <a:p>
            <a:r>
              <a:rPr lang="en-US" sz="1400" dirty="0">
                <a:solidFill>
                  <a:srgbClr val="A5937C"/>
                </a:solidFill>
                <a:latin typeface="Montserrat" pitchFamily="2" charset="77"/>
              </a:rPr>
              <a:t>API — </a:t>
            </a:r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это способ </a:t>
            </a:r>
            <a:r>
              <a:rPr lang="ru-RU" sz="1400" b="1" dirty="0">
                <a:solidFill>
                  <a:srgbClr val="A5937C"/>
                </a:solidFill>
                <a:latin typeface="Montserrat" pitchFamily="2" charset="77"/>
              </a:rPr>
              <a:t>обмена данными</a:t>
            </a:r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 между компонентами (программами, модулями, сервисами).</a:t>
            </a:r>
            <a:br>
              <a:rPr lang="ru-RU" sz="1400" dirty="0">
                <a:solidFill>
                  <a:srgbClr val="A5937C"/>
                </a:solidFill>
                <a:latin typeface="Montserrat" pitchFamily="2" charset="77"/>
              </a:rPr>
            </a:br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Если:</a:t>
            </a:r>
          </a:p>
          <a:p>
            <a:pPr marL="971550" lvl="1" indent="-285750"/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Программа </a:t>
            </a:r>
            <a:r>
              <a:rPr lang="ru-RU" sz="1400" b="1" dirty="0">
                <a:solidFill>
                  <a:srgbClr val="A5937C"/>
                </a:solidFill>
                <a:latin typeface="Montserrat" pitchFamily="2" charset="77"/>
              </a:rPr>
              <a:t>не получает данные извне</a:t>
            </a:r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,</a:t>
            </a:r>
          </a:p>
          <a:p>
            <a:pPr marL="971550" lvl="1" indent="-285750"/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Не зависит от </a:t>
            </a:r>
            <a:r>
              <a:rPr lang="ru-RU" sz="1400" b="1" dirty="0">
                <a:solidFill>
                  <a:srgbClr val="A5937C"/>
                </a:solidFill>
                <a:latin typeface="Montserrat" pitchFamily="2" charset="77"/>
              </a:rPr>
              <a:t>внешних серверов или сервисов</a:t>
            </a:r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,</a:t>
            </a:r>
          </a:p>
          <a:p>
            <a:pPr marL="971550" lvl="1" indent="-285750"/>
            <a:r>
              <a:rPr lang="ru-RU" sz="1400" b="1" dirty="0">
                <a:solidFill>
                  <a:srgbClr val="A5937C"/>
                </a:solidFill>
                <a:latin typeface="Montserrat" pitchFamily="2" charset="77"/>
              </a:rPr>
              <a:t>Всё «вшито» локально</a:t>
            </a:r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 (интерфейс, логика, данные) —</a:t>
            </a:r>
          </a:p>
          <a:p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— тогда </a:t>
            </a:r>
            <a:r>
              <a:rPr lang="en-US" sz="1400" dirty="0">
                <a:solidFill>
                  <a:srgbClr val="A5937C"/>
                </a:solidFill>
                <a:latin typeface="Montserrat" pitchFamily="2" charset="77"/>
              </a:rPr>
              <a:t>API </a:t>
            </a:r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не нужен.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A4E288-28E1-FB1F-95EE-1796A368C250}"/>
              </a:ext>
            </a:extLst>
          </p:cNvPr>
          <p:cNvSpPr txBox="1"/>
          <p:nvPr/>
        </p:nvSpPr>
        <p:spPr>
          <a:xfrm>
            <a:off x="7422079" y="4237970"/>
            <a:ext cx="41621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rgbClr val="A5937C"/>
                </a:solidFill>
                <a:latin typeface="Montserrat" pitchFamily="2" charset="77"/>
              </a:rPr>
              <a:t>Пример: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обычный калькулятор,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офлайн игра,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генератор паролей</a:t>
            </a: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.</a:t>
            </a:r>
          </a:p>
          <a:p>
            <a:r>
              <a:rPr lang="ru-RU" sz="1200" b="1" dirty="0">
                <a:solidFill>
                  <a:srgbClr val="A5937C"/>
                </a:solidFill>
                <a:latin typeface="Montserrat" pitchFamily="2" charset="77"/>
              </a:rPr>
              <a:t>НО!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Калькулятор на </a:t>
            </a: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iPhone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может обращаться к </a:t>
            </a: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API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для обновления валютных курсов,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Офлайн-игра может отправлять статистику разработчикам через </a:t>
            </a: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API.</a:t>
            </a:r>
          </a:p>
        </p:txBody>
      </p:sp>
    </p:spTree>
    <p:extLst>
      <p:ext uri="{BB962C8B-B14F-4D97-AF65-F5344CB8AC3E}">
        <p14:creationId xmlns:p14="http://schemas.microsoft.com/office/powerpoint/2010/main" val="376243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E0AE6B-EA13-D5A0-94DE-B2E89C5E92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08127" y="6190817"/>
            <a:ext cx="714598" cy="528637"/>
          </a:xfrm>
        </p:spPr>
        <p:txBody>
          <a:bodyPr/>
          <a:lstStyle/>
          <a:p>
            <a:r>
              <a:rPr lang="ru-RU" dirty="0"/>
              <a:t>03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F3AE34-5838-73DE-A3B4-640F19FF6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232191"/>
              </p:ext>
            </p:extLst>
          </p:nvPr>
        </p:nvGraphicFramePr>
        <p:xfrm>
          <a:off x="587829" y="1552197"/>
          <a:ext cx="9810205" cy="3570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393">
                  <a:extLst>
                    <a:ext uri="{9D8B030D-6E8A-4147-A177-3AD203B41FA5}">
                      <a16:colId xmlns:a16="http://schemas.microsoft.com/office/drawing/2014/main" val="4209066246"/>
                    </a:ext>
                  </a:extLst>
                </a:gridCol>
                <a:gridCol w="1571361">
                  <a:extLst>
                    <a:ext uri="{9D8B030D-6E8A-4147-A177-3AD203B41FA5}">
                      <a16:colId xmlns:a16="http://schemas.microsoft.com/office/drawing/2014/main" val="3754363654"/>
                    </a:ext>
                  </a:extLst>
                </a:gridCol>
                <a:gridCol w="2769326">
                  <a:extLst>
                    <a:ext uri="{9D8B030D-6E8A-4147-A177-3AD203B41FA5}">
                      <a16:colId xmlns:a16="http://schemas.microsoft.com/office/drawing/2014/main" val="1393687055"/>
                    </a:ext>
                  </a:extLst>
                </a:gridCol>
                <a:gridCol w="2233748">
                  <a:extLst>
                    <a:ext uri="{9D8B030D-6E8A-4147-A177-3AD203B41FA5}">
                      <a16:colId xmlns:a16="http://schemas.microsoft.com/office/drawing/2014/main" val="723489777"/>
                    </a:ext>
                  </a:extLst>
                </a:gridCol>
                <a:gridCol w="2364377">
                  <a:extLst>
                    <a:ext uri="{9D8B030D-6E8A-4147-A177-3AD203B41FA5}">
                      <a16:colId xmlns:a16="http://schemas.microsoft.com/office/drawing/2014/main" val="2033289819"/>
                    </a:ext>
                  </a:extLst>
                </a:gridCol>
              </a:tblGrid>
              <a:tr h="2997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Уровень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5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Название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5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Объяснение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5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Пример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5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Аналогия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5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718004"/>
                  </a:ext>
                </a:extLst>
              </a:tr>
              <a:tr h="47553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7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Прикладной (</a:t>
                      </a:r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Application)</a:t>
                      </a: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То, что </a:t>
                      </a:r>
                      <a:r>
                        <a:rPr lang="ru-RU" sz="1200" b="1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видит пользователь</a:t>
                      </a:r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 — приложения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Браузер, </a:t>
                      </a:r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Postman, Kafka client</a:t>
                      </a: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Ты пишешь письмо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00063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6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Представительный (</a:t>
                      </a:r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Presentation)</a:t>
                      </a: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Отвечает за </a:t>
                      </a:r>
                      <a:r>
                        <a:rPr lang="ru-RU" sz="1200" b="1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формат данных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Преобразование </a:t>
                      </a:r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JSON, </a:t>
                      </a:r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шифрование (</a:t>
                      </a:r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SSL)</a:t>
                      </a: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Пишешь его на русском, в формате </a:t>
                      </a:r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A4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66244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5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Сеансовый (</a:t>
                      </a:r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Session)</a:t>
                      </a: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Открытие, поддержка и завершение сеанса</a:t>
                      </a:r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 связи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Вход на сайт и сохранение сессии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Открываешь почтовую сессию (ставишь марку)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254306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4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Транспортный (</a:t>
                      </a:r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Transport)</a:t>
                      </a: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Надёжность передачи</a:t>
                      </a:r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 и контроль — доставка "до двери"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TCP, UDP</a:t>
                      </a: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Курьер доставляет — гарантирует, что дойдёт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6767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3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Сетевой (</a:t>
                      </a:r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Network)</a:t>
                      </a: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Как</a:t>
                      </a:r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 дойти до нужного компьютера (маршрутизация)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IP-</a:t>
                      </a:r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адреса, маршрутизаторы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Курьер ищет правильный адрес по карте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272706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2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Канальный (</a:t>
                      </a:r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Data Link)</a:t>
                      </a: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Как передать данные внутри локальной сети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Ethernet, Wi-Fi MAC-</a:t>
                      </a:r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адреса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Доставляет письмо до квартиры по лестнице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286950"/>
                  </a:ext>
                </a:extLst>
              </a:tr>
              <a:tr h="44484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1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Физический (</a:t>
                      </a:r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Physical)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Кабели, электрические сигналы, </a:t>
                      </a:r>
                      <a:r>
                        <a:rPr lang="en-US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Wi-Fi </a:t>
                      </a:r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волны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Витая пара, радиоволны, свет в оптоволокне</a:t>
                      </a:r>
                      <a:endParaRPr lang="en-US" sz="1200" dirty="0">
                        <a:solidFill>
                          <a:srgbClr val="1E628F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1E628F"/>
                          </a:solidFill>
                          <a:latin typeface="Montserrat" pitchFamily="2" charset="77"/>
                        </a:rPr>
                        <a:t>Нёс его ногами или на машине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873159"/>
                  </a:ext>
                </a:extLst>
              </a:tr>
            </a:tbl>
          </a:graphicData>
        </a:graphic>
      </p:graphicFrame>
      <p:sp>
        <p:nvSpPr>
          <p:cNvPr id="7" name="Title 2">
            <a:extLst>
              <a:ext uri="{FF2B5EF4-FFF2-40B4-BE49-F238E27FC236}">
                <a16:creationId xmlns:a16="http://schemas.microsoft.com/office/drawing/2014/main" id="{D6221465-2498-908E-5BF5-DD61D7A99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261213"/>
            <a:ext cx="10764383" cy="561747"/>
          </a:xfrm>
        </p:spPr>
        <p:txBody>
          <a:bodyPr/>
          <a:lstStyle/>
          <a:p>
            <a:r>
              <a:rPr lang="ru-RU" sz="2800" dirty="0">
                <a:solidFill>
                  <a:srgbClr val="1E628F"/>
                </a:solidFill>
              </a:rPr>
              <a:t>Модель </a:t>
            </a:r>
            <a:r>
              <a:rPr lang="en-US" sz="2800" dirty="0">
                <a:solidFill>
                  <a:srgbClr val="1E628F"/>
                </a:solidFill>
              </a:rPr>
              <a:t>OSI — 7 </a:t>
            </a:r>
            <a:r>
              <a:rPr lang="ru-RU" sz="2800" dirty="0">
                <a:solidFill>
                  <a:srgbClr val="1E628F"/>
                </a:solidFill>
              </a:rPr>
              <a:t>уровней сетевого взаимодействия</a:t>
            </a:r>
            <a:endParaRPr lang="en-US" sz="2800" dirty="0">
              <a:solidFill>
                <a:srgbClr val="1E628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356F60-84AE-0FA8-56F9-1A25121D25F0}"/>
              </a:ext>
            </a:extLst>
          </p:cNvPr>
          <p:cNvSpPr txBox="1"/>
          <p:nvPr/>
        </p:nvSpPr>
        <p:spPr>
          <a:xfrm>
            <a:off x="587829" y="822960"/>
            <a:ext cx="10764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1E628F"/>
                </a:solidFill>
                <a:latin typeface="Montserrat" pitchFamily="2" charset="77"/>
              </a:rPr>
              <a:t>Модель </a:t>
            </a:r>
            <a:r>
              <a:rPr lang="en-US" sz="1400" dirty="0">
                <a:solidFill>
                  <a:srgbClr val="1E628F"/>
                </a:solidFill>
                <a:latin typeface="Montserrat" pitchFamily="2" charset="77"/>
              </a:rPr>
              <a:t>OSI (Open Systems Interconnection) — </a:t>
            </a:r>
            <a:r>
              <a:rPr lang="ru-RU" sz="1400" dirty="0">
                <a:solidFill>
                  <a:srgbClr val="1E628F"/>
                </a:solidFill>
                <a:latin typeface="Montserrat" pitchFamily="2" charset="77"/>
              </a:rPr>
              <a:t>это как </a:t>
            </a:r>
            <a:r>
              <a:rPr lang="ru-RU" sz="1400" b="1" dirty="0">
                <a:solidFill>
                  <a:srgbClr val="1E628F"/>
                </a:solidFill>
                <a:latin typeface="Montserrat" pitchFamily="2" charset="77"/>
              </a:rPr>
              <a:t>инструкция</a:t>
            </a:r>
            <a:r>
              <a:rPr lang="ru-RU" sz="1400" dirty="0">
                <a:solidFill>
                  <a:srgbClr val="1E628F"/>
                </a:solidFill>
                <a:latin typeface="Montserrat" pitchFamily="2" charset="77"/>
              </a:rPr>
              <a:t>, описывающая, </a:t>
            </a:r>
            <a:r>
              <a:rPr lang="ru-RU" sz="1400" b="1" dirty="0">
                <a:solidFill>
                  <a:srgbClr val="1E628F"/>
                </a:solidFill>
                <a:latin typeface="Montserrat" pitchFamily="2" charset="77"/>
              </a:rPr>
              <a:t>как данные проходят через сеть</a:t>
            </a:r>
            <a:r>
              <a:rPr lang="ru-RU" sz="1400" dirty="0">
                <a:solidFill>
                  <a:srgbClr val="1E628F"/>
                </a:solidFill>
                <a:latin typeface="Montserrat" pitchFamily="2" charset="77"/>
              </a:rPr>
              <a:t> от одного устройства к другому.</a:t>
            </a:r>
            <a:endParaRPr lang="en-US" sz="1400" dirty="0">
              <a:solidFill>
                <a:srgbClr val="1E628F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9995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D0206-1414-CB59-511B-F8291F8CE5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49692" y="6176962"/>
            <a:ext cx="603762" cy="528637"/>
          </a:xfrm>
        </p:spPr>
        <p:txBody>
          <a:bodyPr/>
          <a:lstStyle/>
          <a:p>
            <a:r>
              <a:rPr lang="ru-RU" dirty="0"/>
              <a:t>04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4D66ED-11F8-B6E6-79EF-88E05AA6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6" y="248152"/>
            <a:ext cx="10134601" cy="679312"/>
          </a:xfrm>
        </p:spPr>
        <p:txBody>
          <a:bodyPr/>
          <a:lstStyle/>
          <a:p>
            <a:r>
              <a:rPr lang="en-US" sz="2400" dirty="0">
                <a:solidFill>
                  <a:srgbClr val="6B8F78"/>
                </a:solidFill>
              </a:rPr>
              <a:t>API </a:t>
            </a:r>
            <a:r>
              <a:rPr lang="ru-RU" sz="2400" dirty="0">
                <a:solidFill>
                  <a:srgbClr val="6B8F78"/>
                </a:solidFill>
              </a:rPr>
              <a:t>и уровни </a:t>
            </a:r>
            <a:r>
              <a:rPr lang="en-US" sz="2400" dirty="0">
                <a:solidFill>
                  <a:srgbClr val="6B8F78"/>
                </a:solidFill>
              </a:rPr>
              <a:t>OSI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8A3A13-9395-BCCC-B11D-8914FB6C8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454177"/>
              </p:ext>
            </p:extLst>
          </p:nvPr>
        </p:nvGraphicFramePr>
        <p:xfrm>
          <a:off x="642256" y="1058092"/>
          <a:ext cx="9115698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9344">
                  <a:extLst>
                    <a:ext uri="{9D8B030D-6E8A-4147-A177-3AD203B41FA5}">
                      <a16:colId xmlns:a16="http://schemas.microsoft.com/office/drawing/2014/main" val="4199582272"/>
                    </a:ext>
                  </a:extLst>
                </a:gridCol>
                <a:gridCol w="1972491">
                  <a:extLst>
                    <a:ext uri="{9D8B030D-6E8A-4147-A177-3AD203B41FA5}">
                      <a16:colId xmlns:a16="http://schemas.microsoft.com/office/drawing/2014/main" val="142834353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633734923"/>
                    </a:ext>
                  </a:extLst>
                </a:gridCol>
                <a:gridCol w="2829559">
                  <a:extLst>
                    <a:ext uri="{9D8B030D-6E8A-4147-A177-3AD203B41FA5}">
                      <a16:colId xmlns:a16="http://schemas.microsoft.com/office/drawing/2014/main" val="4023540708"/>
                    </a:ext>
                  </a:extLst>
                </a:gridCol>
                <a:gridCol w="2082075">
                  <a:extLst>
                    <a:ext uri="{9D8B030D-6E8A-4147-A177-3AD203B41FA5}">
                      <a16:colId xmlns:a16="http://schemas.microsoft.com/office/drawing/2014/main" val="2306548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OSI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9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Название</a:t>
                      </a:r>
                      <a:endParaRPr lang="en-US" sz="1200" dirty="0">
                        <a:solidFill>
                          <a:schemeClr val="tx1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9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Участвует в работе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API?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9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Что делает для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API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9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  <a:latin typeface="Montserrat" pitchFamily="2" charset="77"/>
                        </a:rPr>
                        <a:t>Примеры</a:t>
                      </a:r>
                      <a:endParaRPr lang="en-US" sz="1200" dirty="0">
                        <a:solidFill>
                          <a:schemeClr val="tx1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9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66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7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🧠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Прикладной (</a:t>
                      </a:r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Application)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Да (главный)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Собственно </a:t>
                      </a:r>
                      <a:r>
                        <a:rPr lang="en-US" sz="1200" b="1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API</a:t>
                      </a:r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: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интерфейсы, данные, логика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HTTP, REST, </a:t>
                      </a:r>
                      <a:r>
                        <a:rPr lang="en-US" sz="1200" dirty="0" err="1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GraphQL</a:t>
                      </a:r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, Kafka REST, </a:t>
                      </a:r>
                      <a:r>
                        <a:rPr lang="en-US" sz="1200" dirty="0" err="1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gRPC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573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6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🎭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Представительный (</a:t>
                      </a:r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Presentation)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Да (косвенно)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Преобразует формат данных, шифрует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JSON, XML, SSL/TLS (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частично)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9438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5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🔁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Сеансовый (</a:t>
                      </a:r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Session)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⚠️ Частично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Управляет соединением (если оно долгое)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TLS handshake, WebSocket-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сессия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0047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4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🚚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Транспортный (</a:t>
                      </a:r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Transport)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Обеспечивает надёжную доставку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TCP (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чаще всего), иногда </a:t>
                      </a:r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UDP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4494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3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🌐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Сетевой (</a:t>
                      </a:r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Network)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Доставляет пакеты по </a:t>
                      </a:r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IP-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адресам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IP (IPv4, IPv6),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маршрутизация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9876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2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📡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Канальный (</a:t>
                      </a:r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Data Link)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Передаёт данные по локальной сети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Ethernet, Wi-Fi, MAC-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адреса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617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1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⚙️ Физический (</a:t>
                      </a:r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Physical)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Физическая передача сигналов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Кабели, </a:t>
                      </a:r>
                      <a:r>
                        <a:rPr lang="en-US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Wi-Fi </a:t>
                      </a:r>
                      <a:r>
                        <a:rPr lang="ru-RU" sz="12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волны, оптика</a:t>
                      </a:r>
                      <a:endParaRPr lang="en-US" sz="12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3694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35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F8199-26B4-4F08-9586-B81C2A5A7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79" y="2985793"/>
            <a:ext cx="9087394" cy="886414"/>
          </a:xfrm>
        </p:spPr>
        <p:txBody>
          <a:bodyPr/>
          <a:lstStyle/>
          <a:p>
            <a:r>
              <a:rPr lang="ru-RU" dirty="0"/>
              <a:t>Протоколы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014764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BBB233D7-5AB3-495E-AD46-22BE1C664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754" y="1066800"/>
            <a:ext cx="5405846" cy="5110163"/>
          </a:xfrm>
        </p:spPr>
        <p:txBody>
          <a:bodyPr/>
          <a:lstStyle/>
          <a:p>
            <a:r>
              <a:rPr lang="en-US" sz="1400" b="1" dirty="0">
                <a:solidFill>
                  <a:srgbClr val="6B8F78"/>
                </a:solidFill>
              </a:rPr>
              <a:t>1. HTTP / HTTPS — 🔝 </a:t>
            </a:r>
            <a:r>
              <a:rPr lang="ru-RU" sz="1400" b="1" dirty="0">
                <a:solidFill>
                  <a:srgbClr val="6B8F78"/>
                </a:solidFill>
              </a:rPr>
              <a:t>Самый распространённый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Протокол </a:t>
            </a:r>
            <a:r>
              <a:rPr lang="ru-RU" sz="1400" b="1" dirty="0">
                <a:solidFill>
                  <a:srgbClr val="6B8F78"/>
                </a:solidFill>
              </a:rPr>
              <a:t>прикладного уровня</a:t>
            </a:r>
            <a:endParaRPr lang="ru-RU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Используется почти во всех </a:t>
            </a:r>
            <a:r>
              <a:rPr lang="en-US" sz="1400" dirty="0">
                <a:solidFill>
                  <a:srgbClr val="6B8F78"/>
                </a:solidFill>
              </a:rPr>
              <a:t>REST, </a:t>
            </a:r>
            <a:r>
              <a:rPr lang="en-US" sz="1400" dirty="0" err="1">
                <a:solidFill>
                  <a:srgbClr val="6B8F78"/>
                </a:solidFill>
              </a:rPr>
              <a:t>GraphQL</a:t>
            </a:r>
            <a:r>
              <a:rPr lang="en-US" sz="1400" dirty="0">
                <a:solidFill>
                  <a:srgbClr val="6B8F78"/>
                </a:solidFill>
              </a:rPr>
              <a:t>, Web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Работает поверх </a:t>
            </a:r>
            <a:r>
              <a:rPr lang="en-US" sz="1400" dirty="0">
                <a:solidFill>
                  <a:srgbClr val="6B8F78"/>
                </a:solidFill>
              </a:rPr>
              <a:t>TCP (</a:t>
            </a:r>
            <a:r>
              <a:rPr lang="ru-RU" sz="1400" dirty="0">
                <a:solidFill>
                  <a:srgbClr val="6B8F78"/>
                </a:solidFill>
              </a:rPr>
              <a:t>транспортный уровень)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Лёгкий, </a:t>
            </a:r>
            <a:r>
              <a:rPr lang="ru-RU" sz="1400" dirty="0" err="1">
                <a:solidFill>
                  <a:srgbClr val="6B8F78"/>
                </a:solidFill>
              </a:rPr>
              <a:t>человекочитаемый</a:t>
            </a:r>
            <a:endParaRPr lang="ru-RU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B8F78"/>
                </a:solidFill>
              </a:rPr>
              <a:t>HTTPS </a:t>
            </a:r>
            <a:r>
              <a:rPr lang="ru-RU" sz="1400" dirty="0">
                <a:solidFill>
                  <a:srgbClr val="6B8F78"/>
                </a:solidFill>
              </a:rPr>
              <a:t>шифрует данные через </a:t>
            </a:r>
            <a:r>
              <a:rPr lang="en-US" sz="1400" dirty="0">
                <a:solidFill>
                  <a:srgbClr val="6B8F78"/>
                </a:solidFill>
              </a:rPr>
              <a:t>TLS</a:t>
            </a:r>
            <a:endParaRPr lang="ru-RU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rgbClr val="6B8F78"/>
              </a:solidFill>
            </a:endParaRPr>
          </a:p>
          <a:p>
            <a:r>
              <a:rPr lang="en-US" sz="1400" b="1" dirty="0">
                <a:solidFill>
                  <a:srgbClr val="6B8F78"/>
                </a:solidFill>
              </a:rPr>
              <a:t>2. WebSocket — </a:t>
            </a:r>
            <a:r>
              <a:rPr lang="ru-RU" sz="1400" b="1" dirty="0">
                <a:solidFill>
                  <a:srgbClr val="6B8F78"/>
                </a:solidFill>
              </a:rPr>
              <a:t>для постоянного соединения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Протокол реального времени, основан на </a:t>
            </a:r>
            <a:r>
              <a:rPr lang="en-US" sz="1400" b="1" dirty="0">
                <a:solidFill>
                  <a:srgbClr val="6B8F78"/>
                </a:solidFill>
              </a:rPr>
              <a:t>TCP</a:t>
            </a:r>
            <a:endParaRPr lang="ru-RU" sz="1400" b="1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Постоянное соединение "клиент-сервер»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Двусторонняя связь (</a:t>
            </a:r>
            <a:r>
              <a:rPr lang="en-US" sz="1400" dirty="0">
                <a:solidFill>
                  <a:srgbClr val="6B8F78"/>
                </a:solidFill>
              </a:rPr>
              <a:t>bidirectional)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Подходит для чатов, онлайн-игр, уведомлений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Начинается как </a:t>
            </a:r>
            <a:r>
              <a:rPr lang="en-US" sz="1400" dirty="0">
                <a:solidFill>
                  <a:srgbClr val="6B8F78"/>
                </a:solidFill>
              </a:rPr>
              <a:t>HTTP-</a:t>
            </a:r>
            <a:r>
              <a:rPr lang="ru-RU" sz="1400" dirty="0">
                <a:solidFill>
                  <a:srgbClr val="6B8F78"/>
                </a:solidFill>
              </a:rPr>
              <a:t>запрос → переходит в </a:t>
            </a:r>
            <a:r>
              <a:rPr lang="en-US" sz="1400" dirty="0">
                <a:solidFill>
                  <a:srgbClr val="6B8F78"/>
                </a:solidFill>
              </a:rPr>
              <a:t>WebSocket</a:t>
            </a:r>
            <a:endParaRPr lang="ru-RU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Работает </a:t>
            </a:r>
            <a:r>
              <a:rPr lang="ru-RU" sz="1400" b="1" dirty="0">
                <a:solidFill>
                  <a:srgbClr val="6B8F78"/>
                </a:solidFill>
              </a:rPr>
              <a:t>по тому же порту, что </a:t>
            </a:r>
            <a:r>
              <a:rPr lang="en-US" sz="1400" b="1" dirty="0">
                <a:solidFill>
                  <a:srgbClr val="6B8F78"/>
                </a:solidFill>
              </a:rPr>
              <a:t>HTTP(S)</a:t>
            </a:r>
            <a:endParaRPr lang="en-US" sz="1400" dirty="0">
              <a:solidFill>
                <a:srgbClr val="6B8F78"/>
              </a:solidFill>
            </a:endParaRPr>
          </a:p>
          <a:p>
            <a:endParaRPr lang="ru-UA" sz="1400">
              <a:solidFill>
                <a:srgbClr val="6B8F78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AA94F2B-2AC4-49B0-98CB-7170678C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6B8F78"/>
                </a:solidFill>
              </a:rPr>
              <a:t>Протоколы</a:t>
            </a:r>
            <a:endParaRPr lang="ru-UA">
              <a:solidFill>
                <a:srgbClr val="6B8F78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D19D43-40E2-491F-AE55-44EFD490DC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79244" y="6190818"/>
            <a:ext cx="743481" cy="528637"/>
          </a:xfrm>
        </p:spPr>
        <p:txBody>
          <a:bodyPr/>
          <a:lstStyle/>
          <a:p>
            <a:r>
              <a:rPr lang="ru-RU" dirty="0"/>
              <a:t>06</a:t>
            </a:r>
            <a:endParaRPr lang="ru-UA" dirty="0"/>
          </a:p>
        </p:txBody>
      </p:sp>
      <p:sp>
        <p:nvSpPr>
          <p:cNvPr id="5" name="Объект 1">
            <a:extLst>
              <a:ext uri="{FF2B5EF4-FFF2-40B4-BE49-F238E27FC236}">
                <a16:creationId xmlns:a16="http://schemas.microsoft.com/office/drawing/2014/main" id="{3883A1CC-925E-1413-B769-A009C93840ED}"/>
              </a:ext>
            </a:extLst>
          </p:cNvPr>
          <p:cNvSpPr txBox="1">
            <a:spLocks/>
          </p:cNvSpPr>
          <p:nvPr/>
        </p:nvSpPr>
        <p:spPr>
          <a:xfrm>
            <a:off x="6392093" y="1066800"/>
            <a:ext cx="5405846" cy="51101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6B8F78"/>
                </a:solidFill>
              </a:rPr>
              <a:t>3. </a:t>
            </a:r>
            <a:r>
              <a:rPr lang="en-US" sz="1400" b="1" dirty="0" err="1">
                <a:solidFill>
                  <a:srgbClr val="6B8F78"/>
                </a:solidFill>
              </a:rPr>
              <a:t>gRPC</a:t>
            </a:r>
            <a:r>
              <a:rPr lang="en-US" sz="1400" dirty="0">
                <a:solidFill>
                  <a:srgbClr val="6B8F78"/>
                </a:solidFill>
              </a:rPr>
              <a:t> — </a:t>
            </a:r>
            <a:r>
              <a:rPr lang="ru-RU" sz="1400" dirty="0">
                <a:solidFill>
                  <a:srgbClr val="6B8F78"/>
                </a:solidFill>
              </a:rPr>
              <a:t>высокопроизводительная альтернатива </a:t>
            </a:r>
            <a:r>
              <a:rPr lang="en-US" sz="1400" dirty="0">
                <a:solidFill>
                  <a:srgbClr val="6B8F78"/>
                </a:solidFill>
              </a:rPr>
              <a:t>REST</a:t>
            </a:r>
            <a:endParaRPr lang="ru-RU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Протокол на базе </a:t>
            </a:r>
            <a:r>
              <a:rPr lang="en-US" sz="1400" b="1" dirty="0">
                <a:solidFill>
                  <a:srgbClr val="6B8F78"/>
                </a:solidFill>
              </a:rPr>
              <a:t>HTTP/2</a:t>
            </a:r>
            <a:endParaRPr lang="ru-RU" sz="1400" b="1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Использует </a:t>
            </a:r>
            <a:r>
              <a:rPr lang="en-US" sz="1400" b="1" dirty="0" err="1">
                <a:solidFill>
                  <a:srgbClr val="6B8F78"/>
                </a:solidFill>
              </a:rPr>
              <a:t>protobuf</a:t>
            </a:r>
            <a:r>
              <a:rPr lang="en-US" sz="1400" b="1" dirty="0">
                <a:solidFill>
                  <a:srgbClr val="6B8F78"/>
                </a:solidFill>
              </a:rPr>
              <a:t> (</a:t>
            </a:r>
            <a:r>
              <a:rPr lang="ru-RU" sz="1400" b="1" dirty="0">
                <a:solidFill>
                  <a:srgbClr val="6B8F78"/>
                </a:solidFill>
              </a:rPr>
              <a:t>бинарный формат)</a:t>
            </a:r>
            <a:r>
              <a:rPr lang="ru-RU" sz="1400" dirty="0">
                <a:solidFill>
                  <a:srgbClr val="6B8F78"/>
                </a:solidFill>
              </a:rPr>
              <a:t> вместо </a:t>
            </a:r>
            <a:r>
              <a:rPr lang="en-US" sz="1400" dirty="0">
                <a:solidFill>
                  <a:srgbClr val="6B8F78"/>
                </a:solidFill>
              </a:rPr>
              <a:t>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Очень быстр и удобен для </a:t>
            </a:r>
            <a:r>
              <a:rPr lang="ru-RU" sz="1400" dirty="0" err="1">
                <a:solidFill>
                  <a:srgbClr val="6B8F78"/>
                </a:solidFill>
              </a:rPr>
              <a:t>микросервисов</a:t>
            </a:r>
            <a:endParaRPr lang="ru-RU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Меньше "шума" в данных, быстрее </a:t>
            </a:r>
            <a:r>
              <a:rPr lang="en-US" sz="1400" dirty="0">
                <a:solidFill>
                  <a:srgbClr val="6B8F78"/>
                </a:solidFill>
              </a:rPr>
              <a:t>REST</a:t>
            </a:r>
            <a:endParaRPr lang="ru-RU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Используется в высоконагруженных системах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rgbClr val="6B8F78"/>
              </a:solidFill>
            </a:endParaRPr>
          </a:p>
          <a:p>
            <a:r>
              <a:rPr lang="en-US" sz="1400" b="1" dirty="0">
                <a:solidFill>
                  <a:srgbClr val="6B8F78"/>
                </a:solidFill>
              </a:rPr>
              <a:t>4. MQTT</a:t>
            </a:r>
            <a:r>
              <a:rPr lang="en-US" sz="1400" dirty="0">
                <a:solidFill>
                  <a:srgbClr val="6B8F78"/>
                </a:solidFill>
              </a:rPr>
              <a:t> — </a:t>
            </a:r>
            <a:r>
              <a:rPr lang="ru-RU" sz="1400" dirty="0">
                <a:solidFill>
                  <a:srgbClr val="6B8F78"/>
                </a:solidFill>
              </a:rPr>
              <a:t>для </a:t>
            </a:r>
            <a:r>
              <a:rPr lang="en-US" sz="1400" dirty="0">
                <a:solidFill>
                  <a:srgbClr val="6B8F78"/>
                </a:solidFill>
              </a:rPr>
              <a:t>IoT</a:t>
            </a:r>
            <a:r>
              <a:rPr lang="ru-RU" sz="1400" dirty="0">
                <a:solidFill>
                  <a:srgbClr val="6B8F78"/>
                </a:solidFill>
              </a:rPr>
              <a:t> (</a:t>
            </a:r>
            <a:r>
              <a:rPr lang="en-US" sz="1400" dirty="0">
                <a:solidFill>
                  <a:srgbClr val="6B8F78"/>
                </a:solidFill>
              </a:rPr>
              <a:t>internet of things</a:t>
            </a:r>
            <a:r>
              <a:rPr lang="ru-RU" sz="1400" dirty="0">
                <a:solidFill>
                  <a:srgbClr val="6B8F78"/>
                </a:solidFill>
              </a:rPr>
              <a:t>)</a:t>
            </a:r>
            <a:r>
              <a:rPr lang="en-US" sz="1400" dirty="0">
                <a:solidFill>
                  <a:srgbClr val="6B8F78"/>
                </a:solidFill>
              </a:rPr>
              <a:t> </a:t>
            </a:r>
            <a:r>
              <a:rPr lang="ru-RU" sz="1400" dirty="0">
                <a:solidFill>
                  <a:srgbClr val="6B8F78"/>
                </a:solidFill>
              </a:rPr>
              <a:t>и событий</a:t>
            </a:r>
            <a:endParaRPr lang="ru-RU" sz="1400" b="1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Лёгкий протокол обмена сообщениями, работает поверх </a:t>
            </a:r>
            <a:r>
              <a:rPr lang="en-US" sz="1400" b="1" dirty="0">
                <a:solidFill>
                  <a:srgbClr val="6B8F78"/>
                </a:solidFill>
              </a:rPr>
              <a:t>TCP</a:t>
            </a:r>
            <a:endParaRPr lang="ru-RU" sz="1400" b="1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Подходит для </a:t>
            </a:r>
            <a:r>
              <a:rPr lang="ru-RU" sz="1400" b="1" dirty="0">
                <a:solidFill>
                  <a:srgbClr val="6B8F78"/>
                </a:solidFill>
              </a:rPr>
              <a:t>устройств с низкой пропускной способностью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Часто используется в </a:t>
            </a:r>
            <a:r>
              <a:rPr lang="ru-RU" sz="1400" b="1" dirty="0">
                <a:solidFill>
                  <a:srgbClr val="6B8F78"/>
                </a:solidFill>
              </a:rPr>
              <a:t>умных домах, датчиках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Минимальная нагрузка на сеть</a:t>
            </a:r>
            <a:endParaRPr lang="ru-UA" sz="1400">
              <a:solidFill>
                <a:srgbClr val="6B8F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27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6055C-B992-A6D1-1A51-A17A09EE8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4EEF78-23DC-0679-DDDB-003CF6E92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280"/>
            <a:ext cx="9899468" cy="5404304"/>
          </a:xfrm>
        </p:spPr>
        <p:txBody>
          <a:bodyPr/>
          <a:lstStyle/>
          <a:p>
            <a:r>
              <a:rPr lang="en-US" sz="1400" b="1" dirty="0">
                <a:solidFill>
                  <a:srgbClr val="6B8F78"/>
                </a:solidFill>
              </a:rPr>
              <a:t>5. SOAP (</a:t>
            </a:r>
            <a:r>
              <a:rPr lang="ru-RU" sz="1400" b="1" dirty="0">
                <a:solidFill>
                  <a:srgbClr val="6B8F78"/>
                </a:solidFill>
              </a:rPr>
              <a:t>на базе </a:t>
            </a:r>
            <a:r>
              <a:rPr lang="en-US" sz="1400" b="1" dirty="0">
                <a:solidFill>
                  <a:srgbClr val="6B8F78"/>
                </a:solidFill>
              </a:rPr>
              <a:t>HTTP </a:t>
            </a:r>
            <a:r>
              <a:rPr lang="ru-RU" sz="1400" b="1" dirty="0">
                <a:solidFill>
                  <a:srgbClr val="6B8F78"/>
                </a:solidFill>
              </a:rPr>
              <a:t>или </a:t>
            </a:r>
            <a:r>
              <a:rPr lang="en-US" sz="1400" b="1" dirty="0">
                <a:solidFill>
                  <a:srgbClr val="6B8F78"/>
                </a:solidFill>
              </a:rPr>
              <a:t>SMTP)</a:t>
            </a:r>
            <a:r>
              <a:rPr lang="en-US" sz="1400" dirty="0">
                <a:solidFill>
                  <a:srgbClr val="6B8F78"/>
                </a:solidFill>
              </a:rPr>
              <a:t> — </a:t>
            </a:r>
            <a:r>
              <a:rPr lang="ru-RU" sz="1400" dirty="0">
                <a:solidFill>
                  <a:srgbClr val="6B8F78"/>
                </a:solidFill>
              </a:rPr>
              <a:t>для старых систем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B8F78"/>
                </a:solidFill>
              </a:rPr>
              <a:t>XML-</a:t>
            </a:r>
            <a:r>
              <a:rPr lang="ru-RU" sz="1400" dirty="0">
                <a:solidFill>
                  <a:srgbClr val="6B8F78"/>
                </a:solidFill>
              </a:rPr>
              <a:t>базированный протокол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Используется в банках, госорганизациях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Строгие контракты </a:t>
            </a:r>
            <a:r>
              <a:rPr lang="en-US" sz="1400" dirty="0">
                <a:solidFill>
                  <a:srgbClr val="6B8F78"/>
                </a:solidFill>
              </a:rPr>
              <a:t>WSDL</a:t>
            </a:r>
            <a:endParaRPr lang="ru-RU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Более громоздкий, чем </a:t>
            </a:r>
            <a:r>
              <a:rPr lang="en-US" sz="1400" dirty="0">
                <a:solidFill>
                  <a:srgbClr val="6B8F78"/>
                </a:solidFill>
              </a:rPr>
              <a:t>REST</a:t>
            </a:r>
            <a:endParaRPr lang="ru-RU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Медленно вытесняется </a:t>
            </a:r>
            <a:r>
              <a:rPr lang="en-US" sz="1400" dirty="0">
                <a:solidFill>
                  <a:srgbClr val="6B8F78"/>
                </a:solidFill>
              </a:rPr>
              <a:t>REST </a:t>
            </a:r>
            <a:r>
              <a:rPr lang="ru-RU" sz="1400" dirty="0">
                <a:solidFill>
                  <a:srgbClr val="6B8F78"/>
                </a:solidFill>
              </a:rPr>
              <a:t>и </a:t>
            </a:r>
            <a:r>
              <a:rPr lang="en-US" sz="1400" dirty="0" err="1">
                <a:solidFill>
                  <a:srgbClr val="6B8F78"/>
                </a:solidFill>
              </a:rPr>
              <a:t>gRPC</a:t>
            </a:r>
            <a:endParaRPr lang="en-US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rgbClr val="6B8F78"/>
              </a:solidFill>
            </a:endParaRPr>
          </a:p>
          <a:p>
            <a:r>
              <a:rPr lang="en-US" sz="1400" b="1" dirty="0">
                <a:solidFill>
                  <a:srgbClr val="6B8F78"/>
                </a:solidFill>
              </a:rPr>
              <a:t>6. Kafka, AMQP, </a:t>
            </a:r>
            <a:r>
              <a:rPr lang="en-US" sz="1400" b="1" dirty="0" err="1">
                <a:solidFill>
                  <a:srgbClr val="6B8F78"/>
                </a:solidFill>
              </a:rPr>
              <a:t>ZeroMQ</a:t>
            </a:r>
            <a:r>
              <a:rPr lang="en-US" sz="1400" dirty="0">
                <a:solidFill>
                  <a:srgbClr val="6B8F78"/>
                </a:solidFill>
              </a:rPr>
              <a:t> — </a:t>
            </a:r>
            <a:r>
              <a:rPr lang="ru-RU" sz="1400" dirty="0">
                <a:solidFill>
                  <a:srgbClr val="6B8F78"/>
                </a:solidFill>
              </a:rPr>
              <a:t>если </a:t>
            </a:r>
            <a:r>
              <a:rPr lang="en-US" sz="1400" dirty="0">
                <a:solidFill>
                  <a:srgbClr val="6B8F78"/>
                </a:solidFill>
              </a:rPr>
              <a:t>API </a:t>
            </a:r>
            <a:r>
              <a:rPr lang="ru-RU" sz="1400" dirty="0">
                <a:solidFill>
                  <a:srgbClr val="6B8F78"/>
                </a:solidFill>
              </a:rPr>
              <a:t>работает через события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Здесь </a:t>
            </a:r>
            <a:r>
              <a:rPr lang="en-US" sz="1400" dirty="0">
                <a:solidFill>
                  <a:srgbClr val="6B8F78"/>
                </a:solidFill>
              </a:rPr>
              <a:t>API </a:t>
            </a:r>
            <a:r>
              <a:rPr lang="ru-RU" sz="1400" dirty="0">
                <a:solidFill>
                  <a:srgbClr val="6B8F78"/>
                </a:solidFill>
              </a:rPr>
              <a:t>реализуется </a:t>
            </a:r>
            <a:r>
              <a:rPr lang="ru-RU" sz="1400" b="1" dirty="0">
                <a:solidFill>
                  <a:srgbClr val="6B8F78"/>
                </a:solidFill>
              </a:rPr>
              <a:t>не как запрос-ответ</a:t>
            </a:r>
            <a:r>
              <a:rPr lang="ru-RU" sz="1400" dirty="0">
                <a:solidFill>
                  <a:srgbClr val="6B8F78"/>
                </a:solidFill>
              </a:rPr>
              <a:t>, а как </a:t>
            </a:r>
            <a:r>
              <a:rPr lang="ru-RU" sz="1400" b="1" dirty="0">
                <a:solidFill>
                  <a:srgbClr val="6B8F78"/>
                </a:solidFill>
              </a:rPr>
              <a:t>взаимодействие через брокер сообщений</a:t>
            </a:r>
            <a:endParaRPr lang="ru-RU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B8F78"/>
                </a:solidFill>
              </a:rPr>
              <a:t>Kafka </a:t>
            </a:r>
            <a:r>
              <a:rPr lang="ru-RU" sz="1400" dirty="0">
                <a:solidFill>
                  <a:srgbClr val="6B8F78"/>
                </a:solidFill>
              </a:rPr>
              <a:t>использует </a:t>
            </a:r>
            <a:r>
              <a:rPr lang="ru-RU" sz="1400" b="1" dirty="0">
                <a:solidFill>
                  <a:srgbClr val="6B8F78"/>
                </a:solidFill>
              </a:rPr>
              <a:t>собственный протокол</a:t>
            </a:r>
            <a:r>
              <a:rPr lang="ru-RU" sz="1400" dirty="0">
                <a:solidFill>
                  <a:srgbClr val="6B8F78"/>
                </a:solidFill>
              </a:rPr>
              <a:t> (поверх </a:t>
            </a:r>
            <a:r>
              <a:rPr lang="en-US" sz="1400" dirty="0">
                <a:solidFill>
                  <a:srgbClr val="6B8F78"/>
                </a:solidFill>
              </a:rPr>
              <a:t>TCP)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B8F78"/>
                </a:solidFill>
              </a:rPr>
              <a:t>AMQP — </a:t>
            </a:r>
            <a:r>
              <a:rPr lang="ru-RU" sz="1400" dirty="0">
                <a:solidFill>
                  <a:srgbClr val="6B8F78"/>
                </a:solidFill>
              </a:rPr>
              <a:t>в </a:t>
            </a:r>
            <a:r>
              <a:rPr lang="en-US" sz="1400" dirty="0">
                <a:solidFill>
                  <a:srgbClr val="6B8F78"/>
                </a:solidFill>
              </a:rPr>
              <a:t>RabbitMQ, </a:t>
            </a:r>
            <a:r>
              <a:rPr lang="ru-RU" sz="1400" dirty="0">
                <a:solidFill>
                  <a:srgbClr val="6B8F78"/>
                </a:solidFill>
              </a:rPr>
              <a:t>поддерживает очереди, топики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B8F78"/>
                </a:solidFill>
              </a:rPr>
              <a:t>API </a:t>
            </a:r>
            <a:r>
              <a:rPr lang="ru-RU" sz="1400" dirty="0">
                <a:solidFill>
                  <a:srgbClr val="6B8F78"/>
                </a:solidFill>
              </a:rPr>
              <a:t>публикует события, другие их получают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Взаимодействие — не по </a:t>
            </a:r>
            <a:r>
              <a:rPr lang="en-US" sz="1400" dirty="0">
                <a:solidFill>
                  <a:srgbClr val="6B8F78"/>
                </a:solidFill>
              </a:rPr>
              <a:t>URL, </a:t>
            </a:r>
            <a:r>
              <a:rPr lang="ru-RU" sz="1400" dirty="0">
                <a:solidFill>
                  <a:srgbClr val="6B8F78"/>
                </a:solidFill>
              </a:rPr>
              <a:t>а через топики и брокеры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Подходит для </a:t>
            </a:r>
            <a:r>
              <a:rPr lang="ru-RU" sz="1400" dirty="0" err="1">
                <a:solidFill>
                  <a:srgbClr val="6B8F78"/>
                </a:solidFill>
              </a:rPr>
              <a:t>микросервисов</a:t>
            </a:r>
            <a:r>
              <a:rPr lang="ru-RU" sz="1400" dirty="0">
                <a:solidFill>
                  <a:srgbClr val="6B8F78"/>
                </a:solidFill>
              </a:rPr>
              <a:t> и событийных архитектур</a:t>
            </a:r>
            <a:endParaRPr lang="ru-UA" sz="1400">
              <a:solidFill>
                <a:srgbClr val="6B8F78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C42505E-2BC3-DBDF-41C1-E4EAF685F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6B8F78"/>
                </a:solidFill>
              </a:rPr>
              <a:t>Протоколы</a:t>
            </a:r>
            <a:endParaRPr lang="ru-UA">
              <a:solidFill>
                <a:srgbClr val="6B8F78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02C6A0-C154-15E9-8EDE-D00F8CB4CC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79244" y="6190818"/>
            <a:ext cx="743481" cy="528637"/>
          </a:xfrm>
        </p:spPr>
        <p:txBody>
          <a:bodyPr/>
          <a:lstStyle/>
          <a:p>
            <a:r>
              <a:rPr lang="ru-RU" dirty="0"/>
              <a:t>07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726540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29F673-B5A0-2038-4663-4A7DBABAF1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94272" y="6190817"/>
            <a:ext cx="714598" cy="528637"/>
          </a:xfrm>
        </p:spPr>
        <p:txBody>
          <a:bodyPr/>
          <a:lstStyle/>
          <a:p>
            <a:r>
              <a:rPr lang="ru-RU" dirty="0"/>
              <a:t>08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9801D7-D418-0F3A-09C2-EF82A6AD4B29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3954" y="550333"/>
            <a:ext cx="10738258" cy="5626630"/>
          </a:xfrm>
        </p:spPr>
        <p:txBody>
          <a:bodyPr/>
          <a:lstStyle/>
          <a:p>
            <a:r>
              <a:rPr lang="ru-RU" b="1" dirty="0">
                <a:solidFill>
                  <a:srgbClr val="6B8F78"/>
                </a:solidFill>
              </a:rPr>
              <a:t>В рамках одного приложения может использоваться сразу несколько разных сетевых протоколов. Это позволяет: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Решать задачи оптимально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Сочетать старые и новые технологии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6B8F78"/>
                </a:solidFill>
              </a:rPr>
              <a:t>Повышать надёжность и масштабируемость</a:t>
            </a:r>
          </a:p>
          <a:p>
            <a:endParaRPr lang="ru-RU" dirty="0">
              <a:solidFill>
                <a:srgbClr val="6B8F78"/>
              </a:solidFill>
            </a:endParaRPr>
          </a:p>
          <a:p>
            <a:r>
              <a:rPr lang="en-US" sz="1400" dirty="0">
                <a:solidFill>
                  <a:srgbClr val="6B8F78"/>
                </a:solidFill>
              </a:rPr>
              <a:t>📦 </a:t>
            </a:r>
            <a:r>
              <a:rPr lang="ru-RU" sz="1400" dirty="0">
                <a:solidFill>
                  <a:srgbClr val="6B8F78"/>
                </a:solidFill>
              </a:rPr>
              <a:t>Пример: интернет-магазин: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Каталог товаров - </a:t>
            </a:r>
            <a:r>
              <a:rPr lang="en-US" sz="1400" b="1" dirty="0">
                <a:solidFill>
                  <a:srgbClr val="6B8F78"/>
                </a:solidFill>
              </a:rPr>
              <a:t>REST (HTTP/HTTPS</a:t>
            </a:r>
            <a:r>
              <a:rPr lang="en-US" sz="1400" dirty="0">
                <a:solidFill>
                  <a:srgbClr val="6B8F78"/>
                </a:solidFill>
              </a:rPr>
              <a:t>)</a:t>
            </a:r>
            <a:r>
              <a:rPr lang="ru-RU" sz="1400" dirty="0">
                <a:solidFill>
                  <a:srgbClr val="6B8F78"/>
                </a:solidFill>
              </a:rPr>
              <a:t> - Быстрый и простой доступ: </a:t>
            </a:r>
            <a:r>
              <a:rPr lang="en-US" sz="1400" dirty="0">
                <a:solidFill>
                  <a:srgbClr val="6B8F78"/>
                </a:solidFill>
              </a:rPr>
              <a:t>GET /products</a:t>
            </a:r>
            <a:endParaRPr lang="ru-RU" sz="1400" dirty="0">
              <a:solidFill>
                <a:srgbClr val="6B8F7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Чат поддержки – </a:t>
            </a:r>
            <a:r>
              <a:rPr lang="en-US" sz="1400" b="1" dirty="0">
                <a:solidFill>
                  <a:srgbClr val="6B8F78"/>
                </a:solidFill>
              </a:rPr>
              <a:t>WebSocket</a:t>
            </a:r>
            <a:r>
              <a:rPr lang="ru-RU" sz="1400" dirty="0">
                <a:solidFill>
                  <a:srgbClr val="6B8F78"/>
                </a:solidFill>
              </a:rPr>
              <a:t> - Постоянное соединение, мгновенные сообщения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Авторизация и безопасность - </a:t>
            </a:r>
            <a:r>
              <a:rPr lang="en-US" sz="1400" b="1" dirty="0">
                <a:solidFill>
                  <a:srgbClr val="6B8F78"/>
                </a:solidFill>
              </a:rPr>
              <a:t>HTTPS + OAuth2</a:t>
            </a:r>
            <a:r>
              <a:rPr lang="ru-RU" sz="1400" b="1" dirty="0">
                <a:solidFill>
                  <a:srgbClr val="6B8F78"/>
                </a:solidFill>
              </a:rPr>
              <a:t> </a:t>
            </a:r>
            <a:r>
              <a:rPr lang="ru-RU" sz="1400" dirty="0">
                <a:solidFill>
                  <a:srgbClr val="6B8F78"/>
                </a:solidFill>
              </a:rPr>
              <a:t>- Защита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Интеграция с платёжной системой – </a:t>
            </a:r>
            <a:r>
              <a:rPr lang="en-US" sz="1400" b="1" dirty="0">
                <a:solidFill>
                  <a:srgbClr val="6B8F78"/>
                </a:solidFill>
              </a:rPr>
              <a:t>SOAP</a:t>
            </a:r>
            <a:r>
              <a:rPr lang="ru-RU" sz="1400" dirty="0">
                <a:solidFill>
                  <a:srgbClr val="6B8F78"/>
                </a:solidFill>
              </a:rPr>
              <a:t> - Устаревший протокол платёжного шлюза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Уведомления (</a:t>
            </a:r>
            <a:r>
              <a:rPr lang="en-US" sz="1400" dirty="0">
                <a:solidFill>
                  <a:srgbClr val="6B8F78"/>
                </a:solidFill>
              </a:rPr>
              <a:t>Push)</a:t>
            </a:r>
            <a:r>
              <a:rPr lang="ru-RU" sz="1400" dirty="0">
                <a:solidFill>
                  <a:srgbClr val="6B8F78"/>
                </a:solidFill>
              </a:rPr>
              <a:t> - </a:t>
            </a:r>
            <a:r>
              <a:rPr lang="en-US" sz="1400" b="1" dirty="0">
                <a:solidFill>
                  <a:srgbClr val="6B8F78"/>
                </a:solidFill>
              </a:rPr>
              <a:t>MQTT </a:t>
            </a:r>
            <a:r>
              <a:rPr lang="ru-RU" sz="1400" b="1" dirty="0">
                <a:solidFill>
                  <a:srgbClr val="6B8F78"/>
                </a:solidFill>
              </a:rPr>
              <a:t>или </a:t>
            </a:r>
            <a:r>
              <a:rPr lang="en-US" sz="1400" b="1" dirty="0">
                <a:solidFill>
                  <a:srgbClr val="6B8F78"/>
                </a:solidFill>
              </a:rPr>
              <a:t>WebSocket</a:t>
            </a:r>
            <a:r>
              <a:rPr lang="ru-RU" sz="1400" b="1" dirty="0">
                <a:solidFill>
                  <a:srgbClr val="6B8F78"/>
                </a:solidFill>
              </a:rPr>
              <a:t> </a:t>
            </a:r>
            <a:r>
              <a:rPr lang="ru-RU" sz="1400" dirty="0">
                <a:solidFill>
                  <a:srgbClr val="6B8F78"/>
                </a:solidFill>
              </a:rPr>
              <a:t>- Пуши о статусе заказа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6B8F78"/>
                </a:solidFill>
              </a:rPr>
              <a:t>Микросервисы</a:t>
            </a:r>
            <a:r>
              <a:rPr lang="ru-RU" sz="1400" dirty="0">
                <a:solidFill>
                  <a:srgbClr val="6B8F78"/>
                </a:solidFill>
              </a:rPr>
              <a:t> </a:t>
            </a:r>
            <a:r>
              <a:rPr lang="en-US" sz="1400" dirty="0">
                <a:solidFill>
                  <a:srgbClr val="6B8F78"/>
                </a:solidFill>
              </a:rPr>
              <a:t>backend</a:t>
            </a:r>
            <a:r>
              <a:rPr lang="ru-RU" sz="1400" dirty="0">
                <a:solidFill>
                  <a:srgbClr val="6B8F78"/>
                </a:solidFill>
              </a:rPr>
              <a:t> – </a:t>
            </a:r>
            <a:r>
              <a:rPr lang="en-US" sz="1400" b="1" dirty="0" err="1">
                <a:solidFill>
                  <a:srgbClr val="6B8F78"/>
                </a:solidFill>
              </a:rPr>
              <a:t>gRPC</a:t>
            </a:r>
            <a:r>
              <a:rPr lang="ru-RU" sz="1400" dirty="0">
                <a:solidFill>
                  <a:srgbClr val="6B8F78"/>
                </a:solidFill>
              </a:rPr>
              <a:t> - Эффективное общение между внутренними сервисами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Логи и события – </a:t>
            </a:r>
            <a:r>
              <a:rPr lang="en-US" sz="1400" b="1" dirty="0">
                <a:solidFill>
                  <a:srgbClr val="6B8F78"/>
                </a:solidFill>
              </a:rPr>
              <a:t>Kafka</a:t>
            </a:r>
            <a:r>
              <a:rPr lang="ru-RU" sz="1400" dirty="0">
                <a:solidFill>
                  <a:srgbClr val="6B8F78"/>
                </a:solidFill>
              </a:rPr>
              <a:t> - Асинхронная передача заказов и действий пользователя</a:t>
            </a:r>
          </a:p>
          <a:p>
            <a:endParaRPr lang="en-US" dirty="0">
              <a:solidFill>
                <a:srgbClr val="6B8F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218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B856A7-5890-A0C0-A339-2D399EAB5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5837" y="6190817"/>
            <a:ext cx="617616" cy="528637"/>
          </a:xfrm>
        </p:spPr>
        <p:txBody>
          <a:bodyPr/>
          <a:lstStyle/>
          <a:p>
            <a:r>
              <a:rPr lang="ru-RU" dirty="0"/>
              <a:t>09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FB6C2A-9204-4636-8449-3B4989AE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949014" cy="440871"/>
          </a:xfrm>
        </p:spPr>
        <p:txBody>
          <a:bodyPr/>
          <a:lstStyle/>
          <a:p>
            <a:r>
              <a:rPr lang="en-US" sz="2400" dirty="0">
                <a:solidFill>
                  <a:srgbClr val="A5937C"/>
                </a:solidFill>
              </a:rPr>
              <a:t>HTTP (</a:t>
            </a:r>
            <a:r>
              <a:rPr lang="en-US" sz="2400" dirty="0" err="1">
                <a:solidFill>
                  <a:srgbClr val="A5937C"/>
                </a:solidFill>
              </a:rPr>
              <a:t>HyperText</a:t>
            </a:r>
            <a:r>
              <a:rPr lang="en-US" sz="2400" dirty="0">
                <a:solidFill>
                  <a:srgbClr val="A5937C"/>
                </a:solidFill>
              </a:rPr>
              <a:t> Transfer Protocol)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EDAAF4-3C66-7919-BE42-C49FF232492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38200" y="953589"/>
            <a:ext cx="10639202" cy="1045028"/>
          </a:xfrm>
        </p:spPr>
        <p:txBody>
          <a:bodyPr/>
          <a:lstStyle/>
          <a:p>
            <a:r>
              <a:rPr lang="ru-RU" sz="1600" b="1" dirty="0">
                <a:solidFill>
                  <a:srgbClr val="A5937C"/>
                </a:solidFill>
              </a:rPr>
              <a:t>Протокол прикладного уровня</a:t>
            </a:r>
            <a:r>
              <a:rPr lang="ru-RU" sz="1600" dirty="0">
                <a:solidFill>
                  <a:srgbClr val="A5937C"/>
                </a:solidFill>
              </a:rPr>
              <a:t> из модели </a:t>
            </a:r>
            <a:r>
              <a:rPr lang="en-US" sz="1600" dirty="0">
                <a:solidFill>
                  <a:srgbClr val="A5937C"/>
                </a:solidFill>
              </a:rPr>
              <a:t>OSI,</a:t>
            </a:r>
            <a:br>
              <a:rPr lang="en-US" sz="1600" dirty="0">
                <a:solidFill>
                  <a:srgbClr val="A5937C"/>
                </a:solidFill>
              </a:rPr>
            </a:br>
            <a:r>
              <a:rPr lang="ru-RU" sz="1600" dirty="0">
                <a:solidFill>
                  <a:srgbClr val="A5937C"/>
                </a:solidFill>
              </a:rPr>
              <a:t>используемый для </a:t>
            </a:r>
            <a:r>
              <a:rPr lang="ru-RU" sz="1600" b="1" dirty="0">
                <a:solidFill>
                  <a:srgbClr val="A5937C"/>
                </a:solidFill>
              </a:rPr>
              <a:t>обмена данными между клиентом и сервером</a:t>
            </a:r>
            <a:r>
              <a:rPr lang="ru-RU" sz="1600" dirty="0">
                <a:solidFill>
                  <a:srgbClr val="A5937C"/>
                </a:solidFill>
              </a:rPr>
              <a:t> по принципу </a:t>
            </a:r>
            <a:r>
              <a:rPr lang="ru-RU" sz="1600" i="1" dirty="0">
                <a:solidFill>
                  <a:srgbClr val="A5937C"/>
                </a:solidFill>
              </a:rPr>
              <a:t>запрос → ответ</a:t>
            </a:r>
            <a:r>
              <a:rPr lang="ru-RU" sz="1600" dirty="0">
                <a:solidFill>
                  <a:srgbClr val="A5937C"/>
                </a:solidFill>
              </a:rPr>
              <a:t>.</a:t>
            </a:r>
          </a:p>
          <a:p>
            <a:r>
              <a:rPr lang="ru-RU" sz="1400" i="1" dirty="0">
                <a:solidFill>
                  <a:srgbClr val="A5937C"/>
                </a:solidFill>
              </a:rPr>
              <a:t>Работает поверх </a:t>
            </a:r>
            <a:r>
              <a:rPr lang="en-US" sz="1400" b="1" i="1" dirty="0">
                <a:solidFill>
                  <a:srgbClr val="A5937C"/>
                </a:solidFill>
              </a:rPr>
              <a:t>TCP</a:t>
            </a:r>
            <a:r>
              <a:rPr lang="en-US" sz="1400" i="1" dirty="0">
                <a:solidFill>
                  <a:srgbClr val="A5937C"/>
                </a:solidFill>
              </a:rPr>
              <a:t>, </a:t>
            </a:r>
            <a:r>
              <a:rPr lang="ru-RU" sz="1400" i="1" dirty="0">
                <a:solidFill>
                  <a:srgbClr val="A5937C"/>
                </a:solidFill>
              </a:rPr>
              <a:t>часто через порт </a:t>
            </a:r>
            <a:r>
              <a:rPr lang="ru-RU" sz="1400" b="1" i="1" dirty="0">
                <a:solidFill>
                  <a:srgbClr val="A5937C"/>
                </a:solidFill>
              </a:rPr>
              <a:t>80</a:t>
            </a:r>
            <a:r>
              <a:rPr lang="ru-RU" sz="1400" i="1" dirty="0">
                <a:solidFill>
                  <a:srgbClr val="A5937C"/>
                </a:solidFill>
              </a:rPr>
              <a:t> (или </a:t>
            </a:r>
            <a:r>
              <a:rPr lang="ru-RU" sz="1400" b="1" i="1" dirty="0">
                <a:solidFill>
                  <a:srgbClr val="A5937C"/>
                </a:solidFill>
              </a:rPr>
              <a:t>443</a:t>
            </a:r>
            <a:r>
              <a:rPr lang="ru-RU" sz="1400" i="1" dirty="0">
                <a:solidFill>
                  <a:srgbClr val="A5937C"/>
                </a:solidFill>
              </a:rPr>
              <a:t> для </a:t>
            </a:r>
            <a:r>
              <a:rPr lang="en-US" sz="1400" i="1" dirty="0">
                <a:solidFill>
                  <a:srgbClr val="A5937C"/>
                </a:solidFill>
              </a:rPr>
              <a:t>HTTPS).</a:t>
            </a:r>
          </a:p>
          <a:p>
            <a:endParaRPr lang="en-US" sz="1600" dirty="0">
              <a:solidFill>
                <a:srgbClr val="A5937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F5B3C1-5DDA-8F46-23A5-3E9CF91E8981}"/>
              </a:ext>
            </a:extLst>
          </p:cNvPr>
          <p:cNvSpPr txBox="1"/>
          <p:nvPr/>
        </p:nvSpPr>
        <p:spPr>
          <a:xfrm>
            <a:off x="838199" y="2146208"/>
            <a:ext cx="1063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7262"/>
                </a:solidFill>
                <a:latin typeface="Montserrat" pitchFamily="2" charset="77"/>
              </a:rPr>
              <a:t>🔸</a:t>
            </a:r>
            <a:r>
              <a:rPr lang="en-US" b="1" dirty="0">
                <a:solidFill>
                  <a:srgbClr val="807262"/>
                </a:solidFill>
                <a:latin typeface="Montserrat" pitchFamily="2" charset="77"/>
              </a:rPr>
              <a:t> 1. </a:t>
            </a:r>
            <a:r>
              <a:rPr lang="ru-RU" b="1" dirty="0">
                <a:solidFill>
                  <a:srgbClr val="807262"/>
                </a:solidFill>
                <a:latin typeface="Montserrat" pitchFamily="2" charset="77"/>
              </a:rPr>
              <a:t>Методы </a:t>
            </a:r>
            <a:r>
              <a:rPr lang="en-US" b="1" dirty="0">
                <a:solidFill>
                  <a:srgbClr val="807262"/>
                </a:solidFill>
                <a:latin typeface="Montserrat" pitchFamily="2" charset="77"/>
              </a:rPr>
              <a:t>HTTP</a:t>
            </a:r>
            <a:endParaRPr lang="en-US" dirty="0">
              <a:solidFill>
                <a:srgbClr val="807262"/>
              </a:solidFill>
              <a:latin typeface="Montserrat" pitchFamily="2" charset="77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273674-98A2-1E2A-2D60-009A21730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545309"/>
              </p:ext>
            </p:extLst>
          </p:nvPr>
        </p:nvGraphicFramePr>
        <p:xfrm>
          <a:off x="1347650" y="2663131"/>
          <a:ext cx="4064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7355">
                  <a:extLst>
                    <a:ext uri="{9D8B030D-6E8A-4147-A177-3AD203B41FA5}">
                      <a16:colId xmlns:a16="http://schemas.microsoft.com/office/drawing/2014/main" val="932528413"/>
                    </a:ext>
                  </a:extLst>
                </a:gridCol>
                <a:gridCol w="2916645">
                  <a:extLst>
                    <a:ext uri="{9D8B030D-6E8A-4147-A177-3AD203B41FA5}">
                      <a16:colId xmlns:a16="http://schemas.microsoft.com/office/drawing/2014/main" val="281805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Montserrat" pitchFamily="2" charset="77"/>
                        </a:rPr>
                        <a:t>Метод</a:t>
                      </a:r>
                      <a:endParaRPr lang="en-US" sz="1400" dirty="0"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3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Montserrat" pitchFamily="2" charset="77"/>
                        </a:rPr>
                        <a:t>Назначение</a:t>
                      </a:r>
                      <a:endParaRPr lang="en-US" sz="1400" dirty="0"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206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GET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Получение данных</a:t>
                      </a:r>
                      <a:endParaRPr lang="en-US" sz="1400" dirty="0">
                        <a:solidFill>
                          <a:srgbClr val="A5937C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324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POST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Создание ресурса</a:t>
                      </a:r>
                      <a:endParaRPr lang="en-US" sz="1400" dirty="0">
                        <a:solidFill>
                          <a:srgbClr val="A5937C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894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PUT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Полное обновление</a:t>
                      </a:r>
                      <a:endParaRPr lang="en-US" sz="1400" dirty="0">
                        <a:solidFill>
                          <a:srgbClr val="A5937C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0155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PATCH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Частичное обновление</a:t>
                      </a:r>
                      <a:endParaRPr lang="en-US" sz="1400" dirty="0">
                        <a:solidFill>
                          <a:srgbClr val="A5937C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67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DELETE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Удаление ресурса</a:t>
                      </a:r>
                      <a:endParaRPr lang="en-US" sz="1400" dirty="0">
                        <a:solidFill>
                          <a:srgbClr val="A5937C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7937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OPTIONS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Что поддерживает сервер</a:t>
                      </a:r>
                      <a:endParaRPr lang="en-US" sz="1400" dirty="0">
                        <a:solidFill>
                          <a:srgbClr val="A5937C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769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HEAD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Как </a:t>
                      </a:r>
                      <a:r>
                        <a:rPr lang="en-US" sz="1400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GET, </a:t>
                      </a:r>
                      <a:r>
                        <a:rPr lang="ru-RU" sz="1400" dirty="0">
                          <a:solidFill>
                            <a:srgbClr val="A5937C"/>
                          </a:solidFill>
                          <a:latin typeface="Montserrat" pitchFamily="2" charset="77"/>
                        </a:rPr>
                        <a:t>но без тела</a:t>
                      </a:r>
                      <a:endParaRPr lang="en-US" sz="1400" dirty="0">
                        <a:solidFill>
                          <a:srgbClr val="A5937C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59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107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07948-D670-F26A-C6C4-8E80C3181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5CA571-7496-15EE-1A52-109BA5AF60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10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4012CF-6387-6538-3CCE-8727EF8C52A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38199" y="954474"/>
            <a:ext cx="5257800" cy="4949052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sz="1800" b="1" dirty="0">
                <a:solidFill>
                  <a:srgbClr val="807262"/>
                </a:solidFill>
              </a:rPr>
              <a:t>GET</a:t>
            </a:r>
            <a:r>
              <a:rPr lang="en-US" sz="1600" b="1" dirty="0">
                <a:solidFill>
                  <a:srgbClr val="A5937C"/>
                </a:solidFill>
              </a:rPr>
              <a:t> — </a:t>
            </a:r>
            <a:r>
              <a:rPr lang="ru-RU" sz="1600" b="1" dirty="0">
                <a:solidFill>
                  <a:srgbClr val="A5937C"/>
                </a:solidFill>
              </a:rPr>
              <a:t>Получение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Пример запроса: </a:t>
            </a:r>
            <a:r>
              <a:rPr lang="en-US" sz="1600" dirty="0">
                <a:solidFill>
                  <a:srgbClr val="A5937C"/>
                </a:solidFill>
              </a:rPr>
              <a:t>GET /users/5 HTTP/1.1</a:t>
            </a:r>
            <a:endParaRPr lang="ru-RU" sz="1600" dirty="0">
              <a:solidFill>
                <a:srgbClr val="A5937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</a:rPr>
              <a:t>Тело запроса</a:t>
            </a:r>
            <a:r>
              <a:rPr lang="ru-RU" sz="1600" dirty="0">
                <a:solidFill>
                  <a:srgbClr val="A5937C"/>
                </a:solidFill>
              </a:rPr>
              <a:t>: </a:t>
            </a:r>
            <a:r>
              <a:rPr lang="en-US" sz="1600" dirty="0">
                <a:solidFill>
                  <a:srgbClr val="A5937C"/>
                </a:solidFill>
              </a:rPr>
              <a:t>❌ </a:t>
            </a:r>
            <a:r>
              <a:rPr lang="ru-RU" sz="1600" dirty="0">
                <a:solidFill>
                  <a:srgbClr val="A5937C"/>
                </a:solidFill>
              </a:rPr>
              <a:t>отсутствует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Ответ: </a:t>
            </a:r>
            <a:r>
              <a:rPr lang="en-US" sz="1600" dirty="0">
                <a:solidFill>
                  <a:srgbClr val="A5937C"/>
                </a:solidFill>
              </a:rPr>
              <a:t>200 OK + </a:t>
            </a:r>
            <a:r>
              <a:rPr lang="ru-RU" sz="1600" dirty="0">
                <a:solidFill>
                  <a:srgbClr val="A5937C"/>
                </a:solidFill>
              </a:rPr>
              <a:t>тело с данными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{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"id": 5,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"name": "Ekaterina"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}</a:t>
            </a:r>
          </a:p>
          <a:p>
            <a:pPr indent="-228600"/>
            <a:endParaRPr lang="en-US" sz="1600" dirty="0">
              <a:solidFill>
                <a:srgbClr val="A5937C"/>
              </a:solidFill>
            </a:endParaRPr>
          </a:p>
          <a:p>
            <a:pPr indent="-228600"/>
            <a:r>
              <a:rPr lang="en-US" sz="1600" dirty="0">
                <a:solidFill>
                  <a:srgbClr val="A5937C"/>
                </a:solidFill>
              </a:rPr>
              <a:t>📍</a:t>
            </a:r>
            <a:r>
              <a:rPr lang="ru-RU" sz="1600" dirty="0">
                <a:solidFill>
                  <a:srgbClr val="A5937C"/>
                </a:solidFill>
              </a:rPr>
              <a:t> </a:t>
            </a:r>
            <a:r>
              <a:rPr lang="ru-RU" sz="1600" b="1" dirty="0">
                <a:solidFill>
                  <a:srgbClr val="A5937C"/>
                </a:solidFill>
              </a:rPr>
              <a:t>Особенности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Идемпотентный (результат одинаков при повторе)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Часто кэшируется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Безопасный (не меняет данные)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A5937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866D9-9DA7-31D7-AC58-3A1A033E0B11}"/>
              </a:ext>
            </a:extLst>
          </p:cNvPr>
          <p:cNvSpPr txBox="1"/>
          <p:nvPr/>
        </p:nvSpPr>
        <p:spPr>
          <a:xfrm>
            <a:off x="776399" y="496373"/>
            <a:ext cx="1063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7262"/>
                </a:solidFill>
                <a:latin typeface="Montserrat" pitchFamily="2" charset="77"/>
              </a:rPr>
              <a:t>🔸</a:t>
            </a:r>
            <a:r>
              <a:rPr lang="en-US" b="1" dirty="0">
                <a:solidFill>
                  <a:srgbClr val="807262"/>
                </a:solidFill>
                <a:latin typeface="Montserrat" pitchFamily="2" charset="77"/>
              </a:rPr>
              <a:t> 1. </a:t>
            </a:r>
            <a:r>
              <a:rPr lang="ru-RU" b="1" dirty="0">
                <a:solidFill>
                  <a:srgbClr val="807262"/>
                </a:solidFill>
                <a:latin typeface="Montserrat" pitchFamily="2" charset="77"/>
              </a:rPr>
              <a:t>Методы </a:t>
            </a:r>
            <a:r>
              <a:rPr lang="en-US" b="1" dirty="0">
                <a:solidFill>
                  <a:srgbClr val="807262"/>
                </a:solidFill>
                <a:latin typeface="Montserrat" pitchFamily="2" charset="77"/>
              </a:rPr>
              <a:t>HTTP</a:t>
            </a:r>
            <a:endParaRPr lang="en-US" dirty="0">
              <a:solidFill>
                <a:srgbClr val="807262"/>
              </a:solidFill>
              <a:latin typeface="Montserrat" pitchFamily="2" charset="77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4489B2F-D17A-FC45-E309-8CA0B91FBF8B}"/>
              </a:ext>
            </a:extLst>
          </p:cNvPr>
          <p:cNvSpPr txBox="1">
            <a:spLocks/>
          </p:cNvSpPr>
          <p:nvPr/>
        </p:nvSpPr>
        <p:spPr>
          <a:xfrm>
            <a:off x="6219602" y="963590"/>
            <a:ext cx="5257800" cy="547769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A5937C"/>
                </a:solidFill>
              </a:rPr>
              <a:t>2. </a:t>
            </a:r>
            <a:r>
              <a:rPr lang="en-US" sz="1800" b="1" dirty="0">
                <a:solidFill>
                  <a:srgbClr val="807262"/>
                </a:solidFill>
              </a:rPr>
              <a:t>POST</a:t>
            </a:r>
            <a:r>
              <a:rPr lang="en-US" sz="1600" b="1" dirty="0">
                <a:solidFill>
                  <a:srgbClr val="A5937C"/>
                </a:solidFill>
              </a:rPr>
              <a:t> — </a:t>
            </a:r>
            <a:r>
              <a:rPr lang="ru-RU" sz="1600" b="1" dirty="0">
                <a:solidFill>
                  <a:srgbClr val="A5937C"/>
                </a:solidFill>
              </a:rPr>
              <a:t>Создание нового ресурса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Пример запроса: </a:t>
            </a:r>
            <a:r>
              <a:rPr lang="en-US" sz="1600" dirty="0">
                <a:solidFill>
                  <a:srgbClr val="A5937C"/>
                </a:solidFill>
              </a:rPr>
              <a:t>POST /users HTTP/1.1</a:t>
            </a:r>
            <a:endParaRPr lang="ru-RU" sz="1600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</a:rPr>
              <a:t>Тело запроса</a:t>
            </a:r>
            <a:r>
              <a:rPr lang="ru-RU" sz="1600" dirty="0">
                <a:solidFill>
                  <a:srgbClr val="A5937C"/>
                </a:solidFill>
              </a:rPr>
              <a:t>: </a:t>
            </a:r>
            <a:r>
              <a:rPr lang="en-US" sz="1600" dirty="0"/>
              <a:t>✅ </a:t>
            </a:r>
            <a:r>
              <a:rPr lang="ru-RU" sz="1600" dirty="0">
                <a:solidFill>
                  <a:srgbClr val="A5937C"/>
                </a:solidFill>
              </a:rPr>
              <a:t>есть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{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"name": “Kate”,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"email": ”</a:t>
            </a:r>
            <a:r>
              <a:rPr lang="en-US" sz="1200" dirty="0" err="1">
                <a:solidFill>
                  <a:srgbClr val="A5937C"/>
                </a:solidFill>
              </a:rPr>
              <a:t>kate@example.com</a:t>
            </a:r>
            <a:r>
              <a:rPr lang="en-US" sz="1200" dirty="0">
                <a:solidFill>
                  <a:srgbClr val="A5937C"/>
                </a:solidFill>
              </a:rPr>
              <a:t>"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}</a:t>
            </a:r>
            <a:endParaRPr lang="ru-RU" sz="2000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Ответ: </a:t>
            </a:r>
            <a:r>
              <a:rPr lang="en-US" sz="1600" dirty="0">
                <a:solidFill>
                  <a:srgbClr val="A5937C"/>
                </a:solidFill>
              </a:rPr>
              <a:t>201 Created + </a:t>
            </a:r>
            <a:r>
              <a:rPr lang="ru-RU" sz="1600" dirty="0">
                <a:solidFill>
                  <a:srgbClr val="A5937C"/>
                </a:solidFill>
              </a:rPr>
              <a:t>созданный объект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{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"id": 21,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"name": " Kate ",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"email": ”</a:t>
            </a:r>
            <a:r>
              <a:rPr lang="en-US" sz="1200" dirty="0" err="1">
                <a:solidFill>
                  <a:srgbClr val="A5937C"/>
                </a:solidFill>
              </a:rPr>
              <a:t>kate@example.com</a:t>
            </a:r>
            <a:r>
              <a:rPr lang="en-US" sz="1200" dirty="0">
                <a:solidFill>
                  <a:srgbClr val="A5937C"/>
                </a:solidFill>
              </a:rPr>
              <a:t>"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}</a:t>
            </a:r>
          </a:p>
          <a:p>
            <a:pPr indent="-228600"/>
            <a:endParaRPr lang="en-US" sz="1600" dirty="0">
              <a:solidFill>
                <a:srgbClr val="A5937C"/>
              </a:solidFill>
            </a:endParaRPr>
          </a:p>
          <a:p>
            <a:pPr indent="-228600"/>
            <a:r>
              <a:rPr lang="en-US" sz="1600" dirty="0">
                <a:solidFill>
                  <a:srgbClr val="A5937C"/>
                </a:solidFill>
              </a:rPr>
              <a:t>📍 </a:t>
            </a:r>
            <a:r>
              <a:rPr lang="ru-RU" sz="1600" b="1" dirty="0">
                <a:solidFill>
                  <a:srgbClr val="A5937C"/>
                </a:solidFill>
              </a:rPr>
              <a:t>Особенности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rgbClr val="A5937C"/>
                </a:solidFill>
              </a:rPr>
              <a:t>Неидемпотентный</a:t>
            </a:r>
            <a:r>
              <a:rPr lang="ru-RU" sz="1600" dirty="0">
                <a:solidFill>
                  <a:srgbClr val="A5937C"/>
                </a:solidFill>
              </a:rPr>
              <a:t> (дважды = два ресурса)</a:t>
            </a:r>
            <a:endParaRPr lang="en-US" sz="1600" dirty="0">
              <a:solidFill>
                <a:srgbClr val="A5937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A593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507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10E03-6066-0CAA-D126-6E0951E9F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400999-0BC3-80AF-95FE-60A09995DA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11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774E94-2EC5-A153-3A91-7AEE76E5D6C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38199" y="989717"/>
            <a:ext cx="5257800" cy="5715882"/>
          </a:xfrm>
        </p:spPr>
        <p:txBody>
          <a:bodyPr/>
          <a:lstStyle/>
          <a:p>
            <a:r>
              <a:rPr lang="en-US" sz="1600" b="1" dirty="0">
                <a:solidFill>
                  <a:srgbClr val="A5937C"/>
                </a:solidFill>
              </a:rPr>
              <a:t>3. </a:t>
            </a:r>
            <a:r>
              <a:rPr lang="en-US" sz="1800" b="1" dirty="0">
                <a:solidFill>
                  <a:srgbClr val="807262"/>
                </a:solidFill>
              </a:rPr>
              <a:t>PUT</a:t>
            </a:r>
            <a:r>
              <a:rPr lang="en-US" sz="1600" b="1" dirty="0">
                <a:solidFill>
                  <a:srgbClr val="A5937C"/>
                </a:solidFill>
              </a:rPr>
              <a:t> — </a:t>
            </a:r>
            <a:r>
              <a:rPr lang="ru-RU" sz="1600" b="1" dirty="0">
                <a:solidFill>
                  <a:srgbClr val="A5937C"/>
                </a:solidFill>
              </a:rPr>
              <a:t>Полное обновление ресурса</a:t>
            </a:r>
            <a:endParaRPr lang="en-US" sz="1600" b="1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Пример запроса: </a:t>
            </a:r>
            <a:r>
              <a:rPr lang="en-US" sz="1600" dirty="0">
                <a:solidFill>
                  <a:srgbClr val="A5937C"/>
                </a:solidFill>
              </a:rPr>
              <a:t>PUT /users/21</a:t>
            </a:r>
            <a:endParaRPr lang="ru-RU" sz="1600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</a:rPr>
              <a:t>Тело запроса</a:t>
            </a:r>
            <a:r>
              <a:rPr lang="ru-RU" sz="1600" dirty="0">
                <a:solidFill>
                  <a:srgbClr val="A5937C"/>
                </a:solidFill>
              </a:rPr>
              <a:t>: : </a:t>
            </a:r>
            <a:r>
              <a:rPr lang="en-US" sz="1600" dirty="0"/>
              <a:t>✅ </a:t>
            </a:r>
            <a:r>
              <a:rPr lang="ru-RU" sz="1600" dirty="0">
                <a:solidFill>
                  <a:srgbClr val="A5937C"/>
                </a:solidFill>
              </a:rPr>
              <a:t>есть</a:t>
            </a:r>
            <a:endParaRPr lang="en-US" sz="1600" dirty="0">
              <a:solidFill>
                <a:srgbClr val="A5937C"/>
              </a:solidFill>
            </a:endParaRP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{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"name": ”Kate Updated",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"email": "</a:t>
            </a:r>
            <a:r>
              <a:rPr lang="en-US" sz="1200" dirty="0" err="1">
                <a:solidFill>
                  <a:srgbClr val="A5937C"/>
                </a:solidFill>
              </a:rPr>
              <a:t>new@example.com</a:t>
            </a:r>
            <a:r>
              <a:rPr lang="en-US" sz="1200" dirty="0">
                <a:solidFill>
                  <a:srgbClr val="A5937C"/>
                </a:solidFill>
              </a:rPr>
              <a:t>"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}</a:t>
            </a:r>
            <a:endParaRPr lang="ru-RU" sz="2000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Ответ: </a:t>
            </a:r>
            <a:r>
              <a:rPr lang="en-US" sz="1600" dirty="0">
                <a:solidFill>
                  <a:srgbClr val="A5937C"/>
                </a:solidFill>
              </a:rPr>
              <a:t>200 OK + </a:t>
            </a:r>
            <a:r>
              <a:rPr lang="ru-RU" sz="1600" b="1" dirty="0">
                <a:solidFill>
                  <a:srgbClr val="A5937C"/>
                </a:solidFill>
              </a:rPr>
              <a:t>тело с обновлённым объектом</a:t>
            </a:r>
            <a:r>
              <a:rPr lang="en-US" sz="1600" b="1" dirty="0">
                <a:solidFill>
                  <a:srgbClr val="A5937C"/>
                </a:solidFill>
              </a:rPr>
              <a:t>, </a:t>
            </a:r>
            <a:r>
              <a:rPr lang="ru-RU" sz="1600" dirty="0">
                <a:solidFill>
                  <a:srgbClr val="A5937C"/>
                </a:solidFill>
              </a:rPr>
              <a:t>204 </a:t>
            </a:r>
            <a:r>
              <a:rPr lang="en-US" sz="1600" dirty="0">
                <a:solidFill>
                  <a:srgbClr val="A5937C"/>
                </a:solidFill>
              </a:rPr>
              <a:t>No Content — </a:t>
            </a:r>
            <a:r>
              <a:rPr lang="ru-RU" sz="1600" b="1" dirty="0">
                <a:solidFill>
                  <a:srgbClr val="A5937C"/>
                </a:solidFill>
              </a:rPr>
              <a:t>без тела</a:t>
            </a:r>
            <a:endParaRPr lang="en-US" sz="1200" dirty="0">
              <a:solidFill>
                <a:srgbClr val="A5937C"/>
              </a:solidFill>
            </a:endParaRP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{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"id": 21,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"name": "Alex Updated",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"email": "</a:t>
            </a:r>
            <a:r>
              <a:rPr lang="en-US" sz="1200" dirty="0" err="1">
                <a:solidFill>
                  <a:srgbClr val="A5937C"/>
                </a:solidFill>
              </a:rPr>
              <a:t>alex@example.com</a:t>
            </a:r>
            <a:r>
              <a:rPr lang="en-US" sz="1200" dirty="0">
                <a:solidFill>
                  <a:srgbClr val="A5937C"/>
                </a:solidFill>
              </a:rPr>
              <a:t>"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}</a:t>
            </a:r>
          </a:p>
          <a:p>
            <a:pPr indent="-228600"/>
            <a:endParaRPr lang="en-US" sz="1600" dirty="0">
              <a:solidFill>
                <a:srgbClr val="A5937C"/>
              </a:solidFill>
            </a:endParaRPr>
          </a:p>
          <a:p>
            <a:pPr indent="-228600"/>
            <a:r>
              <a:rPr lang="en-US" sz="1600" dirty="0">
                <a:solidFill>
                  <a:srgbClr val="A5937C"/>
                </a:solidFill>
              </a:rPr>
              <a:t>📍</a:t>
            </a:r>
            <a:r>
              <a:rPr lang="ru-RU" sz="1600" dirty="0">
                <a:solidFill>
                  <a:srgbClr val="A5937C"/>
                </a:solidFill>
              </a:rPr>
              <a:t> </a:t>
            </a:r>
            <a:r>
              <a:rPr lang="ru-RU" sz="1600" b="1" dirty="0">
                <a:solidFill>
                  <a:srgbClr val="A5937C"/>
                </a:solidFill>
              </a:rPr>
              <a:t>Особенности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Идемпотентный </a:t>
            </a:r>
            <a:endParaRPr lang="en-US" sz="1600" dirty="0">
              <a:solidFill>
                <a:srgbClr val="A5937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Старые данные затираются полностью</a:t>
            </a:r>
            <a:endParaRPr lang="en-US" sz="1600" dirty="0">
              <a:solidFill>
                <a:srgbClr val="A5937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Если не указать поле — оно удаляется (в некоторых </a:t>
            </a:r>
            <a:r>
              <a:rPr lang="en-US" sz="1600" dirty="0">
                <a:solidFill>
                  <a:srgbClr val="A5937C"/>
                </a:solidFill>
              </a:rPr>
              <a:t>API)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64548-F50C-57AF-B87C-BAB0360750AB}"/>
              </a:ext>
            </a:extLst>
          </p:cNvPr>
          <p:cNvSpPr txBox="1"/>
          <p:nvPr/>
        </p:nvSpPr>
        <p:spPr>
          <a:xfrm>
            <a:off x="776399" y="496373"/>
            <a:ext cx="1063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7262"/>
                </a:solidFill>
                <a:latin typeface="Montserrat" pitchFamily="2" charset="77"/>
              </a:rPr>
              <a:t>🔸</a:t>
            </a:r>
            <a:r>
              <a:rPr lang="en-US" b="1" dirty="0">
                <a:solidFill>
                  <a:srgbClr val="807262"/>
                </a:solidFill>
                <a:latin typeface="Montserrat" pitchFamily="2" charset="77"/>
              </a:rPr>
              <a:t> 1. </a:t>
            </a:r>
            <a:r>
              <a:rPr lang="ru-RU" b="1" dirty="0">
                <a:solidFill>
                  <a:srgbClr val="807262"/>
                </a:solidFill>
                <a:latin typeface="Montserrat" pitchFamily="2" charset="77"/>
              </a:rPr>
              <a:t>Методы </a:t>
            </a:r>
            <a:r>
              <a:rPr lang="en-US" b="1" dirty="0">
                <a:solidFill>
                  <a:srgbClr val="807262"/>
                </a:solidFill>
                <a:latin typeface="Montserrat" pitchFamily="2" charset="77"/>
              </a:rPr>
              <a:t>HTTP</a:t>
            </a:r>
            <a:endParaRPr lang="en-US" dirty="0">
              <a:solidFill>
                <a:srgbClr val="807262"/>
              </a:solidFill>
              <a:latin typeface="Montserrat" pitchFamily="2" charset="77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3DF6D52-34F3-E984-B5B6-52437E21B611}"/>
              </a:ext>
            </a:extLst>
          </p:cNvPr>
          <p:cNvSpPr txBox="1">
            <a:spLocks/>
          </p:cNvSpPr>
          <p:nvPr/>
        </p:nvSpPr>
        <p:spPr>
          <a:xfrm>
            <a:off x="6219602" y="989717"/>
            <a:ext cx="5257800" cy="547769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A5937C"/>
                </a:solidFill>
              </a:rPr>
              <a:t>4. </a:t>
            </a:r>
            <a:r>
              <a:rPr lang="en-US" sz="1800" b="1" dirty="0">
                <a:solidFill>
                  <a:srgbClr val="807262"/>
                </a:solidFill>
              </a:rPr>
              <a:t>PATCH</a:t>
            </a:r>
            <a:r>
              <a:rPr lang="en-US" sz="1600" b="1" dirty="0">
                <a:solidFill>
                  <a:srgbClr val="A5937C"/>
                </a:solidFill>
              </a:rPr>
              <a:t> — </a:t>
            </a:r>
            <a:r>
              <a:rPr lang="ru-RU" sz="1600" b="1" dirty="0">
                <a:solidFill>
                  <a:srgbClr val="A5937C"/>
                </a:solidFill>
              </a:rPr>
              <a:t>Частичное обновление </a:t>
            </a:r>
            <a:endParaRPr lang="en-US" sz="1600" b="1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Пример запроса: </a:t>
            </a:r>
            <a:r>
              <a:rPr lang="en-US" sz="1600" dirty="0">
                <a:solidFill>
                  <a:srgbClr val="A5937C"/>
                </a:solidFill>
              </a:rPr>
              <a:t>PATCH /users/21 1</a:t>
            </a:r>
            <a:endParaRPr lang="ru-RU" sz="1600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</a:rPr>
              <a:t>Тело запроса</a:t>
            </a:r>
            <a:r>
              <a:rPr lang="ru-RU" sz="1600" dirty="0">
                <a:solidFill>
                  <a:srgbClr val="A5937C"/>
                </a:solidFill>
              </a:rPr>
              <a:t>: </a:t>
            </a:r>
            <a:r>
              <a:rPr lang="en-US" sz="1600" dirty="0"/>
              <a:t>✅ </a:t>
            </a:r>
            <a:r>
              <a:rPr lang="ru-RU" sz="1600" dirty="0">
                <a:solidFill>
                  <a:srgbClr val="A5937C"/>
                </a:solidFill>
              </a:rPr>
              <a:t>есть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{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    "email": ”</a:t>
            </a:r>
            <a:r>
              <a:rPr lang="en-US" sz="1200" dirty="0" err="1">
                <a:solidFill>
                  <a:srgbClr val="A5937C"/>
                </a:solidFill>
              </a:rPr>
              <a:t>updated@example.com</a:t>
            </a:r>
            <a:r>
              <a:rPr lang="en-US" sz="1200" dirty="0">
                <a:solidFill>
                  <a:srgbClr val="A5937C"/>
                </a:solidFill>
              </a:rPr>
              <a:t>"</a:t>
            </a:r>
          </a:p>
          <a:p>
            <a:pPr lvl="1" indent="0">
              <a:buNone/>
            </a:pPr>
            <a:r>
              <a:rPr lang="en-US" sz="1200" dirty="0">
                <a:solidFill>
                  <a:srgbClr val="A5937C"/>
                </a:solidFill>
              </a:rPr>
              <a:t>}</a:t>
            </a:r>
            <a:endParaRPr lang="ru-RU" sz="2000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Ответ: </a:t>
            </a:r>
            <a:r>
              <a:rPr lang="en-US" sz="1600" dirty="0">
                <a:solidFill>
                  <a:srgbClr val="A5937C"/>
                </a:solidFill>
              </a:rPr>
              <a:t>200 OK + </a:t>
            </a:r>
            <a:r>
              <a:rPr lang="ru-RU" sz="1600" b="1" dirty="0">
                <a:solidFill>
                  <a:srgbClr val="A5937C"/>
                </a:solidFill>
              </a:rPr>
              <a:t>тело с обновлённым объектом</a:t>
            </a:r>
            <a:r>
              <a:rPr lang="en-US" sz="1600" b="1" dirty="0">
                <a:solidFill>
                  <a:srgbClr val="A5937C"/>
                </a:solidFill>
              </a:rPr>
              <a:t>, </a:t>
            </a:r>
            <a:r>
              <a:rPr lang="ru-RU" sz="1600" dirty="0">
                <a:solidFill>
                  <a:srgbClr val="A5937C"/>
                </a:solidFill>
              </a:rPr>
              <a:t>204 </a:t>
            </a:r>
            <a:r>
              <a:rPr lang="en-US" sz="1600" dirty="0">
                <a:solidFill>
                  <a:srgbClr val="A5937C"/>
                </a:solidFill>
              </a:rPr>
              <a:t>No Content — </a:t>
            </a:r>
            <a:r>
              <a:rPr lang="ru-RU" sz="1600" b="1" dirty="0">
                <a:solidFill>
                  <a:srgbClr val="A5937C"/>
                </a:solidFill>
              </a:rPr>
              <a:t>без тела</a:t>
            </a:r>
            <a:endParaRPr lang="ru-RU" sz="1600" dirty="0">
              <a:solidFill>
                <a:srgbClr val="A5937C"/>
              </a:solidFill>
            </a:endParaRPr>
          </a:p>
          <a:p>
            <a:pPr indent="-228600"/>
            <a:endParaRPr lang="en-US" sz="1600" dirty="0">
              <a:solidFill>
                <a:srgbClr val="A5937C"/>
              </a:solidFill>
            </a:endParaRPr>
          </a:p>
          <a:p>
            <a:pPr indent="-228600"/>
            <a:r>
              <a:rPr lang="en-US" sz="1600" dirty="0">
                <a:solidFill>
                  <a:srgbClr val="A5937C"/>
                </a:solidFill>
              </a:rPr>
              <a:t>📍 </a:t>
            </a:r>
            <a:r>
              <a:rPr lang="ru-RU" sz="1600" b="1" dirty="0">
                <a:solidFill>
                  <a:srgbClr val="A5937C"/>
                </a:solidFill>
              </a:rPr>
              <a:t>Особенности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Только указанные поля обновляются</a:t>
            </a:r>
            <a:endParaRPr lang="en-US" sz="1600" dirty="0">
              <a:solidFill>
                <a:srgbClr val="A5937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Может быть не реализован в некоторых </a:t>
            </a:r>
            <a:r>
              <a:rPr lang="en-US" sz="1600" dirty="0">
                <a:solidFill>
                  <a:srgbClr val="A5937C"/>
                </a:solidFill>
              </a:rPr>
              <a:t>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</a:rPr>
              <a:t>Идемпотентный</a:t>
            </a:r>
            <a:r>
              <a:rPr lang="ru-RU" sz="1600" dirty="0">
                <a:solidFill>
                  <a:srgbClr val="A5937C"/>
                </a:solidFill>
              </a:rPr>
              <a:t> (чаще всего)</a:t>
            </a:r>
            <a:endParaRPr lang="en-US" sz="1600" dirty="0">
              <a:solidFill>
                <a:srgbClr val="A593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989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655F7-F8A1-2351-EA06-09F1934EE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EDE27F-EB2E-D699-9506-49EF688AD2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12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3B5CC2-6470-BB18-7A37-60D3835BA59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38199" y="989717"/>
            <a:ext cx="5257800" cy="3762392"/>
          </a:xfrm>
        </p:spPr>
        <p:txBody>
          <a:bodyPr/>
          <a:lstStyle/>
          <a:p>
            <a:r>
              <a:rPr lang="en-US" sz="1600" b="1" dirty="0">
                <a:solidFill>
                  <a:srgbClr val="A5937C"/>
                </a:solidFill>
              </a:rPr>
              <a:t>5. </a:t>
            </a:r>
            <a:r>
              <a:rPr lang="en-US" sz="1800" b="1" dirty="0">
                <a:solidFill>
                  <a:srgbClr val="807262"/>
                </a:solidFill>
              </a:rPr>
              <a:t>DELETE</a:t>
            </a:r>
            <a:r>
              <a:rPr lang="en-US" sz="1600" b="1" dirty="0">
                <a:solidFill>
                  <a:srgbClr val="A5937C"/>
                </a:solidFill>
              </a:rPr>
              <a:t> — </a:t>
            </a:r>
            <a:r>
              <a:rPr lang="ru-RU" sz="1600" b="1" dirty="0">
                <a:solidFill>
                  <a:srgbClr val="A5937C"/>
                </a:solidFill>
              </a:rPr>
              <a:t>Удаление ресурса </a:t>
            </a:r>
            <a:endParaRPr lang="en-US" sz="1600" b="1" dirty="0">
              <a:solidFill>
                <a:srgbClr val="A5937C"/>
              </a:solidFill>
            </a:endParaRPr>
          </a:p>
          <a:p>
            <a:r>
              <a:rPr lang="ru-RU" sz="1600" dirty="0">
                <a:solidFill>
                  <a:srgbClr val="A5937C"/>
                </a:solidFill>
              </a:rPr>
              <a:t>Пример запроса: </a:t>
            </a:r>
            <a:r>
              <a:rPr lang="en-US" sz="1600" dirty="0">
                <a:solidFill>
                  <a:srgbClr val="A5937C"/>
                </a:solidFill>
              </a:rPr>
              <a:t>DELETE /users/21</a:t>
            </a:r>
            <a:endParaRPr lang="ru-RU" sz="1600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</a:rPr>
              <a:t>Тело запроса</a:t>
            </a:r>
            <a:r>
              <a:rPr lang="ru-RU" sz="1600" dirty="0">
                <a:solidFill>
                  <a:srgbClr val="A5937C"/>
                </a:solidFill>
              </a:rPr>
              <a:t>: : </a:t>
            </a:r>
            <a:r>
              <a:rPr lang="en-US" sz="1600" dirty="0">
                <a:solidFill>
                  <a:srgbClr val="A5937C"/>
                </a:solidFill>
              </a:rPr>
              <a:t>❌ </a:t>
            </a:r>
            <a:r>
              <a:rPr lang="ru-RU" sz="1600" dirty="0">
                <a:solidFill>
                  <a:srgbClr val="A5937C"/>
                </a:solidFill>
              </a:rPr>
              <a:t>отсутствует</a:t>
            </a:r>
            <a:endParaRPr lang="en-US" sz="1600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Ответ: </a:t>
            </a:r>
            <a:r>
              <a:rPr lang="en-US" sz="1600" dirty="0">
                <a:solidFill>
                  <a:srgbClr val="A5937C"/>
                </a:solidFill>
              </a:rPr>
              <a:t>204 No Content </a:t>
            </a:r>
            <a:r>
              <a:rPr lang="ru-RU" sz="1600" dirty="0">
                <a:solidFill>
                  <a:srgbClr val="A5937C"/>
                </a:solidFill>
              </a:rPr>
              <a:t>или 200 </a:t>
            </a:r>
            <a:r>
              <a:rPr lang="en-US" sz="1600" dirty="0">
                <a:solidFill>
                  <a:srgbClr val="A5937C"/>
                </a:solidFill>
              </a:rPr>
              <a:t>OK</a:t>
            </a:r>
            <a:endParaRPr lang="en-US" sz="1200" dirty="0">
              <a:solidFill>
                <a:srgbClr val="A5937C"/>
              </a:solidFill>
            </a:endParaRPr>
          </a:p>
          <a:p>
            <a:pPr indent="-228600"/>
            <a:endParaRPr lang="en-US" sz="1600" dirty="0">
              <a:solidFill>
                <a:srgbClr val="A5937C"/>
              </a:solidFill>
            </a:endParaRPr>
          </a:p>
          <a:p>
            <a:pPr indent="-228600"/>
            <a:r>
              <a:rPr lang="en-US" sz="1600" dirty="0">
                <a:solidFill>
                  <a:srgbClr val="A5937C"/>
                </a:solidFill>
              </a:rPr>
              <a:t>📍</a:t>
            </a:r>
            <a:r>
              <a:rPr lang="ru-RU" sz="1600" dirty="0">
                <a:solidFill>
                  <a:srgbClr val="A5937C"/>
                </a:solidFill>
              </a:rPr>
              <a:t> </a:t>
            </a:r>
            <a:r>
              <a:rPr lang="ru-RU" sz="1600" b="1" dirty="0">
                <a:solidFill>
                  <a:srgbClr val="A5937C"/>
                </a:solidFill>
              </a:rPr>
              <a:t>Особенности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Может быть </a:t>
            </a:r>
            <a:r>
              <a:rPr lang="ru-RU" sz="1600" b="1" dirty="0">
                <a:solidFill>
                  <a:srgbClr val="A5937C"/>
                </a:solidFill>
              </a:rPr>
              <a:t>идемпотентным</a:t>
            </a:r>
            <a:r>
              <a:rPr lang="ru-RU" sz="1600" dirty="0">
                <a:solidFill>
                  <a:srgbClr val="A5937C"/>
                </a:solidFill>
              </a:rPr>
              <a:t>, если повторные удаления игнорируются </a:t>
            </a:r>
            <a:endParaRPr lang="en-US" sz="1600" dirty="0">
              <a:solidFill>
                <a:srgbClr val="A5937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Иногда требует токен или подтверждение </a:t>
            </a:r>
            <a:endParaRPr lang="en-US" sz="1600" dirty="0">
              <a:solidFill>
                <a:srgbClr val="A5937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94DF95-FB93-787E-0CB9-6172DA1E551E}"/>
              </a:ext>
            </a:extLst>
          </p:cNvPr>
          <p:cNvSpPr txBox="1"/>
          <p:nvPr/>
        </p:nvSpPr>
        <p:spPr>
          <a:xfrm>
            <a:off x="776399" y="496373"/>
            <a:ext cx="1063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7262"/>
                </a:solidFill>
                <a:latin typeface="Montserrat" pitchFamily="2" charset="77"/>
              </a:rPr>
              <a:t>🔸</a:t>
            </a:r>
            <a:r>
              <a:rPr lang="en-US" b="1" dirty="0">
                <a:solidFill>
                  <a:srgbClr val="807262"/>
                </a:solidFill>
                <a:latin typeface="Montserrat" pitchFamily="2" charset="77"/>
              </a:rPr>
              <a:t> 1. </a:t>
            </a:r>
            <a:r>
              <a:rPr lang="ru-RU" b="1" dirty="0">
                <a:solidFill>
                  <a:srgbClr val="807262"/>
                </a:solidFill>
                <a:latin typeface="Montserrat" pitchFamily="2" charset="77"/>
              </a:rPr>
              <a:t>Методы </a:t>
            </a:r>
            <a:r>
              <a:rPr lang="en-US" b="1" dirty="0">
                <a:solidFill>
                  <a:srgbClr val="807262"/>
                </a:solidFill>
                <a:latin typeface="Montserrat" pitchFamily="2" charset="77"/>
              </a:rPr>
              <a:t>HTTP</a:t>
            </a:r>
            <a:endParaRPr lang="en-US" dirty="0">
              <a:solidFill>
                <a:srgbClr val="807262"/>
              </a:solidFill>
              <a:latin typeface="Montserrat" pitchFamily="2" charset="77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D838C75C-E080-9791-0D39-0E19585F5532}"/>
              </a:ext>
            </a:extLst>
          </p:cNvPr>
          <p:cNvSpPr txBox="1">
            <a:spLocks/>
          </p:cNvSpPr>
          <p:nvPr/>
        </p:nvSpPr>
        <p:spPr>
          <a:xfrm>
            <a:off x="6219602" y="989717"/>
            <a:ext cx="5257800" cy="376239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A5937C"/>
                </a:solidFill>
              </a:rPr>
              <a:t>6. </a:t>
            </a:r>
            <a:r>
              <a:rPr lang="en-US" sz="1800" b="1" dirty="0">
                <a:solidFill>
                  <a:srgbClr val="807262"/>
                </a:solidFill>
              </a:rPr>
              <a:t>OPTIONS</a:t>
            </a:r>
            <a:r>
              <a:rPr lang="en-US" sz="1600" b="1" dirty="0">
                <a:solidFill>
                  <a:srgbClr val="A5937C"/>
                </a:solidFill>
              </a:rPr>
              <a:t> — </a:t>
            </a:r>
            <a:r>
              <a:rPr lang="ru-RU" sz="1600" b="1" dirty="0">
                <a:solidFill>
                  <a:srgbClr val="A5937C"/>
                </a:solidFill>
              </a:rPr>
              <a:t>Получить информацию о возможностях </a:t>
            </a:r>
            <a:endParaRPr lang="en-US" sz="1600" b="1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Пример запроса: </a:t>
            </a:r>
            <a:r>
              <a:rPr lang="en-US" sz="1600" dirty="0">
                <a:solidFill>
                  <a:srgbClr val="A5937C"/>
                </a:solidFill>
              </a:rPr>
              <a:t>OPTIONS /users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</a:rPr>
              <a:t>Тело запроса</a:t>
            </a:r>
            <a:r>
              <a:rPr lang="ru-RU" sz="1600" dirty="0">
                <a:solidFill>
                  <a:srgbClr val="A5937C"/>
                </a:solidFill>
              </a:rPr>
              <a:t>: </a:t>
            </a:r>
            <a:r>
              <a:rPr lang="en-US" sz="1600" dirty="0">
                <a:solidFill>
                  <a:srgbClr val="A5937C"/>
                </a:solidFill>
              </a:rPr>
              <a:t>❌ </a:t>
            </a:r>
            <a:r>
              <a:rPr lang="ru-RU" sz="1600" dirty="0">
                <a:solidFill>
                  <a:srgbClr val="A5937C"/>
                </a:solidFill>
              </a:rPr>
              <a:t>отсутствует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Ответ: </a:t>
            </a:r>
            <a:r>
              <a:rPr lang="en-US" sz="1600" dirty="0">
                <a:solidFill>
                  <a:srgbClr val="A5937C"/>
                </a:solidFill>
              </a:rPr>
              <a:t>204 No Content, </a:t>
            </a:r>
            <a:r>
              <a:rPr lang="ru-RU" sz="1600" dirty="0">
                <a:solidFill>
                  <a:srgbClr val="A5937C"/>
                </a:solidFill>
              </a:rPr>
              <a:t>заголовок </a:t>
            </a:r>
            <a:r>
              <a:rPr lang="en-US" sz="1600" dirty="0">
                <a:solidFill>
                  <a:srgbClr val="A5937C"/>
                </a:solidFill>
              </a:rPr>
              <a:t>Allow: GET, POST, OPTIONS</a:t>
            </a:r>
            <a:endParaRPr lang="ru-RU" sz="1600" dirty="0">
              <a:solidFill>
                <a:srgbClr val="A5937C"/>
              </a:solidFill>
            </a:endParaRPr>
          </a:p>
          <a:p>
            <a:pPr indent="-228600"/>
            <a:endParaRPr lang="en-US" sz="1600" dirty="0">
              <a:solidFill>
                <a:srgbClr val="A5937C"/>
              </a:solidFill>
            </a:endParaRPr>
          </a:p>
          <a:p>
            <a:pPr indent="-228600"/>
            <a:r>
              <a:rPr lang="en-US" sz="1600" dirty="0">
                <a:solidFill>
                  <a:srgbClr val="A5937C"/>
                </a:solidFill>
              </a:rPr>
              <a:t>📍 </a:t>
            </a:r>
            <a:r>
              <a:rPr lang="ru-RU" sz="1600" b="1" dirty="0">
                <a:solidFill>
                  <a:srgbClr val="A5937C"/>
                </a:solidFill>
              </a:rPr>
              <a:t>Особенности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Используется при </a:t>
            </a:r>
            <a:r>
              <a:rPr lang="en-US" sz="1600" dirty="0">
                <a:solidFill>
                  <a:srgbClr val="A5937C"/>
                </a:solidFill>
              </a:rPr>
              <a:t>CORS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Не возвращает тело </a:t>
            </a:r>
            <a:endParaRPr lang="en-US" sz="1600" dirty="0">
              <a:solidFill>
                <a:srgbClr val="A5937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Проверочный метод перед запросами</a:t>
            </a:r>
            <a:endParaRPr lang="en-US" sz="1600" dirty="0">
              <a:solidFill>
                <a:srgbClr val="A5937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A5937C"/>
              </a:solidFill>
            </a:endParaRPr>
          </a:p>
          <a:p>
            <a:endParaRPr lang="en-US" sz="1600" dirty="0">
              <a:solidFill>
                <a:srgbClr val="A5937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A0083-796E-71BF-F3C3-B283BB0B00D7}"/>
              </a:ext>
            </a:extLst>
          </p:cNvPr>
          <p:cNvSpPr txBox="1"/>
          <p:nvPr/>
        </p:nvSpPr>
        <p:spPr>
          <a:xfrm>
            <a:off x="746269" y="5089359"/>
            <a:ext cx="106392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A5937C"/>
                </a:solidFill>
              </a:rPr>
              <a:t>CORS</a:t>
            </a:r>
            <a:r>
              <a:rPr lang="en-US" sz="1400" dirty="0">
                <a:solidFill>
                  <a:srgbClr val="A5937C"/>
                </a:solidFill>
              </a:rPr>
              <a:t> — </a:t>
            </a:r>
            <a:r>
              <a:rPr lang="ru-RU" sz="1400" dirty="0">
                <a:solidFill>
                  <a:srgbClr val="A5937C"/>
                </a:solidFill>
              </a:rPr>
              <a:t>это </a:t>
            </a:r>
            <a:r>
              <a:rPr lang="ru-RU" sz="1400" b="1" dirty="0">
                <a:solidFill>
                  <a:srgbClr val="A5937C"/>
                </a:solidFill>
              </a:rPr>
              <a:t>механизм безопасности в браузерах</a:t>
            </a:r>
            <a:r>
              <a:rPr lang="ru-RU" sz="1400" dirty="0">
                <a:solidFill>
                  <a:srgbClr val="A5937C"/>
                </a:solidFill>
              </a:rPr>
              <a:t>, который </a:t>
            </a:r>
            <a:r>
              <a:rPr lang="ru-RU" sz="1400" b="1" dirty="0">
                <a:solidFill>
                  <a:srgbClr val="A5937C"/>
                </a:solidFill>
              </a:rPr>
              <a:t>определяет, может ли веб-приложение из одного домена обращаться к ресурсам на другом домене</a:t>
            </a:r>
            <a:r>
              <a:rPr lang="ru-RU" sz="1400" dirty="0">
                <a:solidFill>
                  <a:srgbClr val="A5937C"/>
                </a:solidFill>
              </a:rPr>
              <a:t>.</a:t>
            </a:r>
            <a:endParaRPr lang="en-US" sz="1400" dirty="0">
              <a:solidFill>
                <a:srgbClr val="A5937C"/>
              </a:solidFill>
            </a:endParaRPr>
          </a:p>
          <a:p>
            <a:r>
              <a:rPr lang="ru-RU" sz="1400" dirty="0">
                <a:solidFill>
                  <a:srgbClr val="A5937C"/>
                </a:solidFill>
              </a:rPr>
              <a:t>Браузеры </a:t>
            </a:r>
            <a:r>
              <a:rPr lang="ru-RU" sz="1400" b="1" dirty="0">
                <a:solidFill>
                  <a:srgbClr val="A5937C"/>
                </a:solidFill>
              </a:rPr>
              <a:t>по умолчанию запрещают </a:t>
            </a:r>
            <a:r>
              <a:rPr lang="en-US" sz="1400" b="1" dirty="0">
                <a:solidFill>
                  <a:srgbClr val="A5937C"/>
                </a:solidFill>
              </a:rPr>
              <a:t>JavaScript-</a:t>
            </a:r>
            <a:r>
              <a:rPr lang="ru-RU" sz="1400" b="1" dirty="0">
                <a:solidFill>
                  <a:srgbClr val="A5937C"/>
                </a:solidFill>
              </a:rPr>
              <a:t>кодам обращаться к другим доменам</a:t>
            </a:r>
            <a:r>
              <a:rPr lang="ru-RU" sz="1400" dirty="0">
                <a:solidFill>
                  <a:srgbClr val="A5937C"/>
                </a:solidFill>
              </a:rPr>
              <a:t>, чтобы защитить пользователя от атак типа </a:t>
            </a:r>
            <a:r>
              <a:rPr lang="en-US" sz="1400" b="1" dirty="0">
                <a:solidFill>
                  <a:srgbClr val="A5937C"/>
                </a:solidFill>
              </a:rPr>
              <a:t>CSRF</a:t>
            </a:r>
            <a:r>
              <a:rPr lang="en-US" sz="1400" dirty="0">
                <a:solidFill>
                  <a:srgbClr val="A5937C"/>
                </a:solidFill>
              </a:rPr>
              <a:t> </a:t>
            </a:r>
            <a:r>
              <a:rPr lang="ru-RU" sz="1400" dirty="0">
                <a:solidFill>
                  <a:srgbClr val="A5937C"/>
                </a:solidFill>
              </a:rPr>
              <a:t>и </a:t>
            </a:r>
            <a:r>
              <a:rPr lang="en-US" sz="1400" b="1" dirty="0">
                <a:solidFill>
                  <a:srgbClr val="A5937C"/>
                </a:solidFill>
              </a:rPr>
              <a:t>XSS</a:t>
            </a:r>
            <a:r>
              <a:rPr lang="en-US" sz="1400" dirty="0">
                <a:solidFill>
                  <a:srgbClr val="A5937C"/>
                </a:solidFill>
              </a:rPr>
              <a:t>.</a:t>
            </a:r>
          </a:p>
          <a:p>
            <a:r>
              <a:rPr lang="en-US" sz="1400" dirty="0">
                <a:solidFill>
                  <a:srgbClr val="A5937C"/>
                </a:solidFill>
              </a:rPr>
              <a:t>CORS </a:t>
            </a:r>
            <a:r>
              <a:rPr lang="ru-RU" sz="1400" dirty="0">
                <a:solidFill>
                  <a:srgbClr val="A5937C"/>
                </a:solidFill>
              </a:rPr>
              <a:t>позволяет </a:t>
            </a:r>
            <a:r>
              <a:rPr lang="ru-RU" sz="1400" b="1" dirty="0">
                <a:solidFill>
                  <a:srgbClr val="A5937C"/>
                </a:solidFill>
              </a:rPr>
              <a:t>контролируемо разрешить</a:t>
            </a:r>
            <a:r>
              <a:rPr lang="ru-RU" sz="1400" dirty="0">
                <a:solidFill>
                  <a:srgbClr val="A5937C"/>
                </a:solidFill>
              </a:rPr>
              <a:t> такие запросы, если сервер их допускает.</a:t>
            </a:r>
          </a:p>
          <a:p>
            <a:endParaRPr lang="en-US" sz="1400" dirty="0">
              <a:solidFill>
                <a:srgbClr val="A593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65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98588-6135-A562-7DEF-11396812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CDE243-B61A-18C3-C2B0-FD13DE8049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13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6D2CC9-9381-73D8-F667-3D56E55F7AE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38199" y="989717"/>
            <a:ext cx="5257800" cy="3762392"/>
          </a:xfrm>
        </p:spPr>
        <p:txBody>
          <a:bodyPr/>
          <a:lstStyle/>
          <a:p>
            <a:r>
              <a:rPr lang="en-US" sz="1600" b="1" dirty="0">
                <a:solidFill>
                  <a:srgbClr val="A5937C"/>
                </a:solidFill>
              </a:rPr>
              <a:t>7. </a:t>
            </a:r>
            <a:r>
              <a:rPr lang="en-US" sz="1800" b="1" dirty="0">
                <a:solidFill>
                  <a:srgbClr val="807262"/>
                </a:solidFill>
              </a:rPr>
              <a:t>HEAD</a:t>
            </a:r>
            <a:r>
              <a:rPr lang="en-US" sz="1600" b="1" dirty="0">
                <a:solidFill>
                  <a:srgbClr val="A5937C"/>
                </a:solidFill>
              </a:rPr>
              <a:t> — </a:t>
            </a:r>
            <a:r>
              <a:rPr lang="ru-RU" sz="1600" b="1" dirty="0">
                <a:solidFill>
                  <a:srgbClr val="A5937C"/>
                </a:solidFill>
              </a:rPr>
              <a:t>Как </a:t>
            </a:r>
            <a:r>
              <a:rPr lang="en-US" sz="1600" b="1" dirty="0">
                <a:solidFill>
                  <a:srgbClr val="A5937C"/>
                </a:solidFill>
              </a:rPr>
              <a:t>GET, </a:t>
            </a:r>
            <a:r>
              <a:rPr lang="ru-RU" sz="1600" b="1" dirty="0">
                <a:solidFill>
                  <a:srgbClr val="A5937C"/>
                </a:solidFill>
              </a:rPr>
              <a:t>но без тела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Пример запроса: </a:t>
            </a:r>
            <a:r>
              <a:rPr lang="en-US" sz="1600" dirty="0">
                <a:solidFill>
                  <a:srgbClr val="A5937C"/>
                </a:solidFill>
              </a:rPr>
              <a:t>HEAD /users/21</a:t>
            </a:r>
            <a:endParaRPr lang="ru-RU" sz="1600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</a:rPr>
              <a:t>Тело запроса</a:t>
            </a:r>
            <a:r>
              <a:rPr lang="ru-RU" sz="1600" dirty="0">
                <a:solidFill>
                  <a:srgbClr val="A5937C"/>
                </a:solidFill>
              </a:rPr>
              <a:t>: : </a:t>
            </a:r>
            <a:r>
              <a:rPr lang="en-US" sz="1600" dirty="0">
                <a:solidFill>
                  <a:srgbClr val="A5937C"/>
                </a:solidFill>
              </a:rPr>
              <a:t>❌ </a:t>
            </a:r>
            <a:r>
              <a:rPr lang="ru-RU" sz="1600" dirty="0">
                <a:solidFill>
                  <a:srgbClr val="A5937C"/>
                </a:solidFill>
              </a:rPr>
              <a:t>отсутствует</a:t>
            </a:r>
            <a:endParaRPr lang="en-US" sz="1600" dirty="0">
              <a:solidFill>
                <a:srgbClr val="A593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Ответ: </a:t>
            </a:r>
            <a:r>
              <a:rPr lang="en-US" sz="1600" dirty="0">
                <a:solidFill>
                  <a:srgbClr val="A5937C"/>
                </a:solidFill>
              </a:rPr>
              <a:t>200 OK, </a:t>
            </a:r>
            <a:r>
              <a:rPr lang="ru-RU" sz="1600" dirty="0">
                <a:solidFill>
                  <a:srgbClr val="A5937C"/>
                </a:solidFill>
              </a:rPr>
              <a:t>только заголовки</a:t>
            </a:r>
            <a:endParaRPr lang="en-US" sz="1200" dirty="0">
              <a:solidFill>
                <a:srgbClr val="A5937C"/>
              </a:solidFill>
            </a:endParaRPr>
          </a:p>
          <a:p>
            <a:pPr indent="-228600"/>
            <a:endParaRPr lang="en-US" sz="1600" dirty="0">
              <a:solidFill>
                <a:srgbClr val="A5937C"/>
              </a:solidFill>
            </a:endParaRPr>
          </a:p>
          <a:p>
            <a:pPr indent="-228600"/>
            <a:r>
              <a:rPr lang="en-US" sz="1600" dirty="0">
                <a:solidFill>
                  <a:srgbClr val="A5937C"/>
                </a:solidFill>
              </a:rPr>
              <a:t>📍</a:t>
            </a:r>
            <a:r>
              <a:rPr lang="ru-RU" sz="1600" dirty="0">
                <a:solidFill>
                  <a:srgbClr val="A5937C"/>
                </a:solidFill>
              </a:rPr>
              <a:t> </a:t>
            </a:r>
            <a:r>
              <a:rPr lang="ru-RU" sz="1600" b="1" dirty="0">
                <a:solidFill>
                  <a:srgbClr val="A5937C"/>
                </a:solidFill>
              </a:rPr>
              <a:t>Особенности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Удобен для проверки существования ресурса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Проверка кеша/доступности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</a:rPr>
              <a:t>Ответ быстрее, чем </a:t>
            </a:r>
            <a:r>
              <a:rPr lang="en-US" sz="1600" dirty="0">
                <a:solidFill>
                  <a:srgbClr val="A5937C"/>
                </a:solidFill>
              </a:rPr>
              <a:t>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2EABFB-BBD9-73D1-C425-F15F945DC8C0}"/>
              </a:ext>
            </a:extLst>
          </p:cNvPr>
          <p:cNvSpPr txBox="1"/>
          <p:nvPr/>
        </p:nvSpPr>
        <p:spPr>
          <a:xfrm>
            <a:off x="776399" y="496373"/>
            <a:ext cx="1063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7262"/>
                </a:solidFill>
                <a:latin typeface="Montserrat" pitchFamily="2" charset="77"/>
              </a:rPr>
              <a:t>🔸</a:t>
            </a:r>
            <a:r>
              <a:rPr lang="en-US" b="1" dirty="0">
                <a:solidFill>
                  <a:srgbClr val="807262"/>
                </a:solidFill>
                <a:latin typeface="Montserrat" pitchFamily="2" charset="77"/>
              </a:rPr>
              <a:t> 1. </a:t>
            </a:r>
            <a:r>
              <a:rPr lang="ru-RU" b="1" dirty="0">
                <a:solidFill>
                  <a:srgbClr val="807262"/>
                </a:solidFill>
                <a:latin typeface="Montserrat" pitchFamily="2" charset="77"/>
              </a:rPr>
              <a:t>Методы </a:t>
            </a:r>
            <a:r>
              <a:rPr lang="en-US" b="1" dirty="0">
                <a:solidFill>
                  <a:srgbClr val="807262"/>
                </a:solidFill>
                <a:latin typeface="Montserrat" pitchFamily="2" charset="77"/>
              </a:rPr>
              <a:t>HTTP</a:t>
            </a:r>
            <a:endParaRPr lang="en-US" dirty="0">
              <a:solidFill>
                <a:srgbClr val="807262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2175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EF0149-410A-02EA-94BD-26E5BD7E27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14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27A885-B64F-8EF7-462F-9F526B94A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97037"/>
              </p:ext>
            </p:extLst>
          </p:nvPr>
        </p:nvGraphicFramePr>
        <p:xfrm>
          <a:off x="1995055" y="1550939"/>
          <a:ext cx="7777017" cy="311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4617">
                  <a:extLst>
                    <a:ext uri="{9D8B030D-6E8A-4147-A177-3AD203B41FA5}">
                      <a16:colId xmlns:a16="http://schemas.microsoft.com/office/drawing/2014/main" val="3259827315"/>
                    </a:ext>
                  </a:extLst>
                </a:gridCol>
                <a:gridCol w="1510146">
                  <a:extLst>
                    <a:ext uri="{9D8B030D-6E8A-4147-A177-3AD203B41FA5}">
                      <a16:colId xmlns:a16="http://schemas.microsoft.com/office/drawing/2014/main" val="385476318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367113387"/>
                    </a:ext>
                  </a:extLst>
                </a:gridCol>
                <a:gridCol w="1884218">
                  <a:extLst>
                    <a:ext uri="{9D8B030D-6E8A-4147-A177-3AD203B41FA5}">
                      <a16:colId xmlns:a16="http://schemas.microsoft.com/office/drawing/2014/main" val="2383056826"/>
                    </a:ext>
                  </a:extLst>
                </a:gridCol>
                <a:gridCol w="1279236">
                  <a:extLst>
                    <a:ext uri="{9D8B030D-6E8A-4147-A177-3AD203B41FA5}">
                      <a16:colId xmlns:a16="http://schemas.microsoft.com/office/drawing/2014/main" val="2927685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Метод</a:t>
                      </a:r>
                      <a:endParaRPr lang="en-US" sz="1400" b="1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Безопасный</a:t>
                      </a:r>
                      <a:endParaRPr lang="en-US" sz="1400" b="1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Идемпотентный</a:t>
                      </a:r>
                      <a:endParaRPr lang="en-US" sz="1400" b="1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С телом запроса?</a:t>
                      </a:r>
                      <a:endParaRPr lang="en-US" sz="1400" b="1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Изменяет данные?</a:t>
                      </a:r>
                      <a:endParaRPr lang="en-US" sz="1400" b="1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1710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GET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❌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Нет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❌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Нет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110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POST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❌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Нет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❌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Нет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88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PUT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❌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Нет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754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PATCH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❌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Нет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⚠️ Иногда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009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DELETE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❌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Нет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❌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Обычно нет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214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OPTIONS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❌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Нет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❌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Нет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29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HEAD</a:t>
                      </a: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✅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Да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❌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Нет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❌ </a:t>
                      </a:r>
                      <a:r>
                        <a:rPr lang="ru-RU" sz="1600" dirty="0">
                          <a:solidFill>
                            <a:srgbClr val="807262"/>
                          </a:solidFill>
                          <a:latin typeface="Montserrat" pitchFamily="2" charset="77"/>
                        </a:rPr>
                        <a:t>Нет</a:t>
                      </a:r>
                      <a:endParaRPr lang="en-US" sz="1600" dirty="0">
                        <a:solidFill>
                          <a:srgbClr val="807262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93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5014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F043239-3A0E-0EFE-78C2-F3B6249A8EE3}"/>
              </a:ext>
            </a:extLst>
          </p:cNvPr>
          <p:cNvSpPr txBox="1"/>
          <p:nvPr/>
        </p:nvSpPr>
        <p:spPr>
          <a:xfrm>
            <a:off x="776399" y="496373"/>
            <a:ext cx="1063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7262"/>
                </a:solidFill>
                <a:latin typeface="Montserrat" pitchFamily="2" charset="77"/>
              </a:rPr>
              <a:t>🔸</a:t>
            </a:r>
            <a:r>
              <a:rPr lang="en-US" b="1" dirty="0">
                <a:solidFill>
                  <a:srgbClr val="807262"/>
                </a:solidFill>
                <a:latin typeface="Montserrat" pitchFamily="2" charset="77"/>
              </a:rPr>
              <a:t> 1. </a:t>
            </a:r>
            <a:r>
              <a:rPr lang="ru-RU" b="1" dirty="0">
                <a:solidFill>
                  <a:srgbClr val="807262"/>
                </a:solidFill>
                <a:latin typeface="Montserrat" pitchFamily="2" charset="77"/>
              </a:rPr>
              <a:t>Методы </a:t>
            </a:r>
            <a:r>
              <a:rPr lang="en-US" b="1" dirty="0">
                <a:solidFill>
                  <a:srgbClr val="807262"/>
                </a:solidFill>
                <a:latin typeface="Montserrat" pitchFamily="2" charset="77"/>
              </a:rPr>
              <a:t>HTTP</a:t>
            </a:r>
            <a:endParaRPr lang="en-US" dirty="0">
              <a:solidFill>
                <a:srgbClr val="807262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27453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94C706D-CB16-4F9C-9728-CFFD1637C9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15</a:t>
            </a:r>
            <a:endParaRPr lang="ru-UA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C300624-A524-4512-AB12-9E4F7B12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8943109" cy="701675"/>
          </a:xfrm>
        </p:spPr>
        <p:txBody>
          <a:bodyPr/>
          <a:lstStyle/>
          <a:p>
            <a:r>
              <a:rPr lang="en-US" sz="2400" dirty="0">
                <a:solidFill>
                  <a:srgbClr val="6B8F78"/>
                </a:solidFill>
              </a:rPr>
              <a:t>🔸 2. </a:t>
            </a:r>
            <a:r>
              <a:rPr lang="ru-RU" sz="2400" dirty="0">
                <a:solidFill>
                  <a:srgbClr val="6B8F78"/>
                </a:solidFill>
              </a:rPr>
              <a:t>Статус-коды </a:t>
            </a:r>
            <a:r>
              <a:rPr lang="en-US" sz="2400" dirty="0">
                <a:solidFill>
                  <a:srgbClr val="6B8F78"/>
                </a:solidFill>
              </a:rPr>
              <a:t>HTTP</a:t>
            </a:r>
            <a:endParaRPr lang="ru-UA" sz="2400" dirty="0">
              <a:solidFill>
                <a:srgbClr val="6B8F78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6200E6-F692-C454-5C16-80BF6080E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775630"/>
              </p:ext>
            </p:extLst>
          </p:nvPr>
        </p:nvGraphicFramePr>
        <p:xfrm>
          <a:off x="1038513" y="1066800"/>
          <a:ext cx="10114974" cy="264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7196">
                  <a:extLst>
                    <a:ext uri="{9D8B030D-6E8A-4147-A177-3AD203B41FA5}">
                      <a16:colId xmlns:a16="http://schemas.microsoft.com/office/drawing/2014/main" val="921599761"/>
                    </a:ext>
                  </a:extLst>
                </a:gridCol>
                <a:gridCol w="3381470">
                  <a:extLst>
                    <a:ext uri="{9D8B030D-6E8A-4147-A177-3AD203B41FA5}">
                      <a16:colId xmlns:a16="http://schemas.microsoft.com/office/drawing/2014/main" val="1313154679"/>
                    </a:ext>
                  </a:extLst>
                </a:gridCol>
                <a:gridCol w="4696308">
                  <a:extLst>
                    <a:ext uri="{9D8B030D-6E8A-4147-A177-3AD203B41FA5}">
                      <a16:colId xmlns:a16="http://schemas.microsoft.com/office/drawing/2014/main" val="1233083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Категория</a:t>
                      </a:r>
                      <a:endParaRPr lang="en-US" sz="1800" b="1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Описание</a:t>
                      </a:r>
                      <a:endParaRPr lang="en-US" sz="1800" b="1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Примеры</a:t>
                      </a:r>
                      <a:endParaRPr lang="en-US" sz="1800" b="1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9890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1xx</a:t>
                      </a: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Информационные</a:t>
                      </a:r>
                      <a:endParaRPr lang="en-US" sz="16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100 Continue</a:t>
                      </a: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73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2xx</a:t>
                      </a: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Успех</a:t>
                      </a:r>
                      <a:endParaRPr lang="en-US" sz="16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200 OK, 201 Created, 204 No Content</a:t>
                      </a: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496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3xx</a:t>
                      </a: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Перенаправления</a:t>
                      </a:r>
                      <a:endParaRPr lang="en-US" sz="16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301 Moved Permanently, 302 Found</a:t>
                      </a: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432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4xx</a:t>
                      </a: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Ошибка клиента</a:t>
                      </a:r>
                      <a:endParaRPr lang="en-US" sz="16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400 Bad Request, 401 Unauthorized, </a:t>
                      </a:r>
                    </a:p>
                    <a:p>
                      <a:r>
                        <a:rPr lang="en-US" sz="16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403 Forbidden, 404 Not Found</a:t>
                      </a: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41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5xx</a:t>
                      </a: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Ошибка сервера</a:t>
                      </a:r>
                      <a:endParaRPr lang="en-US" sz="1600" dirty="0">
                        <a:solidFill>
                          <a:srgbClr val="6B8F78"/>
                        </a:solidFill>
                        <a:latin typeface="Montserrat" pitchFamily="2" charset="77"/>
                      </a:endParaRP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6B8F78"/>
                          </a:solidFill>
                          <a:latin typeface="Montserrat" pitchFamily="2" charset="77"/>
                        </a:rPr>
                        <a:t>500 Internal Server Error, 502 Bad Gateway, 503 Service Unavailable</a:t>
                      </a:r>
                    </a:p>
                  </a:txBody>
                  <a:tcPr>
                    <a:lnL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B8F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182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799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8943A-6DAC-237F-78F1-C5E3EE18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A2871DA-CE3B-EB7D-1FB8-7067B3BAB0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16</a:t>
            </a:r>
            <a:endParaRPr lang="ru-UA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F59BC8-7F44-D03D-EEDA-228E9FAD2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8943109" cy="701675"/>
          </a:xfrm>
        </p:spPr>
        <p:txBody>
          <a:bodyPr/>
          <a:lstStyle/>
          <a:p>
            <a:r>
              <a:rPr lang="en-US" sz="2400" dirty="0">
                <a:solidFill>
                  <a:srgbClr val="6B8F78"/>
                </a:solidFill>
              </a:rPr>
              <a:t>🔸 HTTP-</a:t>
            </a:r>
            <a:r>
              <a:rPr lang="ru-RU" sz="2400" dirty="0">
                <a:solidFill>
                  <a:srgbClr val="6B8F78"/>
                </a:solidFill>
              </a:rPr>
              <a:t>заголовки (</a:t>
            </a:r>
            <a:r>
              <a:rPr lang="en-US" sz="2400" dirty="0">
                <a:solidFill>
                  <a:srgbClr val="6B8F78"/>
                </a:solidFill>
              </a:rPr>
              <a:t>headers)</a:t>
            </a:r>
            <a:endParaRPr lang="ru-UA" sz="2400" dirty="0">
              <a:solidFill>
                <a:srgbClr val="6B8F7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87B55-9504-E2FC-6AAB-0B8B52D38990}"/>
              </a:ext>
            </a:extLst>
          </p:cNvPr>
          <p:cNvSpPr txBox="1"/>
          <p:nvPr/>
        </p:nvSpPr>
        <p:spPr>
          <a:xfrm>
            <a:off x="838199" y="1066800"/>
            <a:ext cx="105156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6B8F78"/>
                </a:solidFill>
                <a:latin typeface="Montserrat" pitchFamily="2" charset="77"/>
              </a:rPr>
              <a:t>Заголовки — это </a:t>
            </a:r>
            <a:r>
              <a:rPr lang="ru-RU" b="1" dirty="0">
                <a:solidFill>
                  <a:srgbClr val="6B8F78"/>
                </a:solidFill>
                <a:latin typeface="Montserrat" pitchFamily="2" charset="77"/>
              </a:rPr>
              <a:t>метаданные</a:t>
            </a:r>
            <a:r>
              <a:rPr lang="ru-RU" dirty="0">
                <a:solidFill>
                  <a:srgbClr val="6B8F78"/>
                </a:solidFill>
                <a:latin typeface="Montserrat" pitchFamily="2" charset="77"/>
              </a:rPr>
              <a:t> запроса и ответа.</a:t>
            </a:r>
          </a:p>
          <a:p>
            <a:r>
              <a:rPr lang="ru-RU" dirty="0">
                <a:solidFill>
                  <a:srgbClr val="6B8F78"/>
                </a:solidFill>
                <a:latin typeface="Montserrat" pitchFamily="2" charset="77"/>
              </a:rPr>
              <a:t>(</a:t>
            </a:r>
            <a:r>
              <a:rPr lang="en-US" dirty="0">
                <a:solidFill>
                  <a:srgbClr val="6B8F78"/>
                </a:solidFill>
                <a:latin typeface="Montserrat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https://developer.mozilla.org/en-US/docs/Web/HTTP/Reference/Headers</a:t>
            </a:r>
            <a:r>
              <a:rPr lang="ru-RU" dirty="0">
                <a:solidFill>
                  <a:srgbClr val="6B8F78"/>
                </a:solidFill>
                <a:latin typeface="Montserrat" pitchFamily="2" charset="77"/>
              </a:rPr>
              <a:t>)</a:t>
            </a:r>
          </a:p>
          <a:p>
            <a:endParaRPr lang="ru-RU" dirty="0">
              <a:solidFill>
                <a:srgbClr val="6B8F78"/>
              </a:solidFill>
              <a:latin typeface="Montserrat" pitchFamily="2" charset="77"/>
            </a:endParaRPr>
          </a:p>
          <a:p>
            <a:endParaRPr lang="en-US" dirty="0">
              <a:solidFill>
                <a:srgbClr val="6B8F78"/>
              </a:solidFill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10D2CF-F027-2C38-76C6-B5AB633E8735}"/>
              </a:ext>
            </a:extLst>
          </p:cNvPr>
          <p:cNvSpPr txBox="1"/>
          <p:nvPr/>
        </p:nvSpPr>
        <p:spPr>
          <a:xfrm>
            <a:off x="838199" y="2082463"/>
            <a:ext cx="74494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6B8F78"/>
                </a:solidFill>
                <a:latin typeface="Montserrat" pitchFamily="2" charset="77"/>
              </a:rPr>
              <a:t>Accept</a:t>
            </a:r>
            <a:r>
              <a:rPr lang="ru-RU" sz="1600" dirty="0">
                <a:solidFill>
                  <a:srgbClr val="6B8F78"/>
                </a:solidFill>
                <a:latin typeface="Montserrat" pitchFamily="2" charset="77"/>
              </a:rPr>
              <a:t> - Какой формат ожидает клиент (</a:t>
            </a:r>
            <a:r>
              <a:rPr lang="en-US" sz="1600" dirty="0">
                <a:solidFill>
                  <a:srgbClr val="6B8F78"/>
                </a:solidFill>
                <a:latin typeface="Montserrat" pitchFamily="2" charset="77"/>
              </a:rPr>
              <a:t>application/</a:t>
            </a:r>
            <a:r>
              <a:rPr lang="en-US" sz="1600" dirty="0" err="1">
                <a:solidFill>
                  <a:srgbClr val="6B8F78"/>
                </a:solidFill>
                <a:latin typeface="Montserrat" pitchFamily="2" charset="77"/>
              </a:rPr>
              <a:t>json</a:t>
            </a:r>
            <a:r>
              <a:rPr lang="en-US" sz="1600" dirty="0">
                <a:solidFill>
                  <a:srgbClr val="6B8F78"/>
                </a:solidFill>
                <a:latin typeface="Montserrat" pitchFamily="2" charset="77"/>
              </a:rPr>
              <a:t>)</a:t>
            </a:r>
            <a:endParaRPr lang="ru-RU" sz="1600" dirty="0">
              <a:solidFill>
                <a:srgbClr val="6B8F78"/>
              </a:solidFill>
              <a:latin typeface="Montserrat" pitchFamily="2" charset="77"/>
            </a:endParaRPr>
          </a:p>
          <a:p>
            <a:r>
              <a:rPr lang="en-US" sz="1600" b="1" dirty="0">
                <a:solidFill>
                  <a:srgbClr val="6B8F78"/>
                </a:solidFill>
                <a:latin typeface="Montserrat" pitchFamily="2" charset="77"/>
              </a:rPr>
              <a:t>Authorization</a:t>
            </a:r>
            <a:r>
              <a:rPr lang="ru-RU" sz="1600" dirty="0">
                <a:solidFill>
                  <a:srgbClr val="6B8F78"/>
                </a:solidFill>
                <a:latin typeface="Montserrat" pitchFamily="2" charset="77"/>
              </a:rPr>
              <a:t> -  Токен доступа (</a:t>
            </a:r>
            <a:r>
              <a:rPr lang="en-US" sz="1600" dirty="0">
                <a:solidFill>
                  <a:srgbClr val="6B8F78"/>
                </a:solidFill>
                <a:latin typeface="Montserrat" pitchFamily="2" charset="77"/>
              </a:rPr>
              <a:t>Bearer token)</a:t>
            </a:r>
            <a:endParaRPr lang="ru-RU" sz="1600" dirty="0">
              <a:solidFill>
                <a:srgbClr val="6B8F78"/>
              </a:solidFill>
              <a:latin typeface="Montserrat" pitchFamily="2" charset="77"/>
            </a:endParaRPr>
          </a:p>
          <a:p>
            <a:r>
              <a:rPr lang="en-US" sz="1600" b="1" dirty="0">
                <a:solidFill>
                  <a:srgbClr val="6B8F78"/>
                </a:solidFill>
                <a:latin typeface="Montserrat" pitchFamily="2" charset="77"/>
              </a:rPr>
              <a:t>Cache-Control</a:t>
            </a:r>
            <a:r>
              <a:rPr lang="ru-RU" sz="1600" dirty="0">
                <a:solidFill>
                  <a:srgbClr val="6B8F78"/>
                </a:solidFill>
                <a:latin typeface="Montserrat" pitchFamily="2" charset="77"/>
              </a:rPr>
              <a:t> - Поведение кэширования</a:t>
            </a:r>
          </a:p>
          <a:p>
            <a:r>
              <a:rPr lang="en-US" sz="1600" b="1" dirty="0">
                <a:solidFill>
                  <a:srgbClr val="6B8F78"/>
                </a:solidFill>
                <a:latin typeface="Montserrat" pitchFamily="2" charset="77"/>
              </a:rPr>
              <a:t>Content-Type</a:t>
            </a:r>
            <a:r>
              <a:rPr lang="ru-RU" sz="1600" dirty="0">
                <a:solidFill>
                  <a:srgbClr val="6B8F78"/>
                </a:solidFill>
                <a:latin typeface="Montserrat" pitchFamily="2" charset="77"/>
              </a:rPr>
              <a:t> - Тип тела запроса/ответа (например, </a:t>
            </a:r>
            <a:r>
              <a:rPr lang="en-US" sz="1600" dirty="0">
                <a:solidFill>
                  <a:srgbClr val="6B8F78"/>
                </a:solidFill>
                <a:latin typeface="Montserrat" pitchFamily="2" charset="77"/>
              </a:rPr>
              <a:t>application/</a:t>
            </a:r>
            <a:r>
              <a:rPr lang="en-US" sz="1600" dirty="0" err="1">
                <a:solidFill>
                  <a:srgbClr val="6B8F78"/>
                </a:solidFill>
                <a:latin typeface="Montserrat" pitchFamily="2" charset="77"/>
              </a:rPr>
              <a:t>json</a:t>
            </a:r>
            <a:r>
              <a:rPr lang="en-US" sz="1600" dirty="0">
                <a:solidFill>
                  <a:srgbClr val="6B8F78"/>
                </a:solidFill>
                <a:latin typeface="Montserrat" pitchFamily="2" charset="77"/>
              </a:rPr>
              <a:t>)</a:t>
            </a:r>
            <a:endParaRPr lang="ru-RU" sz="1600" dirty="0">
              <a:solidFill>
                <a:srgbClr val="6B8F78"/>
              </a:solidFill>
              <a:latin typeface="Montserrat" pitchFamily="2" charset="77"/>
            </a:endParaRPr>
          </a:p>
          <a:p>
            <a:r>
              <a:rPr lang="en-US" sz="1600" b="1" dirty="0">
                <a:solidFill>
                  <a:srgbClr val="6B8F78"/>
                </a:solidFill>
                <a:latin typeface="Montserrat" pitchFamily="2" charset="77"/>
              </a:rPr>
              <a:t>Set-Cookie, Cookie</a:t>
            </a:r>
            <a:r>
              <a:rPr lang="ru-RU" sz="1600" b="1" dirty="0">
                <a:solidFill>
                  <a:srgbClr val="6B8F78"/>
                </a:solidFill>
                <a:latin typeface="Montserrat" pitchFamily="2" charset="77"/>
              </a:rPr>
              <a:t> </a:t>
            </a:r>
            <a:r>
              <a:rPr lang="ru-RU" sz="1600" dirty="0">
                <a:solidFill>
                  <a:srgbClr val="6B8F78"/>
                </a:solidFill>
                <a:latin typeface="Montserrat" pitchFamily="2" charset="77"/>
              </a:rPr>
              <a:t>- Управление сессиями</a:t>
            </a:r>
          </a:p>
          <a:p>
            <a:r>
              <a:rPr lang="en-US" sz="1600" b="1" dirty="0">
                <a:solidFill>
                  <a:srgbClr val="6B8F78"/>
                </a:solidFill>
                <a:latin typeface="Montserrat" pitchFamily="2" charset="77"/>
              </a:rPr>
              <a:t>User-Agent</a:t>
            </a:r>
            <a:r>
              <a:rPr lang="ru-RU" sz="1600" dirty="0">
                <a:solidFill>
                  <a:srgbClr val="6B8F78"/>
                </a:solidFill>
                <a:latin typeface="Montserrat" pitchFamily="2" charset="77"/>
              </a:rPr>
              <a:t> - Инфо о клиенте (браузер, </a:t>
            </a:r>
            <a:r>
              <a:rPr lang="en-US" sz="1600" dirty="0">
                <a:solidFill>
                  <a:srgbClr val="6B8F78"/>
                </a:solidFill>
                <a:latin typeface="Montserrat" pitchFamily="2" charset="77"/>
              </a:rPr>
              <a:t>Postman </a:t>
            </a:r>
            <a:r>
              <a:rPr lang="ru-RU" sz="1600" dirty="0">
                <a:solidFill>
                  <a:srgbClr val="6B8F78"/>
                </a:solidFill>
                <a:latin typeface="Montserrat" pitchFamily="2" charset="77"/>
              </a:rPr>
              <a:t>и т.п.)</a:t>
            </a:r>
            <a:endParaRPr lang="en-US" sz="1600" dirty="0">
              <a:solidFill>
                <a:srgbClr val="6B8F78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816023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5800</TotalTime>
  <Words>1799</Words>
  <Application>Microsoft Macintosh PowerPoint</Application>
  <PresentationFormat>Widescreen</PresentationFormat>
  <Paragraphs>356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Montserrat</vt:lpstr>
      <vt:lpstr>Тема Office</vt:lpstr>
      <vt:lpstr>1_Тема Office</vt:lpstr>
      <vt:lpstr>2_Тема Office</vt:lpstr>
      <vt:lpstr>API</vt:lpstr>
      <vt:lpstr>Что такое API (Application Programming Interface)</vt:lpstr>
      <vt:lpstr>Модель OSI — 7 уровней сетевого взаимодействия</vt:lpstr>
      <vt:lpstr>API и уровни OSI </vt:lpstr>
      <vt:lpstr>Протоколы</vt:lpstr>
      <vt:lpstr>Протоколы</vt:lpstr>
      <vt:lpstr>Протоколы</vt:lpstr>
      <vt:lpstr>PowerPoint Presentation</vt:lpstr>
      <vt:lpstr>HTTP (HyperText Transfer Protocol)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🔸 2. Статус-коды HTTP</vt:lpstr>
      <vt:lpstr>🔸 HTTP-заголовки (headers)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Oksana Mishura</dc:creator>
  <cp:lastModifiedBy>Ekaterina Laptyuhova</cp:lastModifiedBy>
  <cp:revision>20</cp:revision>
  <dcterms:created xsi:type="dcterms:W3CDTF">2025-05-21T13:16:37Z</dcterms:created>
  <dcterms:modified xsi:type="dcterms:W3CDTF">2025-07-16T16:23:28Z</dcterms:modified>
</cp:coreProperties>
</file>