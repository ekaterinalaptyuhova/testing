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9" r:id="rId1"/>
    <p:sldMasterId id="2147483671" r:id="rId2"/>
  </p:sldMasterIdLst>
  <p:sldIdLst>
    <p:sldId id="262" r:id="rId3"/>
    <p:sldId id="261" r:id="rId4"/>
    <p:sldId id="264" r:id="rId5"/>
    <p:sldId id="281" r:id="rId6"/>
    <p:sldId id="283" r:id="rId7"/>
    <p:sldId id="284" r:id="rId8"/>
    <p:sldId id="272" r:id="rId9"/>
  </p:sldIdLst>
  <p:sldSz cx="12192000" cy="6858000"/>
  <p:notesSz cx="6858000" cy="9144000"/>
  <p:defaultTextStyle>
    <a:defPPr>
      <a:defRPr lang="ru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628F"/>
    <a:srgbClr val="A5937C"/>
    <a:srgbClr val="B8A389"/>
    <a:srgbClr val="72A5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173" autoAdjust="0"/>
    <p:restoredTop sz="94660"/>
  </p:normalViewPr>
  <p:slideViewPr>
    <p:cSldViewPr snapToGrid="0" showGuides="1">
      <p:cViewPr varScale="1">
        <p:scale>
          <a:sx n="121" d="100"/>
          <a:sy n="121" d="100"/>
        </p:scale>
        <p:origin x="168" y="4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6.svg"/><Relationship Id="rId7" Type="http://schemas.openxmlformats.org/officeDocument/2006/relationships/image" Target="../media/image22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1.png"/><Relationship Id="rId11" Type="http://schemas.openxmlformats.org/officeDocument/2006/relationships/image" Target="../media/image24.svg"/><Relationship Id="rId5" Type="http://schemas.openxmlformats.org/officeDocument/2006/relationships/image" Target="../media/image20.svg"/><Relationship Id="rId10" Type="http://schemas.openxmlformats.org/officeDocument/2006/relationships/image" Target="../media/image23.png"/><Relationship Id="rId4" Type="http://schemas.openxmlformats.org/officeDocument/2006/relationships/image" Target="../media/image19.png"/><Relationship Id="rId9" Type="http://schemas.openxmlformats.org/officeDocument/2006/relationships/image" Target="../media/image14.sv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0.svg"/><Relationship Id="rId7" Type="http://schemas.openxmlformats.org/officeDocument/2006/relationships/image" Target="../media/image26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Relationship Id="rId9" Type="http://schemas.openxmlformats.org/officeDocument/2006/relationships/image" Target="../media/image28.sv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6.svg"/><Relationship Id="rId7" Type="http://schemas.openxmlformats.org/officeDocument/2006/relationships/image" Target="../media/image22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1.png"/><Relationship Id="rId11" Type="http://schemas.openxmlformats.org/officeDocument/2006/relationships/image" Target="../media/image24.svg"/><Relationship Id="rId5" Type="http://schemas.openxmlformats.org/officeDocument/2006/relationships/image" Target="../media/image20.svg"/><Relationship Id="rId10" Type="http://schemas.openxmlformats.org/officeDocument/2006/relationships/image" Target="../media/image23.png"/><Relationship Id="rId4" Type="http://schemas.openxmlformats.org/officeDocument/2006/relationships/image" Target="../media/image19.png"/><Relationship Id="rId9" Type="http://schemas.openxmlformats.org/officeDocument/2006/relationships/image" Target="../media/image14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7" Type="http://schemas.openxmlformats.org/officeDocument/2006/relationships/image" Target="../media/image14.sv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2.svg"/><Relationship Id="rId7" Type="http://schemas.openxmlformats.org/officeDocument/2006/relationships/image" Target="../media/image22.sv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1.png"/><Relationship Id="rId11" Type="http://schemas.openxmlformats.org/officeDocument/2006/relationships/image" Target="../media/image24.svg"/><Relationship Id="rId5" Type="http://schemas.openxmlformats.org/officeDocument/2006/relationships/image" Target="../media/image20.svg"/><Relationship Id="rId10" Type="http://schemas.openxmlformats.org/officeDocument/2006/relationships/image" Target="../media/image23.png"/><Relationship Id="rId4" Type="http://schemas.openxmlformats.org/officeDocument/2006/relationships/image" Target="../media/image19.png"/><Relationship Id="rId9" Type="http://schemas.openxmlformats.org/officeDocument/2006/relationships/image" Target="../media/image14.sv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32.svg"/><Relationship Id="rId7" Type="http://schemas.openxmlformats.org/officeDocument/2006/relationships/image" Target="../media/image26.sv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Relationship Id="rId9" Type="http://schemas.openxmlformats.org/officeDocument/2006/relationships/image" Target="../media/image28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390CC9A-347F-4696-B90E-12366BD421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CF3A619-A762-4B38-8E0F-2DAE159B466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38237" y="-46567"/>
            <a:ext cx="816086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B7F358-4A36-4EC0-83AD-F14439D752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B06CAEA-0089-48B7-9CD1-43C041B744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1341071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B0713A2-3A3E-479C-B2D8-A8A8B59E54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E5465B1-A71B-4D1A-9B20-033F0C9588A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80970" y="711200"/>
            <a:ext cx="8160860" cy="6858000"/>
          </a:xfrm>
          <a:prstGeom prst="rect">
            <a:avLst/>
          </a:prstGeom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38725C72-9063-401F-809F-74DD8740A8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563563"/>
            <a:ext cx="5120640" cy="1655762"/>
          </a:xfrm>
          <a:prstGeom prst="rect">
            <a:avLst/>
          </a:prstGeom>
        </p:spPr>
        <p:txBody>
          <a:bodyPr anchor="t"/>
          <a:lstStyle>
            <a:lvl1pPr algn="l">
              <a:defRPr sz="4800" b="1" u="none" strike="noStrike">
                <a:solidFill>
                  <a:schemeClr val="bg1"/>
                </a:solidFill>
                <a:effectLst/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13BC47E2-CA0B-45E8-8ECA-07D53CEC8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2413317"/>
            <a:ext cx="5120640" cy="389604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sp>
        <p:nvSpPr>
          <p:cNvPr id="12" name="Объект 3">
            <a:extLst>
              <a:ext uri="{FF2B5EF4-FFF2-40B4-BE49-F238E27FC236}">
                <a16:creationId xmlns:a16="http://schemas.microsoft.com/office/drawing/2014/main" id="{378D3E39-E01C-487E-8242-FBB59F1102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563562"/>
            <a:ext cx="5552440" cy="57457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193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бъект 2">
            <a:extLst>
              <a:ext uri="{FF2B5EF4-FFF2-40B4-BE49-F238E27FC236}">
                <a16:creationId xmlns:a16="http://schemas.microsoft.com/office/drawing/2014/main" id="{DE73C139-D57D-48B3-B634-EEDEB3C77FDB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350F990-8C58-9B06-442C-6FCD14A6EADB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4" name="Текст 14">
            <a:extLst>
              <a:ext uri="{FF2B5EF4-FFF2-40B4-BE49-F238E27FC236}">
                <a16:creationId xmlns:a16="http://schemas.microsoft.com/office/drawing/2014/main" id="{E0F2196A-AA2C-7D93-4038-7C05358C30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48519" y="6170616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206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40BC3B13-ADD8-4A96-BA31-E2D2E2268B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563563"/>
            <a:ext cx="5120640" cy="1655762"/>
          </a:xfrm>
          <a:prstGeom prst="rect">
            <a:avLst/>
          </a:prstGeom>
        </p:spPr>
        <p:txBody>
          <a:bodyPr anchor="t"/>
          <a:lstStyle>
            <a:lvl1pPr algn="l">
              <a:defRPr sz="4800" b="1" u="none" strike="noStrike">
                <a:solidFill>
                  <a:schemeClr val="tx1"/>
                </a:solidFill>
                <a:effectLst/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2" name="Подзаголовок 2">
            <a:extLst>
              <a:ext uri="{FF2B5EF4-FFF2-40B4-BE49-F238E27FC236}">
                <a16:creationId xmlns:a16="http://schemas.microsoft.com/office/drawing/2014/main" id="{14A78A83-CE00-402B-8F3A-A4A9083733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2413318"/>
            <a:ext cx="5120640" cy="376364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sp>
        <p:nvSpPr>
          <p:cNvPr id="13" name="Объект 3">
            <a:extLst>
              <a:ext uri="{FF2B5EF4-FFF2-40B4-BE49-F238E27FC236}">
                <a16:creationId xmlns:a16="http://schemas.microsoft.com/office/drawing/2014/main" id="{D0FF8FCB-7D6B-4BF0-A980-F1007F0E7F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563562"/>
            <a:ext cx="5257800" cy="56133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9B3337A-2127-4A09-9DA9-088D83920078}"/>
              </a:ext>
            </a:extLst>
          </p:cNvPr>
          <p:cNvSpPr/>
          <p:nvPr userDrawn="1"/>
        </p:nvSpPr>
        <p:spPr>
          <a:xfrm>
            <a:off x="838200" y="0"/>
            <a:ext cx="2895600" cy="365125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2" name="Прямоугольник 2">
            <a:extLst>
              <a:ext uri="{FF2B5EF4-FFF2-40B4-BE49-F238E27FC236}">
                <a16:creationId xmlns:a16="http://schemas.microsoft.com/office/drawing/2014/main" id="{1B506B72-42A8-44EA-862B-37BC99F6233D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4" name="Текст 14">
            <a:extLst>
              <a:ext uri="{FF2B5EF4-FFF2-40B4-BE49-F238E27FC236}">
                <a16:creationId xmlns:a16="http://schemas.microsoft.com/office/drawing/2014/main" id="{F95E6434-2293-39B7-2152-0F18EEB7DA5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48519" y="6170616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860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48519" y="6170616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AA7E8F52-96D2-4A1B-AE6A-40A7150C31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42249" y="914400"/>
            <a:ext cx="7397057" cy="6858000"/>
          </a:xfrm>
          <a:prstGeom prst="rect">
            <a:avLst/>
          </a:prstGeom>
        </p:spPr>
      </p:pic>
      <p:sp>
        <p:nvSpPr>
          <p:cNvPr id="22" name="Заголовок 1">
            <a:extLst>
              <a:ext uri="{FF2B5EF4-FFF2-40B4-BE49-F238E27FC236}">
                <a16:creationId xmlns:a16="http://schemas.microsoft.com/office/drawing/2014/main" id="{E89D047B-7CBB-4256-AE89-B70A8BAAF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181600" cy="1325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23" name="Объект 2">
            <a:extLst>
              <a:ext uri="{FF2B5EF4-FFF2-40B4-BE49-F238E27FC236}">
                <a16:creationId xmlns:a16="http://schemas.microsoft.com/office/drawing/2014/main" id="{61AEE2F4-3150-4558-BBAB-90CE35BBC2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Объект 3">
            <a:extLst>
              <a:ext uri="{FF2B5EF4-FFF2-40B4-BE49-F238E27FC236}">
                <a16:creationId xmlns:a16="http://schemas.microsoft.com/office/drawing/2014/main" id="{3AE18B6B-9355-4E0C-9EE6-2AC62F9518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5C9A6B1D-B9A0-4A34-A547-56B7EAA74483}"/>
              </a:ext>
            </a:extLst>
          </p:cNvPr>
          <p:cNvSpPr/>
          <p:nvPr userDrawn="1"/>
        </p:nvSpPr>
        <p:spPr>
          <a:xfrm>
            <a:off x="838200" y="0"/>
            <a:ext cx="2895600" cy="365125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791EAE45-7CEB-4BAB-A77A-ACA04C42ABE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85312" y="158747"/>
            <a:ext cx="1733120" cy="159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758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702F980-77F1-4034-99A9-ED911C070E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61449" y="3634293"/>
            <a:ext cx="11268075" cy="5838825"/>
          </a:xfrm>
          <a:prstGeom prst="rect">
            <a:avLst/>
          </a:prstGeom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EB4FCC4B-C0D0-4C37-95B6-B8FBB88A3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947164" cy="1325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F5CAFBB7-69A1-422F-9EDB-FEFCFD81E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378728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4B13095-225E-4E37-8E0E-C0A30DFBCC22}"/>
              </a:ext>
            </a:extLst>
          </p:cNvPr>
          <p:cNvSpPr/>
          <p:nvPr userDrawn="1"/>
        </p:nvSpPr>
        <p:spPr>
          <a:xfrm>
            <a:off x="838200" y="0"/>
            <a:ext cx="2895600" cy="365125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rgbClr val="72A5CE"/>
              </a:solidFill>
            </a:endParaRPr>
          </a:p>
        </p:txBody>
      </p:sp>
      <p:sp>
        <p:nvSpPr>
          <p:cNvPr id="25" name="Объект 2">
            <a:extLst>
              <a:ext uri="{FF2B5EF4-FFF2-40B4-BE49-F238E27FC236}">
                <a16:creationId xmlns:a16="http://schemas.microsoft.com/office/drawing/2014/main" id="{774939AC-6322-4ED8-954A-C72C5620342D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406636" y="1825625"/>
            <a:ext cx="3378728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6" name="Объект 2">
            <a:extLst>
              <a:ext uri="{FF2B5EF4-FFF2-40B4-BE49-F238E27FC236}">
                <a16:creationId xmlns:a16="http://schemas.microsoft.com/office/drawing/2014/main" id="{EB643FC0-87AC-4E8C-8025-4FBD80A6970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7975072" y="1825625"/>
            <a:ext cx="3378728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02021E72-12F4-4437-9D61-85147A11C84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30454" y="230187"/>
            <a:ext cx="962025" cy="962025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D3795032-345E-46AA-B0A0-CA6FCFC4948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66349" y="945853"/>
            <a:ext cx="563065" cy="563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169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45575B9-F26A-4F89-9C8D-4B55258A7B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009412" y="1224637"/>
            <a:ext cx="7310519" cy="6858000"/>
          </a:xfrm>
          <a:prstGeom prst="rect">
            <a:avLst/>
          </a:prstGeom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15D01B1D-FD5F-40C5-B133-FB07F3F0F5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1" u="none" strike="noStrike">
                <a:solidFill>
                  <a:srgbClr val="72A5CE"/>
                </a:solidFill>
                <a:effectLst/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5" name="Подзаголовок 2">
            <a:extLst>
              <a:ext uri="{FF2B5EF4-FFF2-40B4-BE49-F238E27FC236}">
                <a16:creationId xmlns:a16="http://schemas.microsoft.com/office/drawing/2014/main" id="{EE1C443C-3522-4792-B5A4-CE9582C764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23A4661-9E8D-46A7-A090-8E59ED88386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65165" y="-156727"/>
            <a:ext cx="3153834" cy="204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166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rgbClr val="72A5CE"/>
              </a:solidFill>
            </a:endParaRPr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54750BEF-B5D4-469C-B034-BB9A1A99F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24699"/>
            <a:ext cx="3356291" cy="1071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6352516-8A73-4932-82BB-B9CD41C9BAFB}"/>
              </a:ext>
            </a:extLst>
          </p:cNvPr>
          <p:cNvSpPr/>
          <p:nvPr userDrawn="1"/>
        </p:nvSpPr>
        <p:spPr>
          <a:xfrm rot="5400000">
            <a:off x="-1265238" y="2854962"/>
            <a:ext cx="2895600" cy="365125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rgbClr val="72A5CE"/>
              </a:solidFill>
            </a:endParaRPr>
          </a:p>
        </p:txBody>
      </p:sp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id="{8EC7020A-97E9-4487-97F1-9DE6E4747A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9788" y="3246122"/>
            <a:ext cx="3356292" cy="107156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72A5CE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F47F1027-212D-48AD-BC20-875F24643FB4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403198" y="550333"/>
            <a:ext cx="6949014" cy="56266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02B9BF6E-B3AF-4B71-8733-5EA40999F0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2537868" y="1178243"/>
            <a:ext cx="7310519" cy="685800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20ECA3CC-5CB9-4137-9BE0-889AAA7B32E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85922" y="4541721"/>
            <a:ext cx="476200" cy="47620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A840251E-90F2-437F-8630-722F412E73F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28377" y="4485325"/>
            <a:ext cx="409575" cy="409575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017C989-5497-4FA1-B95E-451A8E72BD69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63383" y="5241957"/>
            <a:ext cx="942975" cy="942975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EC59A685-1FBC-44DC-8AE2-2CACEBE51E55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421532" y="152400"/>
            <a:ext cx="5969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989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rgbClr val="72A5CE"/>
              </a:solidFill>
            </a:endParaRPr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7E52CF1-E2DC-4845-97B2-8A8F2536CF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61449" y="3634293"/>
            <a:ext cx="11268075" cy="5838825"/>
          </a:xfrm>
          <a:prstGeom prst="rect">
            <a:avLst/>
          </a:prstGeom>
        </p:spPr>
      </p:pic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67DFB984-A410-4F1E-924E-32DBD5EF0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24699"/>
            <a:ext cx="3356291" cy="1071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C857945D-708C-4B53-B47D-732F0A36481D}"/>
              </a:ext>
            </a:extLst>
          </p:cNvPr>
          <p:cNvSpPr/>
          <p:nvPr userDrawn="1"/>
        </p:nvSpPr>
        <p:spPr>
          <a:xfrm rot="5400000">
            <a:off x="-1265238" y="2854962"/>
            <a:ext cx="2895600" cy="365125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rgbClr val="72A5CE"/>
              </a:solidFill>
            </a:endParaRPr>
          </a:p>
        </p:txBody>
      </p:sp>
      <p:sp>
        <p:nvSpPr>
          <p:cNvPr id="20" name="Подзаголовок 2">
            <a:extLst>
              <a:ext uri="{FF2B5EF4-FFF2-40B4-BE49-F238E27FC236}">
                <a16:creationId xmlns:a16="http://schemas.microsoft.com/office/drawing/2014/main" id="{60302506-4DB1-4217-97D4-BCE625DA51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9788" y="3246122"/>
            <a:ext cx="3356292" cy="107156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72A5CE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5584BB9B-8973-47ED-B7C0-4186B1DCF10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34146" y="4688359"/>
            <a:ext cx="436033" cy="436033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10530ABE-CBDC-4FC4-84E7-36EF1DF3108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97882" y="5332931"/>
            <a:ext cx="673100" cy="673100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B4D9FC69-1C2C-4FE8-B4AA-A6A8403FF80E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249913" y="323532"/>
            <a:ext cx="711899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819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384CC287-EC0D-4649-AD8F-23BF797B0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24699"/>
            <a:ext cx="3356291" cy="1071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012BA82-E5F3-4806-B740-AFE1CCFE6042}"/>
              </a:ext>
            </a:extLst>
          </p:cNvPr>
          <p:cNvSpPr/>
          <p:nvPr userDrawn="1"/>
        </p:nvSpPr>
        <p:spPr>
          <a:xfrm rot="5400000">
            <a:off x="-1265238" y="2854962"/>
            <a:ext cx="2895600" cy="365125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rgbClr val="72A5CE"/>
              </a:solidFill>
            </a:endParaRPr>
          </a:p>
        </p:txBody>
      </p:sp>
      <p:sp>
        <p:nvSpPr>
          <p:cNvPr id="15" name="Подзаголовок 2">
            <a:extLst>
              <a:ext uri="{FF2B5EF4-FFF2-40B4-BE49-F238E27FC236}">
                <a16:creationId xmlns:a16="http://schemas.microsoft.com/office/drawing/2014/main" id="{5340667B-5D23-411F-8C48-518015D4BD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9788" y="3246122"/>
            <a:ext cx="3356292" cy="107156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72A5CE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4530EFBB-9F9D-4A0F-8FB6-A34508E70C3F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403198" y="550333"/>
            <a:ext cx="6949014" cy="56266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2512A5C1-722C-41C0-B67A-1EBC58C6AC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2537868" y="1178243"/>
            <a:ext cx="7310519" cy="6858000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0632DB44-2463-4D4D-8931-315D05E8E76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85922" y="4541721"/>
            <a:ext cx="476200" cy="476200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D79A4828-3F3E-4778-A041-D66C11698AB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28377" y="4485325"/>
            <a:ext cx="409575" cy="409575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DD2AA7C9-B1B6-4E88-B0D6-B090F65F751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63383" y="5241957"/>
            <a:ext cx="942975" cy="942975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68D5D892-2891-41EA-81F2-DCBDDE884ADC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421532" y="152400"/>
            <a:ext cx="5969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838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Син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3036F7C-EFD9-41D2-9083-9B81E6FB58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10751" y="-1371600"/>
            <a:ext cx="7397057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4496B1-839C-4F28-B9BE-854655EFF2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563563"/>
            <a:ext cx="5120640" cy="1655762"/>
          </a:xfrm>
          <a:prstGeom prst="rect">
            <a:avLst/>
          </a:prstGeom>
        </p:spPr>
        <p:txBody>
          <a:bodyPr anchor="t"/>
          <a:lstStyle>
            <a:lvl1pPr algn="l">
              <a:defRPr sz="4800" b="1" u="none" strike="noStrike">
                <a:solidFill>
                  <a:schemeClr val="tx1"/>
                </a:solidFill>
                <a:effectLst/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CDD15C0-FEB1-4DBB-BBFF-68C1EAB3F6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2413317"/>
            <a:ext cx="5120640" cy="389604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sp>
        <p:nvSpPr>
          <p:cNvPr id="6" name="Объект 3">
            <a:extLst>
              <a:ext uri="{FF2B5EF4-FFF2-40B4-BE49-F238E27FC236}">
                <a16:creationId xmlns:a16="http://schemas.microsoft.com/office/drawing/2014/main" id="{9135AD75-8A20-4199-B590-DC5A0898B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563562"/>
            <a:ext cx="5552440" cy="57457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endParaRPr lang="ru-RU" dirty="0"/>
          </a:p>
        </p:txBody>
      </p:sp>
      <p:sp>
        <p:nvSpPr>
          <p:cNvPr id="4" name="Прямоугольник 2">
            <a:extLst>
              <a:ext uri="{FF2B5EF4-FFF2-40B4-BE49-F238E27FC236}">
                <a16:creationId xmlns:a16="http://schemas.microsoft.com/office/drawing/2014/main" id="{19C88466-5EC1-1DC3-620E-5D04F0E2A01E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5" name="Текст 14">
            <a:extLst>
              <a:ext uri="{FF2B5EF4-FFF2-40B4-BE49-F238E27FC236}">
                <a16:creationId xmlns:a16="http://schemas.microsoft.com/office/drawing/2014/main" id="{A5F61A7B-276B-2FA1-13CA-BB31032FA1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48519" y="6170616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3991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78AAEA8-B3ED-49FB-A821-379ACE662F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FB61119-1930-4639-8A95-2C1955FCDA2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67560" y="-33126"/>
            <a:ext cx="7310519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B7F358-4A36-4EC0-83AD-F14439D752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B06CAEA-0089-48B7-9CD1-43C041B744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36937864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E4A68D1-9680-4CE6-9E47-B4EF5C8B38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854A482-91C2-4667-9BD5-AB549982F70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88560" y="-66992"/>
            <a:ext cx="7310519" cy="6858000"/>
          </a:xfrm>
          <a:prstGeom prst="rect">
            <a:avLst/>
          </a:prstGeom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38725C72-9063-401F-809F-74DD8740A8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563563"/>
            <a:ext cx="5120640" cy="1655762"/>
          </a:xfrm>
          <a:prstGeom prst="rect">
            <a:avLst/>
          </a:prstGeom>
        </p:spPr>
        <p:txBody>
          <a:bodyPr anchor="t"/>
          <a:lstStyle>
            <a:lvl1pPr algn="l">
              <a:defRPr sz="4800" b="1" u="none" strike="noStrike">
                <a:solidFill>
                  <a:schemeClr val="bg1"/>
                </a:solidFill>
                <a:effectLst/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13BC47E2-CA0B-45E8-8ECA-07D53CEC8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2413317"/>
            <a:ext cx="5120640" cy="389604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sp>
        <p:nvSpPr>
          <p:cNvPr id="12" name="Объект 3">
            <a:extLst>
              <a:ext uri="{FF2B5EF4-FFF2-40B4-BE49-F238E27FC236}">
                <a16:creationId xmlns:a16="http://schemas.microsoft.com/office/drawing/2014/main" id="{378D3E39-E01C-487E-8242-FBB59F1102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563562"/>
            <a:ext cx="5552440" cy="57457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260320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бъект 2">
            <a:extLst>
              <a:ext uri="{FF2B5EF4-FFF2-40B4-BE49-F238E27FC236}">
                <a16:creationId xmlns:a16="http://schemas.microsoft.com/office/drawing/2014/main" id="{DE73C139-D57D-48B3-B634-EEDEB3C77FDB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" name="Прямоугольник 2">
            <a:extLst>
              <a:ext uri="{FF2B5EF4-FFF2-40B4-BE49-F238E27FC236}">
                <a16:creationId xmlns:a16="http://schemas.microsoft.com/office/drawing/2014/main" id="{4E73F807-5DA6-9785-4A54-BE4A37D12FA5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3" name="Текст 14">
            <a:extLst>
              <a:ext uri="{FF2B5EF4-FFF2-40B4-BE49-F238E27FC236}">
                <a16:creationId xmlns:a16="http://schemas.microsoft.com/office/drawing/2014/main" id="{B27174C5-D2DF-5C53-62CA-A71DB25389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71750" y="6176963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94978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1E01F7D-1F81-4DF0-8C39-49BC4D2ADA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3252" y="882650"/>
            <a:ext cx="7243196" cy="6858000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1750" y="6176963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B6E1931B-0CBF-4A08-8947-8B4990253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8AD95C48-59F0-4685-B96D-246C71908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01115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9A38DD6-45D8-431D-8A91-C6CEE352BA02}"/>
              </a:ext>
            </a:extLst>
          </p:cNvPr>
          <p:cNvSpPr/>
          <p:nvPr userDrawn="1"/>
        </p:nvSpPr>
        <p:spPr>
          <a:xfrm>
            <a:off x="838200" y="0"/>
            <a:ext cx="2895600" cy="365125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9980506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B7F9DBF1-EDBD-4C67-AD42-854211797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181600" cy="1325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7A71DC7A-6F84-499B-89BA-C830E1EE91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3" name="Объект 3">
            <a:extLst>
              <a:ext uri="{FF2B5EF4-FFF2-40B4-BE49-F238E27FC236}">
                <a16:creationId xmlns:a16="http://schemas.microsoft.com/office/drawing/2014/main" id="{F13EEAEE-6CDA-4670-8ED2-79D457F7C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0F19C2F-4C72-4C0C-8583-1731CBD8380D}"/>
              </a:ext>
            </a:extLst>
          </p:cNvPr>
          <p:cNvSpPr/>
          <p:nvPr userDrawn="1"/>
        </p:nvSpPr>
        <p:spPr>
          <a:xfrm>
            <a:off x="838200" y="0"/>
            <a:ext cx="2895600" cy="365125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D948FD4-3067-4A13-804C-A45E069463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5312" y="158747"/>
            <a:ext cx="1733120" cy="159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1237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9113E84-D1CB-496C-96D6-1AD8FCE44F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852" y="2417128"/>
            <a:ext cx="7310519" cy="6858000"/>
          </a:xfrm>
          <a:prstGeom prst="rect">
            <a:avLst/>
          </a:prstGeom>
        </p:spPr>
      </p:pic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43323971-C755-434A-BD41-619171027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949014" cy="1325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20B953E-D106-4A57-AF0B-30E930ADA8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382428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31B0F410-B337-4C94-B938-7548A0BA2711}"/>
              </a:ext>
            </a:extLst>
          </p:cNvPr>
          <p:cNvSpPr/>
          <p:nvPr userDrawn="1"/>
        </p:nvSpPr>
        <p:spPr>
          <a:xfrm>
            <a:off x="838200" y="0"/>
            <a:ext cx="2895600" cy="365125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21" name="Объект 2">
            <a:extLst>
              <a:ext uri="{FF2B5EF4-FFF2-40B4-BE49-F238E27FC236}">
                <a16:creationId xmlns:a16="http://schemas.microsoft.com/office/drawing/2014/main" id="{9B702B78-D833-472E-8554-75AE840BE90F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404786" y="1827847"/>
            <a:ext cx="3382428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2" name="Объект 2">
            <a:extLst>
              <a:ext uri="{FF2B5EF4-FFF2-40B4-BE49-F238E27FC236}">
                <a16:creationId xmlns:a16="http://schemas.microsoft.com/office/drawing/2014/main" id="{70CC8E4F-D53E-479C-980E-59A051A5C58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7971372" y="1825625"/>
            <a:ext cx="3382428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DD1A7316-47EA-43C3-976C-2AE3220F099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30454" y="230187"/>
            <a:ext cx="962025" cy="962025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E0E08F9B-6950-4550-A87C-6C7800F7988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66349" y="945853"/>
            <a:ext cx="563065" cy="563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7680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B202C97-1F85-4BF6-96B6-B44EBFDD9A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35972" y="-152400"/>
            <a:ext cx="7310519" cy="6858000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EE229FF7-E7D1-402F-9F97-A4479C921AD7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404786" y="558799"/>
            <a:ext cx="6949014" cy="562038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2D3AC320-2BC7-4B39-80DC-F0D06A98C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24699"/>
            <a:ext cx="3356291" cy="1071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DBBF62A7-CB76-4201-AFD5-C65DA47CE2EB}"/>
              </a:ext>
            </a:extLst>
          </p:cNvPr>
          <p:cNvSpPr/>
          <p:nvPr userDrawn="1"/>
        </p:nvSpPr>
        <p:spPr>
          <a:xfrm rot="5400000">
            <a:off x="-1265238" y="2854962"/>
            <a:ext cx="2895600" cy="365125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rgbClr val="B8A389"/>
              </a:solidFill>
            </a:endParaRPr>
          </a:p>
        </p:txBody>
      </p:sp>
      <p:sp>
        <p:nvSpPr>
          <p:cNvPr id="19" name="Подзаголовок 2">
            <a:extLst>
              <a:ext uri="{FF2B5EF4-FFF2-40B4-BE49-F238E27FC236}">
                <a16:creationId xmlns:a16="http://schemas.microsoft.com/office/drawing/2014/main" id="{22BD306E-F571-4555-AC45-277C87FA32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9788" y="3246122"/>
            <a:ext cx="3356292" cy="107156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B8A389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2224CD73-1AD2-47CA-8688-6D04B7B33B5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85922" y="4541721"/>
            <a:ext cx="476200" cy="47620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54A17FA0-2B36-4198-8AEC-E9B2740150C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28377" y="4485325"/>
            <a:ext cx="409575" cy="409575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553B99D-BC5C-40BE-A25A-DF0DDCDC7AD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63383" y="5241957"/>
            <a:ext cx="942975" cy="942975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3FB2CA3A-2BD3-419B-AC86-4DF1B2F04E2F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421532" y="152400"/>
            <a:ext cx="5969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6008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CD860954-3ED1-49CE-B617-61C85D0FC8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00" y="-1738312"/>
            <a:ext cx="7310519" cy="6858000"/>
          </a:xfrm>
          <a:prstGeom prst="rect">
            <a:avLst/>
          </a:prstGeom>
        </p:spPr>
      </p:pic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890501DD-A3A7-479D-97B6-609A597E9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24699"/>
            <a:ext cx="3356291" cy="1071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AD82E11-AA7E-42FE-89ED-BB1481CBE776}"/>
              </a:ext>
            </a:extLst>
          </p:cNvPr>
          <p:cNvSpPr/>
          <p:nvPr userDrawn="1"/>
        </p:nvSpPr>
        <p:spPr>
          <a:xfrm rot="5400000">
            <a:off x="-1265238" y="2854962"/>
            <a:ext cx="2895600" cy="365125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25" name="Подзаголовок 2">
            <a:extLst>
              <a:ext uri="{FF2B5EF4-FFF2-40B4-BE49-F238E27FC236}">
                <a16:creationId xmlns:a16="http://schemas.microsoft.com/office/drawing/2014/main" id="{3D55C13C-9F95-4B2C-98EE-BA3460C27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9788" y="3246122"/>
            <a:ext cx="3356292" cy="107156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B8A389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9F47CC49-8335-4E58-B739-4BCEF51D7DE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34146" y="4688359"/>
            <a:ext cx="436033" cy="436033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BE13EFE5-C0E8-4429-B3FC-AC9643127DD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97882" y="5332931"/>
            <a:ext cx="673100" cy="673100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B4A1DC1D-ECD9-48EC-AB20-AFF40AB8533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249913" y="323532"/>
            <a:ext cx="711899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6837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rgbClr val="B8A389"/>
              </a:solidFill>
            </a:endParaRPr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A6E8A29-52AD-4BD1-808F-39C7735EF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607282" y="1600200"/>
            <a:ext cx="7310519" cy="6858000"/>
          </a:xfrm>
          <a:prstGeom prst="rect">
            <a:avLst/>
          </a:prstGeom>
        </p:spPr>
      </p:pic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63BBBF77-1802-41C5-8276-9F69E12700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1" u="none" strike="noStrike">
                <a:solidFill>
                  <a:srgbClr val="B8A389"/>
                </a:solidFill>
                <a:effectLst/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9" name="Подзаголовок 2">
            <a:extLst>
              <a:ext uri="{FF2B5EF4-FFF2-40B4-BE49-F238E27FC236}">
                <a16:creationId xmlns:a16="http://schemas.microsoft.com/office/drawing/2014/main" id="{9A977234-724D-4967-94B4-C8B2479296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0C8C1255-9948-487E-A9DE-2B48E5FBB5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65165" y="-156727"/>
            <a:ext cx="3153834" cy="204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0161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Беж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3FFA702-AFB7-47CE-9126-B6593F6A8D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607282" y="1600200"/>
            <a:ext cx="7310519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4496B1-839C-4F28-B9BE-854655EFF2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1" u="none" strike="noStrike">
                <a:solidFill>
                  <a:srgbClr val="B8A389"/>
                </a:solidFill>
                <a:effectLst/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CDD15C0-FEB1-4DBB-BBFF-68C1EAB3F6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0793F36-A140-4C27-939D-4F196E3822A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65165" y="-156727"/>
            <a:ext cx="3153834" cy="2041090"/>
          </a:xfrm>
          <a:prstGeom prst="rect">
            <a:avLst/>
          </a:prstGeom>
        </p:spPr>
      </p:pic>
      <p:sp>
        <p:nvSpPr>
          <p:cNvPr id="4" name="Прямоугольник 2">
            <a:extLst>
              <a:ext uri="{FF2B5EF4-FFF2-40B4-BE49-F238E27FC236}">
                <a16:creationId xmlns:a16="http://schemas.microsoft.com/office/drawing/2014/main" id="{21299876-26E2-09CB-0AF5-59EEFE6C4AA2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7" name="Текст 14">
            <a:extLst>
              <a:ext uri="{FF2B5EF4-FFF2-40B4-BE49-F238E27FC236}">
                <a16:creationId xmlns:a16="http://schemas.microsoft.com/office/drawing/2014/main" id="{B2D29A15-58C4-5CF7-47DF-A87B6375B2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1750" y="6176963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081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702C23-C3A3-9D2A-A68A-CBC7B7DCDD8B}"/>
              </a:ext>
            </a:extLst>
          </p:cNvPr>
          <p:cNvSpPr txBox="1"/>
          <p:nvPr userDrawn="1"/>
        </p:nvSpPr>
        <p:spPr>
          <a:xfrm>
            <a:off x="10762735" y="6164818"/>
            <a:ext cx="71669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dirty="0">
                <a:solidFill>
                  <a:schemeClr val="bg2">
                    <a:lumMod val="25000"/>
                    <a:alpha val="33226"/>
                  </a:schemeClr>
                </a:solidFill>
                <a:effectLst>
                  <a:outerShdw blurRad="50800" dist="50800" dir="5400000" algn="ctr" rotWithShape="0">
                    <a:srgbClr val="000000">
                      <a:alpha val="0"/>
                    </a:srgbClr>
                  </a:outerShdw>
                </a:effectLst>
              </a:rPr>
              <a:t>автор</a:t>
            </a:r>
          </a:p>
          <a:p>
            <a:r>
              <a:rPr lang="ru-RU" sz="900" dirty="0">
                <a:solidFill>
                  <a:schemeClr val="bg2">
                    <a:lumMod val="25000"/>
                    <a:alpha val="33226"/>
                  </a:schemeClr>
                </a:solidFill>
                <a:effectLst>
                  <a:outerShdw blurRad="50800" dist="50800" dir="5400000" algn="ctr" rotWithShape="0">
                    <a:srgbClr val="000000">
                      <a:alpha val="0"/>
                    </a:srgbClr>
                  </a:outerShdw>
                </a:effectLst>
              </a:rPr>
              <a:t> Екатерина</a:t>
            </a:r>
          </a:p>
          <a:p>
            <a:r>
              <a:rPr lang="ru-RU" sz="900" dirty="0" err="1">
                <a:solidFill>
                  <a:schemeClr val="bg2">
                    <a:lumMod val="25000"/>
                    <a:alpha val="33226"/>
                  </a:schemeClr>
                </a:solidFill>
                <a:effectLst>
                  <a:outerShdw blurRad="50800" dist="50800" dir="5400000" algn="ctr" rotWithShape="0">
                    <a:srgbClr val="000000">
                      <a:alpha val="0"/>
                    </a:srgbClr>
                  </a:outerShdw>
                </a:effectLst>
              </a:rPr>
              <a:t>Лаптюхова</a:t>
            </a:r>
            <a:endParaRPr lang="en-US" dirty="0">
              <a:solidFill>
                <a:schemeClr val="bg2">
                  <a:lumMod val="25000"/>
                  <a:alpha val="33226"/>
                </a:schemeClr>
              </a:solidFill>
              <a:effectLst>
                <a:outerShdw blurRad="50800" dist="50800" dir="5400000" algn="ctr" rotWithShape="0">
                  <a:srgbClr val="000000">
                    <a:alpha val="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74398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8" r:id="rId8"/>
    <p:sldLayoutId id="2147483669" r:id="rId9"/>
    <p:sldLayoutId id="2147483670" r:id="rId10"/>
    <p:sldLayoutId id="214748368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557619-B362-84B8-82DF-828C6577D311}"/>
              </a:ext>
            </a:extLst>
          </p:cNvPr>
          <p:cNvSpPr txBox="1"/>
          <p:nvPr userDrawn="1"/>
        </p:nvSpPr>
        <p:spPr>
          <a:xfrm>
            <a:off x="10762735" y="6164818"/>
            <a:ext cx="71669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dirty="0">
                <a:solidFill>
                  <a:schemeClr val="bg2">
                    <a:lumMod val="25000"/>
                    <a:alpha val="33226"/>
                  </a:schemeClr>
                </a:solidFill>
                <a:effectLst>
                  <a:outerShdw blurRad="50800" dist="50800" dir="5400000" algn="ctr" rotWithShape="0">
                    <a:srgbClr val="000000">
                      <a:alpha val="0"/>
                    </a:srgbClr>
                  </a:outerShdw>
                </a:effectLst>
              </a:rPr>
              <a:t>автор</a:t>
            </a:r>
          </a:p>
          <a:p>
            <a:r>
              <a:rPr lang="ru-RU" sz="900" dirty="0">
                <a:solidFill>
                  <a:schemeClr val="bg2">
                    <a:lumMod val="25000"/>
                    <a:alpha val="33226"/>
                  </a:schemeClr>
                </a:solidFill>
                <a:effectLst>
                  <a:outerShdw blurRad="50800" dist="50800" dir="5400000" algn="ctr" rotWithShape="0">
                    <a:srgbClr val="000000">
                      <a:alpha val="0"/>
                    </a:srgbClr>
                  </a:outerShdw>
                </a:effectLst>
              </a:rPr>
              <a:t> Екатерина</a:t>
            </a:r>
          </a:p>
          <a:p>
            <a:r>
              <a:rPr lang="ru-RU" sz="900" dirty="0" err="1">
                <a:solidFill>
                  <a:schemeClr val="bg2">
                    <a:lumMod val="25000"/>
                    <a:alpha val="33226"/>
                  </a:schemeClr>
                </a:solidFill>
                <a:effectLst>
                  <a:outerShdw blurRad="50800" dist="50800" dir="5400000" algn="ctr" rotWithShape="0">
                    <a:srgbClr val="000000">
                      <a:alpha val="0"/>
                    </a:srgbClr>
                  </a:outerShdw>
                </a:effectLst>
              </a:rPr>
              <a:t>Лаптюхова</a:t>
            </a:r>
            <a:endParaRPr lang="en-US" dirty="0">
              <a:solidFill>
                <a:schemeClr val="bg2">
                  <a:lumMod val="25000"/>
                  <a:alpha val="33226"/>
                </a:schemeClr>
              </a:solidFill>
              <a:effectLst>
                <a:outerShdw blurRad="50800" dist="50800" dir="5400000" algn="ctr" rotWithShape="0">
                  <a:srgbClr val="000000">
                    <a:alpha val="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92249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4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8066B2-AA76-45AF-B850-CC7F3E74D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76489"/>
            <a:ext cx="9144000" cy="1105021"/>
          </a:xfrm>
        </p:spPr>
        <p:txBody>
          <a:bodyPr/>
          <a:lstStyle/>
          <a:p>
            <a:r>
              <a:rPr lang="ru-RU" dirty="0"/>
              <a:t>Разомнемся</a:t>
            </a:r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153676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65697284-F5F3-437C-A3B9-B0DBA3B62F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01</a:t>
            </a:r>
            <a:endParaRPr lang="ru-UA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C6BE3E3-9FAC-4CEA-BC00-693C4814CA0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574431"/>
            <a:ext cx="10515600" cy="970590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ru-RU" sz="1800" dirty="0">
                <a:solidFill>
                  <a:srgbClr val="1E628F"/>
                </a:solidFill>
                <a:latin typeface="Montserrat" pitchFamily="2" charset="77"/>
              </a:rPr>
              <a:t>В форме регистрации есть поле «Рост»,</a:t>
            </a:r>
          </a:p>
          <a:p>
            <a:pPr marL="0" indent="0">
              <a:buNone/>
            </a:pPr>
            <a:r>
              <a:rPr lang="ru-RU" sz="1800" dirty="0">
                <a:solidFill>
                  <a:srgbClr val="1E628F"/>
                </a:solidFill>
                <a:latin typeface="Montserrat" pitchFamily="2" charset="77"/>
              </a:rPr>
              <a:t>Необходимо протестировать данное поле предварительно выяснив все требования.</a:t>
            </a:r>
            <a:endParaRPr lang="ru-UA" sz="1800">
              <a:solidFill>
                <a:srgbClr val="1E628F"/>
              </a:solidFill>
              <a:latin typeface="Montserrat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DC17E9-CF0D-06F7-A30A-656D9F0349D4}"/>
              </a:ext>
            </a:extLst>
          </p:cNvPr>
          <p:cNvSpPr txBox="1"/>
          <p:nvPr/>
        </p:nvSpPr>
        <p:spPr>
          <a:xfrm>
            <a:off x="914400" y="1545021"/>
            <a:ext cx="4487917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ru-RU" sz="1400" dirty="0">
                <a:latin typeface="Montserrat" pitchFamily="2" charset="77"/>
              </a:rPr>
              <a:t>См</a:t>
            </a:r>
          </a:p>
          <a:p>
            <a:pPr marL="285750" indent="-285750">
              <a:buFontTx/>
              <a:buChar char="-"/>
            </a:pPr>
            <a:r>
              <a:rPr lang="ru-RU" sz="1400" dirty="0">
                <a:latin typeface="Montserrat" pitchFamily="2" charset="77"/>
              </a:rPr>
              <a:t>Физическое: От 2 до 5 символов</a:t>
            </a:r>
          </a:p>
          <a:p>
            <a:pPr marL="285750" indent="-285750">
              <a:buFontTx/>
              <a:buChar char="-"/>
            </a:pPr>
            <a:r>
              <a:rPr lang="ru-RU" sz="1400" dirty="0">
                <a:latin typeface="Montserrat" pitchFamily="2" charset="77"/>
              </a:rPr>
              <a:t>Дробные через запятую</a:t>
            </a:r>
          </a:p>
          <a:p>
            <a:pPr marL="285750" indent="-285750">
              <a:buFontTx/>
              <a:buChar char="-"/>
            </a:pPr>
            <a:r>
              <a:rPr lang="ru-RU" sz="1400" dirty="0">
                <a:latin typeface="Montserrat" pitchFamily="2" charset="77"/>
              </a:rPr>
              <a:t>Обязательно</a:t>
            </a:r>
          </a:p>
          <a:p>
            <a:pPr marL="285750" indent="-285750">
              <a:buFontTx/>
              <a:buChar char="-"/>
            </a:pPr>
            <a:r>
              <a:rPr lang="ru-RU" sz="1400" dirty="0">
                <a:latin typeface="Montserrat" pitchFamily="2" charset="77"/>
              </a:rPr>
              <a:t>Ошибка</a:t>
            </a:r>
          </a:p>
          <a:p>
            <a:pPr marL="285750" indent="-285750">
              <a:buFontTx/>
              <a:buChar char="-"/>
            </a:pPr>
            <a:r>
              <a:rPr lang="ru-RU" sz="1400" dirty="0">
                <a:latin typeface="Montserrat" pitchFamily="2" charset="77"/>
              </a:rPr>
              <a:t>Буквы нельзя (не дает вводить)</a:t>
            </a:r>
          </a:p>
          <a:p>
            <a:pPr marL="285750" indent="-285750">
              <a:buFontTx/>
              <a:buChar char="-"/>
            </a:pPr>
            <a:r>
              <a:rPr lang="ru-RU" sz="1400" dirty="0">
                <a:latin typeface="Montserrat" pitchFamily="2" charset="77"/>
              </a:rPr>
              <a:t>1 символ после запятой</a:t>
            </a:r>
          </a:p>
          <a:p>
            <a:pPr marL="285750" indent="-285750">
              <a:buFontTx/>
              <a:buChar char="-"/>
            </a:pPr>
            <a:r>
              <a:rPr lang="ru-RU" sz="1400" dirty="0">
                <a:latin typeface="Montserrat" pitchFamily="2" charset="77"/>
              </a:rPr>
              <a:t>Не дает ввести пробелы</a:t>
            </a:r>
          </a:p>
          <a:p>
            <a:pPr marL="285750" indent="-285750">
              <a:buFontTx/>
              <a:buChar char="-"/>
            </a:pPr>
            <a:r>
              <a:rPr lang="ru-RU" sz="1400" dirty="0">
                <a:latin typeface="Montserrat" pitchFamily="2" charset="77"/>
              </a:rPr>
              <a:t>Сс, иероглифы – нельзя (только запятая)</a:t>
            </a:r>
          </a:p>
          <a:p>
            <a:pPr marL="285750" indent="-285750">
              <a:buFontTx/>
              <a:buChar char="-"/>
            </a:pPr>
            <a:r>
              <a:rPr lang="ru-RU" sz="1400" dirty="0">
                <a:latin typeface="Montserrat" pitchFamily="2" charset="77"/>
              </a:rPr>
              <a:t>Копипаст – можно</a:t>
            </a:r>
          </a:p>
          <a:p>
            <a:pPr marL="285750" indent="-285750">
              <a:buFontTx/>
              <a:buChar char="-"/>
            </a:pPr>
            <a:r>
              <a:rPr lang="ru-RU" sz="1400" dirty="0">
                <a:latin typeface="Montserrat" pitchFamily="2" charset="77"/>
              </a:rPr>
              <a:t>Логическое: 90 – 200 см</a:t>
            </a:r>
          </a:p>
          <a:p>
            <a:pPr marL="285750" indent="-285750">
              <a:buFontTx/>
              <a:buChar char="-"/>
            </a:pPr>
            <a:endParaRPr lang="en-US" sz="1400" dirty="0">
              <a:latin typeface="Montserrat" pitchFamily="2" charset="77"/>
            </a:endParaRPr>
          </a:p>
          <a:p>
            <a:pPr marL="285750" indent="-285750">
              <a:buFontTx/>
              <a:buChar char="-"/>
            </a:pPr>
            <a:endParaRPr lang="ru-RU" sz="1400" dirty="0">
              <a:latin typeface="Montserrat" pitchFamily="2" charset="77"/>
            </a:endParaRPr>
          </a:p>
          <a:p>
            <a:pPr marL="285750" indent="-285750">
              <a:buFontTx/>
              <a:buChar char="-"/>
            </a:pPr>
            <a:r>
              <a:rPr lang="ru-RU" sz="1400" dirty="0">
                <a:latin typeface="Montserrat" pitchFamily="2" charset="77"/>
              </a:rPr>
              <a:t>140</a:t>
            </a:r>
          </a:p>
          <a:p>
            <a:pPr marL="285750" indent="-285750">
              <a:buFontTx/>
              <a:buChar char="-"/>
            </a:pPr>
            <a:r>
              <a:rPr lang="ru-RU" sz="1400" dirty="0">
                <a:latin typeface="Montserrat" pitchFamily="2" charset="77"/>
              </a:rPr>
              <a:t>140</a:t>
            </a:r>
            <a:r>
              <a:rPr lang="en-US" sz="1400" dirty="0">
                <a:latin typeface="Montserrat" pitchFamily="2" charset="77"/>
              </a:rPr>
              <a:t>,1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latin typeface="Montserrat" pitchFamily="2" charset="77"/>
              </a:rPr>
              <a:t>90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latin typeface="Montserrat" pitchFamily="2" charset="77"/>
              </a:rPr>
              <a:t>200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latin typeface="Montserrat" pitchFamily="2" charset="77"/>
              </a:rPr>
              <a:t>89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latin typeface="Montserrat" pitchFamily="2" charset="77"/>
              </a:rPr>
              <a:t>201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latin typeface="Montserrat" pitchFamily="2" charset="77"/>
              </a:rPr>
              <a:t>199,9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latin typeface="Montserrat" pitchFamily="2" charset="77"/>
              </a:rPr>
              <a:t>90,1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latin typeface="Montserrat" pitchFamily="2" charset="77"/>
              </a:rPr>
              <a:t>89,9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latin typeface="Montserrat" pitchFamily="2" charset="77"/>
              </a:rPr>
              <a:t>200,1</a:t>
            </a:r>
            <a:endParaRPr lang="ru-RU" sz="1400" dirty="0">
              <a:latin typeface="Montserrat" pitchFamily="2" charset="77"/>
            </a:endParaRPr>
          </a:p>
          <a:p>
            <a:pPr marL="285750" indent="-285750">
              <a:buFontTx/>
              <a:buChar char="-"/>
            </a:pPr>
            <a:endParaRPr lang="ru-RU" sz="1400" dirty="0">
              <a:latin typeface="Montserrat" pitchFamily="2" charset="77"/>
            </a:endParaRPr>
          </a:p>
          <a:p>
            <a:pPr marL="285750" indent="-285750">
              <a:buFontTx/>
              <a:buChar char="-"/>
            </a:pPr>
            <a:endParaRPr lang="ru-RU" sz="1400" dirty="0">
              <a:latin typeface="Montserrat" pitchFamily="2" charset="77"/>
            </a:endParaRPr>
          </a:p>
          <a:p>
            <a:pPr marL="285750" indent="-285750">
              <a:buFontTx/>
              <a:buChar char="-"/>
            </a:pPr>
            <a:endParaRPr lang="en-US" sz="1400" dirty="0">
              <a:latin typeface="Montserrat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C94BE8-9D5B-E1C3-2E34-EC2511839EC6}"/>
              </a:ext>
            </a:extLst>
          </p:cNvPr>
          <p:cNvSpPr txBox="1"/>
          <p:nvPr/>
        </p:nvSpPr>
        <p:spPr>
          <a:xfrm>
            <a:off x="5948855" y="1545021"/>
            <a:ext cx="4298731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ru-RU" sz="1400" dirty="0">
                <a:latin typeface="Montserrat" pitchFamily="2" charset="77"/>
              </a:rPr>
              <a:t>Копипаст (позитивный, негативный)</a:t>
            </a:r>
          </a:p>
          <a:p>
            <a:pPr marL="285750" indent="-285750">
              <a:buFontTx/>
              <a:buChar char="-"/>
            </a:pPr>
            <a:r>
              <a:rPr lang="ru-RU" sz="1400" dirty="0">
                <a:latin typeface="Montserrat" pitchFamily="2" charset="77"/>
              </a:rPr>
              <a:t>090</a:t>
            </a:r>
          </a:p>
          <a:p>
            <a:pPr marL="285750" indent="-285750">
              <a:buFontTx/>
              <a:buChar char="-"/>
            </a:pPr>
            <a:r>
              <a:rPr lang="ru-RU" sz="1400" dirty="0">
                <a:latin typeface="Montserrat" pitchFamily="2" charset="77"/>
              </a:rPr>
              <a:t>90</a:t>
            </a:r>
            <a:r>
              <a:rPr lang="en-US" sz="1400" dirty="0">
                <a:latin typeface="Montserrat" pitchFamily="2" charset="77"/>
              </a:rPr>
              <a:t>,01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latin typeface="Montserrat" pitchFamily="2" charset="77"/>
              </a:rPr>
              <a:t>200,0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latin typeface="Montserrat" pitchFamily="2" charset="77"/>
              </a:rPr>
              <a:t>90,0</a:t>
            </a:r>
          </a:p>
          <a:p>
            <a:pPr marL="285750" indent="-285750">
              <a:buFontTx/>
              <a:buChar char="-"/>
            </a:pPr>
            <a:r>
              <a:rPr lang="ru-RU" sz="1400" dirty="0">
                <a:latin typeface="Montserrat" pitchFamily="2" charset="77"/>
              </a:rPr>
              <a:t>1</a:t>
            </a:r>
          </a:p>
          <a:p>
            <a:pPr marL="285750" indent="-285750">
              <a:buFontTx/>
              <a:buChar char="-"/>
            </a:pPr>
            <a:r>
              <a:rPr lang="ru-RU" sz="1400" dirty="0">
                <a:latin typeface="Montserrat" pitchFamily="2" charset="77"/>
              </a:rPr>
              <a:t>111111</a:t>
            </a:r>
            <a:endParaRPr lang="en-US" sz="1400" dirty="0">
              <a:latin typeface="Montserrat" pitchFamily="2" charset="77"/>
            </a:endParaRPr>
          </a:p>
          <a:p>
            <a:pPr marL="285750" indent="-285750">
              <a:buFontTx/>
              <a:buChar char="-"/>
            </a:pPr>
            <a:r>
              <a:rPr lang="en-US" sz="1400" dirty="0">
                <a:latin typeface="Montserrat" pitchFamily="2" charset="77"/>
              </a:rPr>
              <a:t>199,99 -&gt; 140,65 -&gt; 140,30 -&gt; 129,400000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latin typeface="Montserrat" pitchFamily="2" charset="77"/>
              </a:rPr>
              <a:t>0,001</a:t>
            </a:r>
            <a:endParaRPr lang="ru-RU" sz="1400" dirty="0">
              <a:latin typeface="Montserrat" pitchFamily="2" charset="77"/>
            </a:endParaRPr>
          </a:p>
          <a:p>
            <a:pPr marL="285750" indent="-285750">
              <a:buFontTx/>
              <a:buChar char="-"/>
            </a:pPr>
            <a:r>
              <a:rPr lang="en-US" sz="1400" dirty="0">
                <a:latin typeface="Montserrat" pitchFamily="2" charset="77"/>
              </a:rPr>
              <a:t>,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latin typeface="Montserrat" pitchFamily="2" charset="77"/>
              </a:rPr>
              <a:t>125,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latin typeface="Montserrat" pitchFamily="2" charset="77"/>
              </a:rPr>
              <a:t>99999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latin typeface="Montserrat" pitchFamily="2" charset="77"/>
              </a:rPr>
              <a:t>0</a:t>
            </a:r>
          </a:p>
          <a:p>
            <a:pPr marL="285750" indent="-285750">
              <a:buFontTx/>
              <a:buChar char="-"/>
            </a:pPr>
            <a:r>
              <a:rPr lang="ru-RU" sz="1400" dirty="0">
                <a:latin typeface="Montserrat" pitchFamily="2" charset="77"/>
              </a:rPr>
              <a:t>Алфавиты, иероглифы, сс </a:t>
            </a:r>
          </a:p>
          <a:p>
            <a:pPr marL="285750" indent="-285750">
              <a:buFontTx/>
              <a:buChar char="-"/>
            </a:pPr>
            <a:r>
              <a:rPr lang="ru-RU" sz="1400" dirty="0">
                <a:latin typeface="Montserrat" pitchFamily="2" charset="77"/>
              </a:rPr>
              <a:t>15</a:t>
            </a:r>
            <a:r>
              <a:rPr lang="en-US" sz="1400" dirty="0">
                <a:latin typeface="Montserrat" pitchFamily="2" charset="77"/>
              </a:rPr>
              <a:t>O (o – </a:t>
            </a:r>
            <a:r>
              <a:rPr lang="ru-RU" sz="1400" dirty="0">
                <a:latin typeface="Montserrat" pitchFamily="2" charset="77"/>
              </a:rPr>
              <a:t>буква)</a:t>
            </a:r>
          </a:p>
          <a:p>
            <a:pPr marL="285750" indent="-285750">
              <a:buFontTx/>
              <a:buChar char="-"/>
            </a:pPr>
            <a:r>
              <a:rPr lang="ru-RU" sz="1400" dirty="0">
                <a:latin typeface="Montserrat" pitchFamily="2" charset="77"/>
              </a:rPr>
              <a:t>Сто</a:t>
            </a:r>
          </a:p>
          <a:p>
            <a:pPr marL="285750" indent="-285750">
              <a:buFontTx/>
              <a:buChar char="-"/>
            </a:pPr>
            <a:r>
              <a:rPr lang="ru-RU" sz="1400" dirty="0">
                <a:latin typeface="Montserrat" pitchFamily="2" charset="77"/>
              </a:rPr>
              <a:t>140см</a:t>
            </a:r>
          </a:p>
          <a:p>
            <a:pPr marL="285750" indent="-285750">
              <a:buFontTx/>
              <a:buChar char="-"/>
            </a:pPr>
            <a:r>
              <a:rPr lang="ru-RU" sz="1400" dirty="0">
                <a:latin typeface="Montserrat" pitchFamily="2" charset="77"/>
              </a:rPr>
              <a:t>148.4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latin typeface="Montserrat" pitchFamily="2" charset="77"/>
              </a:rPr>
              <a:t>,,,,</a:t>
            </a:r>
          </a:p>
          <a:p>
            <a:pPr marL="285750" indent="-285750">
              <a:buFontTx/>
              <a:buChar char="-"/>
            </a:pPr>
            <a:r>
              <a:rPr lang="ru-RU" sz="1400" dirty="0">
                <a:latin typeface="Montserrat" pitchFamily="2" charset="77"/>
              </a:rPr>
              <a:t>Пробелы</a:t>
            </a:r>
          </a:p>
          <a:p>
            <a:pPr marL="285750" indent="-285750">
              <a:buFontTx/>
              <a:buChar char="-"/>
            </a:pPr>
            <a:r>
              <a:rPr lang="ru-RU" sz="1400" dirty="0">
                <a:latin typeface="Montserrat" pitchFamily="2" charset="77"/>
              </a:rPr>
              <a:t>Пустое значение</a:t>
            </a:r>
          </a:p>
          <a:p>
            <a:pPr marL="285750" indent="-285750">
              <a:buFontTx/>
              <a:buChar char="-"/>
            </a:pPr>
            <a:r>
              <a:rPr lang="ru-RU" sz="1400" dirty="0">
                <a:latin typeface="Montserrat" pitchFamily="2" charset="77"/>
              </a:rPr>
              <a:t>Переполнение</a:t>
            </a:r>
          </a:p>
          <a:p>
            <a:pPr marL="285750" indent="-285750">
              <a:buFontTx/>
              <a:buChar char="-"/>
            </a:pPr>
            <a:endParaRPr lang="ru-RU" sz="1400" dirty="0">
              <a:latin typeface="Montserrat" pitchFamily="2" charset="77"/>
            </a:endParaRPr>
          </a:p>
          <a:p>
            <a:pPr marL="285750" indent="-285750">
              <a:buFontTx/>
              <a:buChar char="-"/>
            </a:pPr>
            <a:endParaRPr lang="en-US" sz="1400" dirty="0">
              <a:latin typeface="Montserrat" pitchFamily="2" charset="77"/>
            </a:endParaRPr>
          </a:p>
          <a:p>
            <a:pPr marL="285750" indent="-285750">
              <a:buFontTx/>
              <a:buChar char="-"/>
            </a:pPr>
            <a:endParaRPr lang="ru-RU" sz="1400" dirty="0">
              <a:latin typeface="Montserrat" pitchFamily="2" charset="77"/>
            </a:endParaRPr>
          </a:p>
          <a:p>
            <a:pPr marL="285750" indent="-285750">
              <a:buFontTx/>
              <a:buChar char="-"/>
            </a:pPr>
            <a:endParaRPr lang="en-US" sz="1400" dirty="0"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226413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B40C1F-B11F-4E8B-921D-86405DC29F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9938" y="2601119"/>
            <a:ext cx="10515600" cy="1655762"/>
          </a:xfrm>
        </p:spPr>
        <p:txBody>
          <a:bodyPr/>
          <a:lstStyle/>
          <a:p>
            <a:r>
              <a:rPr lang="ru-RU" dirty="0"/>
              <a:t>Особенности тестирования мобильных приложений</a:t>
            </a:r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61247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1">
            <a:extLst>
              <a:ext uri="{FF2B5EF4-FFF2-40B4-BE49-F238E27FC236}">
                <a16:creationId xmlns:a16="http://schemas.microsoft.com/office/drawing/2014/main" id="{3667F8C9-D478-D83B-2064-89C7D11EAE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77402" y="6176962"/>
            <a:ext cx="569913" cy="528637"/>
          </a:xfrm>
        </p:spPr>
        <p:txBody>
          <a:bodyPr/>
          <a:lstStyle/>
          <a:p>
            <a:r>
              <a:rPr lang="ru-RU" dirty="0"/>
              <a:t>02</a:t>
            </a:r>
            <a:endParaRPr lang="ru-U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5F4217-5E1B-8794-EB15-3ACDF768EFC1}"/>
              </a:ext>
            </a:extLst>
          </p:cNvPr>
          <p:cNvSpPr txBox="1"/>
          <p:nvPr/>
        </p:nvSpPr>
        <p:spPr>
          <a:xfrm>
            <a:off x="621323" y="644768"/>
            <a:ext cx="10574725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A5937C"/>
                </a:solidFill>
                <a:latin typeface="Montserrat" pitchFamily="2" charset="77"/>
              </a:rPr>
              <a:t>🔧 1. </a:t>
            </a:r>
            <a:r>
              <a:rPr lang="ru-RU" sz="1600" b="1" dirty="0">
                <a:solidFill>
                  <a:srgbClr val="A5937C"/>
                </a:solidFill>
                <a:latin typeface="Montserrat" pitchFamily="2" charset="77"/>
              </a:rPr>
              <a:t>Множество устройств (</a:t>
            </a:r>
            <a:r>
              <a:rPr lang="en-US" sz="1600" b="1" dirty="0">
                <a:solidFill>
                  <a:srgbClr val="A5937C"/>
                </a:solidFill>
                <a:latin typeface="Montserrat" pitchFamily="2" charset="77"/>
              </a:rPr>
              <a:t>Device Fragmentation)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A5937C"/>
                </a:solidFill>
                <a:latin typeface="Montserrat" pitchFamily="2" charset="77"/>
              </a:rPr>
              <a:t>Разнообразие </a:t>
            </a:r>
            <a:r>
              <a:rPr lang="ru-RU" sz="1600" b="1" dirty="0">
                <a:solidFill>
                  <a:srgbClr val="A5937C"/>
                </a:solidFill>
                <a:latin typeface="Montserrat" pitchFamily="2" charset="77"/>
              </a:rPr>
              <a:t>ОС</a:t>
            </a:r>
            <a:r>
              <a:rPr lang="ru-RU" sz="1600" dirty="0">
                <a:solidFill>
                  <a:srgbClr val="A5937C"/>
                </a:solidFill>
                <a:latin typeface="Montserrat" pitchFamily="2" charset="77"/>
              </a:rPr>
              <a:t>: </a:t>
            </a:r>
            <a:r>
              <a:rPr lang="en-US" sz="1600" dirty="0">
                <a:solidFill>
                  <a:srgbClr val="A5937C"/>
                </a:solidFill>
                <a:latin typeface="Montserrat" pitchFamily="2" charset="77"/>
              </a:rPr>
              <a:t>Android, iOS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A5937C"/>
                </a:solidFill>
                <a:latin typeface="Montserrat" pitchFamily="2" charset="77"/>
              </a:rPr>
              <a:t>Разные </a:t>
            </a:r>
            <a:r>
              <a:rPr lang="ru-RU" sz="1600" b="1" dirty="0">
                <a:solidFill>
                  <a:srgbClr val="A5937C"/>
                </a:solidFill>
                <a:latin typeface="Montserrat" pitchFamily="2" charset="77"/>
              </a:rPr>
              <a:t>размеры</a:t>
            </a:r>
            <a:r>
              <a:rPr lang="ru-RU" sz="1600" dirty="0">
                <a:solidFill>
                  <a:srgbClr val="A5937C"/>
                </a:solidFill>
                <a:latin typeface="Montserrat" pitchFamily="2" charset="77"/>
              </a:rPr>
              <a:t> </a:t>
            </a:r>
            <a:r>
              <a:rPr lang="ru-RU" sz="1600" b="1" dirty="0">
                <a:solidFill>
                  <a:srgbClr val="A5937C"/>
                </a:solidFill>
                <a:latin typeface="Montserrat" pitchFamily="2" charset="77"/>
              </a:rPr>
              <a:t>экранов</a:t>
            </a:r>
            <a:r>
              <a:rPr lang="ru-RU" sz="1600" dirty="0">
                <a:solidFill>
                  <a:srgbClr val="A5937C"/>
                </a:solidFill>
                <a:latin typeface="Montserrat" pitchFamily="2" charset="77"/>
              </a:rPr>
              <a:t>, </a:t>
            </a:r>
            <a:r>
              <a:rPr lang="en-US" sz="1600" dirty="0">
                <a:solidFill>
                  <a:srgbClr val="A5937C"/>
                </a:solidFill>
                <a:latin typeface="Montserrat" pitchFamily="2" charset="77"/>
              </a:rPr>
              <a:t>DPI, </a:t>
            </a:r>
            <a:r>
              <a:rPr lang="ru-RU" sz="1600" dirty="0">
                <a:solidFill>
                  <a:srgbClr val="A5937C"/>
                </a:solidFill>
                <a:latin typeface="Montserrat" pitchFamily="2" charset="77"/>
              </a:rPr>
              <a:t>разрешения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A5937C"/>
                </a:solidFill>
                <a:latin typeface="Montserrat" pitchFamily="2" charset="77"/>
              </a:rPr>
              <a:t>Различные </a:t>
            </a:r>
            <a:r>
              <a:rPr lang="ru-RU" sz="1600" b="1" dirty="0">
                <a:solidFill>
                  <a:srgbClr val="A5937C"/>
                </a:solidFill>
                <a:latin typeface="Montserrat" pitchFamily="2" charset="77"/>
              </a:rPr>
              <a:t>производители</a:t>
            </a:r>
            <a:r>
              <a:rPr lang="ru-RU" sz="1600" dirty="0">
                <a:solidFill>
                  <a:srgbClr val="A5937C"/>
                </a:solidFill>
                <a:latin typeface="Montserrat" pitchFamily="2" charset="77"/>
              </a:rPr>
              <a:t> устройств (</a:t>
            </a:r>
            <a:r>
              <a:rPr lang="en-US" sz="1600" dirty="0">
                <a:solidFill>
                  <a:srgbClr val="A5937C"/>
                </a:solidFill>
                <a:latin typeface="Montserrat" pitchFamily="2" charset="77"/>
              </a:rPr>
              <a:t>Android)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A5937C"/>
                </a:solidFill>
                <a:latin typeface="Montserrat" pitchFamily="2" charset="77"/>
              </a:rPr>
              <a:t>Различные </a:t>
            </a:r>
            <a:r>
              <a:rPr lang="ru-RU" sz="1600" b="1" dirty="0">
                <a:solidFill>
                  <a:srgbClr val="A5937C"/>
                </a:solidFill>
                <a:latin typeface="Montserrat" pitchFamily="2" charset="77"/>
              </a:rPr>
              <a:t>версии ОС</a:t>
            </a:r>
          </a:p>
          <a:p>
            <a:endParaRPr lang="ru-RU" sz="1600" dirty="0">
              <a:solidFill>
                <a:srgbClr val="A5937C"/>
              </a:solidFill>
              <a:latin typeface="Montserrat" pitchFamily="2" charset="77"/>
            </a:endParaRPr>
          </a:p>
          <a:p>
            <a:r>
              <a:rPr lang="en-US" sz="1600" dirty="0">
                <a:solidFill>
                  <a:srgbClr val="A5937C"/>
                </a:solidFill>
                <a:latin typeface="Montserrat" pitchFamily="2" charset="77"/>
              </a:rPr>
              <a:t>📶 </a:t>
            </a:r>
            <a:r>
              <a:rPr lang="en-US" sz="1600" b="1" dirty="0">
                <a:solidFill>
                  <a:srgbClr val="A5937C"/>
                </a:solidFill>
                <a:latin typeface="Montserrat" pitchFamily="2" charset="77"/>
              </a:rPr>
              <a:t>2.</a:t>
            </a:r>
            <a:r>
              <a:rPr lang="ru-RU" sz="1600" b="1" dirty="0">
                <a:solidFill>
                  <a:srgbClr val="A5937C"/>
                </a:solidFill>
                <a:latin typeface="Montserrat" pitchFamily="2" charset="77"/>
              </a:rPr>
              <a:t> Ресурсы девайса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A5937C"/>
                </a:solidFill>
                <a:latin typeface="Montserrat" pitchFamily="2" charset="77"/>
              </a:rPr>
              <a:t>Батарея: </a:t>
            </a:r>
            <a:r>
              <a:rPr lang="ru-RU" sz="1600" dirty="0">
                <a:solidFill>
                  <a:srgbClr val="A5937C"/>
                </a:solidFill>
                <a:latin typeface="Montserrat" pitchFamily="2" charset="77"/>
              </a:rPr>
              <a:t>приложение не должно сильно её расходовать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A5937C"/>
                </a:solidFill>
                <a:latin typeface="Montserrat" pitchFamily="2" charset="77"/>
              </a:rPr>
              <a:t>Память:</a:t>
            </a:r>
            <a:r>
              <a:rPr lang="ru-RU" sz="1600" dirty="0">
                <a:solidFill>
                  <a:srgbClr val="A5937C"/>
                </a:solidFill>
                <a:latin typeface="Montserrat" pitchFamily="2" charset="77"/>
              </a:rPr>
              <a:t> важно оптимизировать использование ОЗУ и хранилища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A5937C"/>
                </a:solidFill>
                <a:latin typeface="Montserrat" pitchFamily="2" charset="77"/>
              </a:rPr>
              <a:t>Процессор:</a:t>
            </a:r>
            <a:r>
              <a:rPr lang="ru-RU" sz="1600" dirty="0">
                <a:solidFill>
                  <a:srgbClr val="A5937C"/>
                </a:solidFill>
                <a:latin typeface="Montserrat" pitchFamily="2" charset="77"/>
              </a:rPr>
              <a:t> нагрузка не должна вызывать перегрев и торможения</a:t>
            </a:r>
          </a:p>
          <a:p>
            <a:pPr lvl="1"/>
            <a:endParaRPr lang="ru-RU" sz="1600" dirty="0">
              <a:solidFill>
                <a:srgbClr val="A5937C"/>
              </a:solidFill>
              <a:latin typeface="Montserrat" pitchFamily="2" charset="77"/>
            </a:endParaRPr>
          </a:p>
          <a:p>
            <a:r>
              <a:rPr lang="en-US" sz="1600" dirty="0">
                <a:solidFill>
                  <a:srgbClr val="A5937C"/>
                </a:solidFill>
                <a:latin typeface="Montserrat" pitchFamily="2" charset="77"/>
              </a:rPr>
              <a:t>📳 </a:t>
            </a:r>
            <a:r>
              <a:rPr lang="en-US" sz="1600" b="1" dirty="0">
                <a:solidFill>
                  <a:srgbClr val="A5937C"/>
                </a:solidFill>
                <a:latin typeface="Montserrat" pitchFamily="2" charset="77"/>
              </a:rPr>
              <a:t>3.</a:t>
            </a:r>
            <a:r>
              <a:rPr lang="ru-RU" sz="1600" b="1" dirty="0">
                <a:solidFill>
                  <a:srgbClr val="A5937C"/>
                </a:solidFill>
                <a:latin typeface="Montserrat" pitchFamily="2" charset="77"/>
              </a:rPr>
              <a:t> Связь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A5937C"/>
                </a:solidFill>
                <a:latin typeface="Montserrat" pitchFamily="2" charset="77"/>
              </a:rPr>
              <a:t>Переключение</a:t>
            </a:r>
            <a:r>
              <a:rPr lang="ru-RU" sz="1600" dirty="0">
                <a:solidFill>
                  <a:srgbClr val="A5937C"/>
                </a:solidFill>
                <a:latin typeface="Montserrat" pitchFamily="2" charset="77"/>
              </a:rPr>
              <a:t> между </a:t>
            </a:r>
            <a:r>
              <a:rPr lang="en-US" sz="1600" dirty="0">
                <a:solidFill>
                  <a:srgbClr val="A5937C"/>
                </a:solidFill>
                <a:latin typeface="Montserrat" pitchFamily="2" charset="77"/>
              </a:rPr>
              <a:t>Wi-Fi / </a:t>
            </a:r>
            <a:r>
              <a:rPr lang="ru-RU" sz="1600" dirty="0">
                <a:solidFill>
                  <a:srgbClr val="A5937C"/>
                </a:solidFill>
                <a:latin typeface="Montserrat" pitchFamily="2" charset="77"/>
              </a:rPr>
              <a:t>мобильным интернетом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A5937C"/>
                </a:solidFill>
                <a:latin typeface="Montserrat" pitchFamily="2" charset="77"/>
              </a:rPr>
              <a:t>Потеря</a:t>
            </a:r>
            <a:r>
              <a:rPr lang="ru-RU" sz="1600" dirty="0">
                <a:solidFill>
                  <a:srgbClr val="A5937C"/>
                </a:solidFill>
                <a:latin typeface="Montserrat" pitchFamily="2" charset="77"/>
              </a:rPr>
              <a:t> связи (в лифте, метро, на улице)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A5937C"/>
                </a:solidFill>
                <a:latin typeface="Montserrat" pitchFamily="2" charset="77"/>
              </a:rPr>
              <a:t>Разная </a:t>
            </a:r>
            <a:r>
              <a:rPr lang="ru-RU" sz="1600" b="1" dirty="0">
                <a:solidFill>
                  <a:srgbClr val="A5937C"/>
                </a:solidFill>
                <a:latin typeface="Montserrat" pitchFamily="2" charset="77"/>
              </a:rPr>
              <a:t>скорость</a:t>
            </a:r>
            <a:r>
              <a:rPr lang="ru-RU" sz="1600" dirty="0">
                <a:solidFill>
                  <a:srgbClr val="A5937C"/>
                </a:solidFill>
                <a:latin typeface="Montserrat" pitchFamily="2" charset="77"/>
              </a:rPr>
              <a:t> сети (3</a:t>
            </a:r>
            <a:r>
              <a:rPr lang="en-US" sz="1600" dirty="0">
                <a:solidFill>
                  <a:srgbClr val="A5937C"/>
                </a:solidFill>
                <a:latin typeface="Montserrat" pitchFamily="2" charset="77"/>
              </a:rPr>
              <a:t>G, LTE, 5G)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A5937C"/>
                </a:solidFill>
                <a:latin typeface="Montserrat" pitchFamily="2" charset="77"/>
              </a:rPr>
              <a:t>Airplane mode / Offline-</a:t>
            </a:r>
            <a:r>
              <a:rPr lang="ru-RU" sz="1600" b="1" dirty="0">
                <a:solidFill>
                  <a:srgbClr val="A5937C"/>
                </a:solidFill>
                <a:latin typeface="Montserrat" pitchFamily="2" charset="77"/>
              </a:rPr>
              <a:t>режим</a:t>
            </a:r>
          </a:p>
          <a:p>
            <a:pPr lvl="1"/>
            <a:endParaRPr lang="ru-RU" sz="1600" b="1" dirty="0">
              <a:solidFill>
                <a:srgbClr val="A5937C"/>
              </a:solidFill>
              <a:latin typeface="Montserrat" pitchFamily="2" charset="77"/>
            </a:endParaRPr>
          </a:p>
          <a:p>
            <a:r>
              <a:rPr lang="en-US" sz="1600" b="1" dirty="0">
                <a:solidFill>
                  <a:srgbClr val="A5937C"/>
                </a:solidFill>
                <a:latin typeface="Montserrat" pitchFamily="2" charset="77"/>
              </a:rPr>
              <a:t>🔄 4. </a:t>
            </a:r>
            <a:r>
              <a:rPr lang="ru-RU" sz="1600" b="1" dirty="0">
                <a:solidFill>
                  <a:srgbClr val="A5937C"/>
                </a:solidFill>
                <a:latin typeface="Montserrat" pitchFamily="2" charset="77"/>
              </a:rPr>
              <a:t>Установка / обновление / удаление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A5937C"/>
                </a:solidFill>
                <a:latin typeface="Montserrat" pitchFamily="2" charset="77"/>
              </a:rPr>
              <a:t>Установка</a:t>
            </a:r>
            <a:r>
              <a:rPr lang="ru-RU" sz="1600" dirty="0">
                <a:solidFill>
                  <a:srgbClr val="A5937C"/>
                </a:solidFill>
                <a:latin typeface="Montserrat" pitchFamily="2" charset="77"/>
              </a:rPr>
              <a:t> на "чистое" устройство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A5937C"/>
                </a:solidFill>
                <a:latin typeface="Montserrat" pitchFamily="2" charset="77"/>
              </a:rPr>
              <a:t>Обновление</a:t>
            </a:r>
            <a:r>
              <a:rPr lang="ru-RU" sz="1600" dirty="0">
                <a:solidFill>
                  <a:srgbClr val="A5937C"/>
                </a:solidFill>
                <a:latin typeface="Montserrat" pitchFamily="2" charset="77"/>
              </a:rPr>
              <a:t> с предыдущей версии (с сохранением данных)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A5937C"/>
                </a:solidFill>
                <a:latin typeface="Montserrat" pitchFamily="2" charset="77"/>
              </a:rPr>
              <a:t>Поведение после </a:t>
            </a:r>
            <a:r>
              <a:rPr lang="ru-RU" sz="1600" b="1" dirty="0">
                <a:solidFill>
                  <a:srgbClr val="A5937C"/>
                </a:solidFill>
                <a:latin typeface="Montserrat" pitchFamily="2" charset="77"/>
              </a:rPr>
              <a:t>удаления</a:t>
            </a:r>
            <a:r>
              <a:rPr lang="ru-RU" sz="1600" dirty="0">
                <a:solidFill>
                  <a:srgbClr val="A5937C"/>
                </a:solidFill>
                <a:latin typeface="Montserrat" pitchFamily="2" charset="77"/>
              </a:rPr>
              <a:t> и повторной установки (удаление данных, кэш, токенов)</a:t>
            </a:r>
          </a:p>
          <a:p>
            <a:endParaRPr lang="ru-RU" sz="1600" dirty="0">
              <a:solidFill>
                <a:srgbClr val="A5937C"/>
              </a:solidFill>
              <a:latin typeface="Montserrat" pitchFamily="2" charset="77"/>
            </a:endParaRPr>
          </a:p>
          <a:p>
            <a:endParaRPr lang="ru-RU" sz="1600" dirty="0">
              <a:solidFill>
                <a:srgbClr val="A5937C"/>
              </a:solidFill>
              <a:latin typeface="Montserrat" pitchFamily="2" charset="7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ru-RU" sz="1600" dirty="0">
              <a:solidFill>
                <a:srgbClr val="A5937C"/>
              </a:solidFill>
              <a:latin typeface="Montserrat" pitchFamily="2" charset="7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ru-RU" sz="1600" dirty="0">
              <a:solidFill>
                <a:srgbClr val="A5937C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896407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8FD8A-0F90-494D-76B1-5429AE4C8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1">
            <a:extLst>
              <a:ext uri="{FF2B5EF4-FFF2-40B4-BE49-F238E27FC236}">
                <a16:creationId xmlns:a16="http://schemas.microsoft.com/office/drawing/2014/main" id="{C4F94E92-274A-7A3D-FA93-AF6B913DCC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35256" y="6176962"/>
            <a:ext cx="612060" cy="528637"/>
          </a:xfrm>
        </p:spPr>
        <p:txBody>
          <a:bodyPr/>
          <a:lstStyle/>
          <a:p>
            <a:r>
              <a:rPr lang="ru-RU" dirty="0"/>
              <a:t>03</a:t>
            </a:r>
            <a:endParaRPr lang="ru-U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CA8D8A-CC96-04B2-C3BA-E00D74C37FF6}"/>
              </a:ext>
            </a:extLst>
          </p:cNvPr>
          <p:cNvSpPr txBox="1"/>
          <p:nvPr/>
        </p:nvSpPr>
        <p:spPr>
          <a:xfrm>
            <a:off x="621323" y="644768"/>
            <a:ext cx="10574725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A5937C"/>
                </a:solidFill>
                <a:latin typeface="Montserrat" pitchFamily="2" charset="77"/>
              </a:rPr>
              <a:t>🔔 5. </a:t>
            </a:r>
            <a:r>
              <a:rPr lang="ru-RU" sz="1600" b="1" dirty="0">
                <a:solidFill>
                  <a:srgbClr val="A5937C"/>
                </a:solidFill>
                <a:latin typeface="Montserrat" pitchFamily="2" charset="77"/>
              </a:rPr>
              <a:t>Работа с нативными функциями и разрешениями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A5937C"/>
                </a:solidFill>
                <a:latin typeface="Montserrat" pitchFamily="2" charset="77"/>
              </a:rPr>
              <a:t>Камера, микрофон, </a:t>
            </a:r>
            <a:r>
              <a:rPr lang="en-US" sz="1600" dirty="0">
                <a:solidFill>
                  <a:srgbClr val="A5937C"/>
                </a:solidFill>
                <a:latin typeface="Montserrat" pitchFamily="2" charset="77"/>
              </a:rPr>
              <a:t>GPS, Bluetooth, </a:t>
            </a:r>
            <a:r>
              <a:rPr lang="ru-RU" sz="1600" dirty="0">
                <a:solidFill>
                  <a:srgbClr val="A5937C"/>
                </a:solidFill>
                <a:latin typeface="Montserrat" pitchFamily="2" charset="77"/>
              </a:rPr>
              <a:t>акселерометр, сканеры отпечатков </a:t>
            </a:r>
          </a:p>
          <a:p>
            <a:pPr lvl="1"/>
            <a:r>
              <a:rPr lang="ru-RU" sz="1600" dirty="0">
                <a:solidFill>
                  <a:srgbClr val="A5937C"/>
                </a:solidFill>
                <a:latin typeface="Montserrat" pitchFamily="2" charset="77"/>
              </a:rPr>
              <a:t>пальцев (</a:t>
            </a:r>
            <a:r>
              <a:rPr lang="en-US" sz="1600" dirty="0">
                <a:solidFill>
                  <a:srgbClr val="A5937C"/>
                </a:solidFill>
                <a:latin typeface="Montserrat" pitchFamily="2" charset="77"/>
              </a:rPr>
              <a:t>Touch ID / Face ID)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A5937C"/>
                </a:solidFill>
                <a:latin typeface="Montserrat" pitchFamily="2" charset="77"/>
              </a:rPr>
              <a:t>Уведомления (пуши) и их отображение в разных состояниях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A5937C"/>
                </a:solidFill>
                <a:latin typeface="Montserrat" pitchFamily="2" charset="77"/>
              </a:rPr>
              <a:t>Запрос разрешений (разрешить/запретить, поведение после отказа и повторного запроса)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ru-RU" sz="1600" dirty="0">
              <a:solidFill>
                <a:srgbClr val="A5937C"/>
              </a:solidFill>
              <a:latin typeface="Montserrat" pitchFamily="2" charset="77"/>
            </a:endParaRPr>
          </a:p>
          <a:p>
            <a:r>
              <a:rPr lang="en-US" sz="1600" b="1" dirty="0">
                <a:solidFill>
                  <a:srgbClr val="A5937C"/>
                </a:solidFill>
                <a:latin typeface="Montserrat" pitchFamily="2" charset="77"/>
              </a:rPr>
              <a:t>🔁 6. </a:t>
            </a:r>
            <a:r>
              <a:rPr lang="ru-RU" sz="1600" b="1" dirty="0">
                <a:solidFill>
                  <a:srgbClr val="A5937C"/>
                </a:solidFill>
                <a:latin typeface="Montserrat" pitchFamily="2" charset="77"/>
              </a:rPr>
              <a:t>Прерывания во время работы приложения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A5937C"/>
                </a:solidFill>
                <a:latin typeface="Montserrat" pitchFamily="2" charset="77"/>
              </a:rPr>
              <a:t>Входящие звонки / </a:t>
            </a:r>
            <a:r>
              <a:rPr lang="en-US" sz="1600" dirty="0">
                <a:solidFill>
                  <a:srgbClr val="A5937C"/>
                </a:solidFill>
                <a:latin typeface="Montserrat" pitchFamily="2" charset="77"/>
              </a:rPr>
              <a:t>SMS / </a:t>
            </a:r>
            <a:r>
              <a:rPr lang="ru-RU" sz="1600" dirty="0">
                <a:solidFill>
                  <a:srgbClr val="A5937C"/>
                </a:solidFill>
                <a:latin typeface="Montserrat" pitchFamily="2" charset="77"/>
              </a:rPr>
              <a:t>уведомления </a:t>
            </a:r>
            <a:r>
              <a:rPr lang="ru-RU" sz="1200" dirty="0">
                <a:solidFill>
                  <a:srgbClr val="A5937C"/>
                </a:solidFill>
                <a:latin typeface="Montserrat" pitchFamily="2" charset="77"/>
              </a:rPr>
              <a:t>(!навигаторы, мессенджер)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A5937C"/>
                </a:solidFill>
                <a:latin typeface="Montserrat" pitchFamily="2" charset="77"/>
              </a:rPr>
              <a:t>Свертывание и возвращение в приложение </a:t>
            </a:r>
            <a:r>
              <a:rPr lang="ru-RU" sz="1200" dirty="0">
                <a:solidFill>
                  <a:srgbClr val="A5937C"/>
                </a:solidFill>
                <a:latin typeface="Montserrat" pitchFamily="2" charset="77"/>
              </a:rPr>
              <a:t>(автоматическая пауза)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A5937C"/>
                </a:solidFill>
                <a:latin typeface="Montserrat" pitchFamily="2" charset="77"/>
              </a:rPr>
              <a:t>Переключение между приложениями (многозадачность)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A5937C"/>
                </a:solidFill>
                <a:latin typeface="Montserrat" pitchFamily="2" charset="77"/>
              </a:rPr>
              <a:t>Перезапуск устройства</a:t>
            </a:r>
          </a:p>
          <a:p>
            <a:endParaRPr lang="ru-RU" sz="1600" dirty="0">
              <a:solidFill>
                <a:srgbClr val="A5937C"/>
              </a:solidFill>
              <a:latin typeface="Montserrat" pitchFamily="2" charset="77"/>
            </a:endParaRPr>
          </a:p>
          <a:p>
            <a:r>
              <a:rPr lang="en-US" sz="1600" dirty="0">
                <a:solidFill>
                  <a:srgbClr val="A5937C"/>
                </a:solidFill>
                <a:latin typeface="Montserrat" pitchFamily="2" charset="77"/>
              </a:rPr>
              <a:t>↕️ </a:t>
            </a:r>
            <a:r>
              <a:rPr lang="ru-RU" sz="1600" b="1" dirty="0">
                <a:solidFill>
                  <a:srgbClr val="A5937C"/>
                </a:solidFill>
                <a:latin typeface="Montserrat" pitchFamily="2" charset="77"/>
              </a:rPr>
              <a:t>7. Ориентация экрана </a:t>
            </a:r>
            <a:r>
              <a:rPr lang="ru-RU" sz="1400" dirty="0">
                <a:solidFill>
                  <a:srgbClr val="A5937C"/>
                </a:solidFill>
                <a:latin typeface="Montserrat" pitchFamily="2" charset="77"/>
              </a:rPr>
              <a:t>(если реализовано)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A5937C"/>
                </a:solidFill>
                <a:latin typeface="Montserrat" pitchFamily="2" charset="77"/>
              </a:rPr>
              <a:t>Переход между портретной и альбомной ориентацией</a:t>
            </a:r>
          </a:p>
          <a:p>
            <a:endParaRPr lang="ru-RU" sz="1600" dirty="0">
              <a:solidFill>
                <a:srgbClr val="A5937C"/>
              </a:solidFill>
              <a:latin typeface="Montserrat" pitchFamily="2" charset="77"/>
            </a:endParaRPr>
          </a:p>
          <a:p>
            <a:r>
              <a:rPr lang="en-US" sz="1600" b="1" dirty="0">
                <a:solidFill>
                  <a:srgbClr val="A5937C"/>
                </a:solidFill>
                <a:latin typeface="Montserrat" pitchFamily="2" charset="77"/>
              </a:rPr>
              <a:t>🤝 8. </a:t>
            </a:r>
            <a:r>
              <a:rPr lang="ru-RU" sz="1600" b="1" dirty="0">
                <a:solidFill>
                  <a:srgbClr val="A5937C"/>
                </a:solidFill>
                <a:latin typeface="Montserrat" pitchFamily="2" charset="77"/>
              </a:rPr>
              <a:t>Интеграции и взаимодействие с другими приложениями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A5937C"/>
                </a:solidFill>
                <a:latin typeface="Montserrat" pitchFamily="2" charset="77"/>
              </a:rPr>
              <a:t>Открытие файлов в других приложениях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A5937C"/>
                </a:solidFill>
                <a:latin typeface="Montserrat" pitchFamily="2" charset="77"/>
              </a:rPr>
              <a:t>Авторизация через сторонние сервисы (</a:t>
            </a:r>
            <a:r>
              <a:rPr lang="en-US" sz="1600" dirty="0">
                <a:solidFill>
                  <a:srgbClr val="A5937C"/>
                </a:solidFill>
                <a:latin typeface="Montserrat" pitchFamily="2" charset="77"/>
              </a:rPr>
              <a:t>OAuth: Google, Facebook </a:t>
            </a:r>
            <a:r>
              <a:rPr lang="ru-RU" sz="1600" dirty="0">
                <a:solidFill>
                  <a:srgbClr val="A5937C"/>
                </a:solidFill>
                <a:latin typeface="Montserrat" pitchFamily="2" charset="77"/>
              </a:rPr>
              <a:t>и т.д.)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A5937C"/>
                </a:solidFill>
                <a:latin typeface="Montserrat" pitchFamily="2" charset="77"/>
              </a:rPr>
              <a:t>Обработка случая, если нужное приложение не установлено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A5937C"/>
                </a:solidFill>
                <a:latin typeface="Montserrat" pitchFamily="2" charset="77"/>
              </a:rPr>
              <a:t>схемы </a:t>
            </a:r>
            <a:r>
              <a:rPr lang="en-US" sz="1600" dirty="0">
                <a:solidFill>
                  <a:srgbClr val="A5937C"/>
                </a:solidFill>
                <a:latin typeface="Montserrat" pitchFamily="2" charset="77"/>
              </a:rPr>
              <a:t>URL</a:t>
            </a:r>
            <a:endParaRPr lang="ru-RU" sz="1600" dirty="0">
              <a:solidFill>
                <a:srgbClr val="A5937C"/>
              </a:solidFill>
              <a:latin typeface="Montserrat" pitchFamily="2" charset="77"/>
            </a:endParaRPr>
          </a:p>
          <a:p>
            <a:pPr lvl="1"/>
            <a:endParaRPr lang="ru-RU" sz="1600" dirty="0">
              <a:solidFill>
                <a:srgbClr val="A5937C"/>
              </a:solidFill>
              <a:latin typeface="Montserrat" pitchFamily="2" charset="7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ru-RU" sz="1600" dirty="0">
              <a:solidFill>
                <a:srgbClr val="A5937C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590740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9703E-4394-3AAD-ED36-85697A71B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1">
            <a:extLst>
              <a:ext uri="{FF2B5EF4-FFF2-40B4-BE49-F238E27FC236}">
                <a16:creationId xmlns:a16="http://schemas.microsoft.com/office/drawing/2014/main" id="{AC7A4A26-AD23-1A85-DD14-014CEC2B42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07062" y="6176962"/>
            <a:ext cx="714598" cy="528637"/>
          </a:xfrm>
        </p:spPr>
        <p:txBody>
          <a:bodyPr/>
          <a:lstStyle/>
          <a:p>
            <a:r>
              <a:rPr lang="ru-RU" dirty="0"/>
              <a:t>04</a:t>
            </a:r>
            <a:endParaRPr lang="ru-U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C0D4A6-5A12-8837-7150-45AB85E2F1C6}"/>
              </a:ext>
            </a:extLst>
          </p:cNvPr>
          <p:cNvSpPr txBox="1"/>
          <p:nvPr/>
        </p:nvSpPr>
        <p:spPr>
          <a:xfrm>
            <a:off x="621323" y="644768"/>
            <a:ext cx="105747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A5937C"/>
                </a:solidFill>
                <a:latin typeface="Montserrat" pitchFamily="2" charset="77"/>
              </a:rPr>
              <a:t>🧪 </a:t>
            </a:r>
            <a:r>
              <a:rPr lang="en-US" sz="1600" b="1" dirty="0">
                <a:solidFill>
                  <a:srgbClr val="A5937C"/>
                </a:solidFill>
                <a:latin typeface="Montserrat" pitchFamily="2" charset="77"/>
              </a:rPr>
              <a:t>9. </a:t>
            </a:r>
            <a:r>
              <a:rPr lang="ru-RU" sz="1600" b="1" dirty="0">
                <a:solidFill>
                  <a:srgbClr val="A5937C"/>
                </a:solidFill>
                <a:latin typeface="Montserrat" pitchFamily="2" charset="77"/>
              </a:rPr>
              <a:t>Варианты тестирования, специфичные для мобильных приложений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A5937C"/>
                </a:solidFill>
                <a:latin typeface="Montserrat" pitchFamily="2" charset="77"/>
              </a:rPr>
              <a:t>Gesture testing (</a:t>
            </a:r>
            <a:r>
              <a:rPr lang="ru-RU" sz="1600" dirty="0">
                <a:solidFill>
                  <a:srgbClr val="A5937C"/>
                </a:solidFill>
                <a:latin typeface="Montserrat" pitchFamily="2" charset="77"/>
              </a:rPr>
              <a:t>жесты: </a:t>
            </a:r>
            <a:r>
              <a:rPr lang="ru-RU" sz="1600" dirty="0" err="1">
                <a:solidFill>
                  <a:srgbClr val="A5937C"/>
                </a:solidFill>
                <a:latin typeface="Montserrat" pitchFamily="2" charset="77"/>
              </a:rPr>
              <a:t>свайпы</a:t>
            </a:r>
            <a:r>
              <a:rPr lang="ru-RU" sz="1600" dirty="0">
                <a:solidFill>
                  <a:srgbClr val="A5937C"/>
                </a:solidFill>
                <a:latin typeface="Montserrat" pitchFamily="2" charset="77"/>
              </a:rPr>
              <a:t>, пинч, </a:t>
            </a:r>
            <a:r>
              <a:rPr lang="ru-RU" sz="1600" dirty="0" err="1">
                <a:solidFill>
                  <a:srgbClr val="A5937C"/>
                </a:solidFill>
                <a:latin typeface="Montserrat" pitchFamily="2" charset="77"/>
              </a:rPr>
              <a:t>лонгтапы</a:t>
            </a:r>
            <a:r>
              <a:rPr lang="ru-RU" sz="1600" dirty="0">
                <a:solidFill>
                  <a:srgbClr val="A5937C"/>
                </a:solidFill>
                <a:latin typeface="Montserrat" pitchFamily="2" charset="77"/>
              </a:rPr>
              <a:t> и т.д.)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A5937C"/>
                </a:solidFill>
                <a:latin typeface="Montserrat" pitchFamily="2" charset="77"/>
              </a:rPr>
              <a:t>Touch- vs. hardware-key behavior (</a:t>
            </a:r>
            <a:r>
              <a:rPr lang="ru-RU" sz="1600" dirty="0">
                <a:solidFill>
                  <a:srgbClr val="A5937C"/>
                </a:solidFill>
                <a:latin typeface="Montserrat" pitchFamily="2" charset="77"/>
              </a:rPr>
              <a:t>назад, </a:t>
            </a:r>
            <a:r>
              <a:rPr lang="en-US" sz="1600" dirty="0">
                <a:solidFill>
                  <a:srgbClr val="A5937C"/>
                </a:solidFill>
                <a:latin typeface="Montserrat" pitchFamily="2" charset="77"/>
              </a:rPr>
              <a:t>home)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A5937C"/>
                </a:solidFill>
                <a:latin typeface="Montserrat" pitchFamily="2" charset="77"/>
              </a:rPr>
              <a:t>Background/Foreground testing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A5937C"/>
                </a:solidFill>
                <a:latin typeface="Montserrat" pitchFamily="2" charset="77"/>
              </a:rPr>
              <a:t>Тестирование энергопотребления, производительности, совместимости</a:t>
            </a:r>
          </a:p>
          <a:p>
            <a:endParaRPr lang="ru-RU" sz="1600" dirty="0">
              <a:solidFill>
                <a:srgbClr val="A5937C"/>
              </a:solidFill>
              <a:latin typeface="Montserrat" pitchFamily="2" charset="7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ru-RU" sz="1600" dirty="0">
              <a:solidFill>
                <a:srgbClr val="A5937C"/>
              </a:solidFill>
              <a:latin typeface="Montserrat" pitchFamily="2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2BEB1C-292F-324D-72C1-E449A8D49A99}"/>
              </a:ext>
            </a:extLst>
          </p:cNvPr>
          <p:cNvSpPr txBox="1"/>
          <p:nvPr/>
        </p:nvSpPr>
        <p:spPr>
          <a:xfrm>
            <a:off x="621323" y="2042860"/>
            <a:ext cx="922606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A5937C"/>
                </a:solidFill>
                <a:latin typeface="Montserrat" pitchFamily="2" charset="77"/>
              </a:rPr>
              <a:t>📱 </a:t>
            </a:r>
            <a:r>
              <a:rPr lang="ru-RU" sz="1200" b="1" dirty="0">
                <a:solidFill>
                  <a:srgbClr val="A5937C"/>
                </a:solidFill>
                <a:latin typeface="Montserrat" pitchFamily="2" charset="77"/>
              </a:rPr>
              <a:t>Основные жесты: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A5937C"/>
                </a:solidFill>
                <a:latin typeface="Montserrat" pitchFamily="2" charset="77"/>
              </a:rPr>
              <a:t>👆 </a:t>
            </a:r>
            <a:r>
              <a:rPr lang="ru-RU" sz="1200" dirty="0">
                <a:solidFill>
                  <a:srgbClr val="A5937C"/>
                </a:solidFill>
                <a:latin typeface="Montserrat" pitchFamily="2" charset="77"/>
              </a:rPr>
              <a:t>Одиночное нажатие – </a:t>
            </a:r>
            <a:r>
              <a:rPr lang="en-US" sz="1200" b="1" dirty="0">
                <a:solidFill>
                  <a:srgbClr val="A5937C"/>
                </a:solidFill>
                <a:latin typeface="Montserrat" pitchFamily="2" charset="77"/>
              </a:rPr>
              <a:t>Tap</a:t>
            </a:r>
            <a:r>
              <a:rPr lang="ru-RU" sz="1200" dirty="0">
                <a:solidFill>
                  <a:srgbClr val="A5937C"/>
                </a:solidFill>
                <a:latin typeface="Montserrat" pitchFamily="2" charset="77"/>
              </a:rPr>
              <a:t> - Быстрое касание экрана одним пальцем.  Используется для выбора, нажатия кнопок, ссылок и т.п.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A5937C"/>
                </a:solidFill>
                <a:latin typeface="Montserrat" pitchFamily="2" charset="77"/>
              </a:rPr>
              <a:t>✌️ Двойное нажатие - </a:t>
            </a:r>
            <a:r>
              <a:rPr lang="en-US" sz="1200" b="1" dirty="0">
                <a:solidFill>
                  <a:srgbClr val="A5937C"/>
                </a:solidFill>
                <a:latin typeface="Montserrat" pitchFamily="2" charset="77"/>
              </a:rPr>
              <a:t>Double Tap</a:t>
            </a:r>
            <a:r>
              <a:rPr lang="ru-RU" sz="1200" b="1" dirty="0">
                <a:solidFill>
                  <a:srgbClr val="A5937C"/>
                </a:solidFill>
                <a:latin typeface="Montserrat" pitchFamily="2" charset="77"/>
              </a:rPr>
              <a:t> </a:t>
            </a:r>
            <a:r>
              <a:rPr lang="ru-RU" sz="1200" dirty="0">
                <a:solidFill>
                  <a:srgbClr val="A5937C"/>
                </a:solidFill>
                <a:latin typeface="Montserrat" pitchFamily="2" charset="77"/>
              </a:rPr>
              <a:t>- Быстрое двойное касание экрана. Часто используется для увеличения/уменьшения масштаба или лайка (например, в </a:t>
            </a:r>
            <a:r>
              <a:rPr lang="en-US" sz="1200" dirty="0">
                <a:solidFill>
                  <a:srgbClr val="A5937C"/>
                </a:solidFill>
                <a:latin typeface="Montserrat" pitchFamily="2" charset="77"/>
              </a:rPr>
              <a:t>Instagram)</a:t>
            </a:r>
            <a:endParaRPr lang="ru-RU" sz="1200" dirty="0">
              <a:solidFill>
                <a:srgbClr val="A5937C"/>
              </a:solidFill>
              <a:latin typeface="Montserrat" pitchFamily="2" charset="7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A5937C"/>
                </a:solidFill>
                <a:latin typeface="Montserrat" pitchFamily="2" charset="77"/>
              </a:rPr>
              <a:t> </a:t>
            </a:r>
            <a:r>
              <a:rPr lang="en-US" sz="1200" dirty="0">
                <a:solidFill>
                  <a:srgbClr val="A5937C"/>
                </a:solidFill>
                <a:latin typeface="Montserrat" pitchFamily="2" charset="77"/>
              </a:rPr>
              <a:t>👉 </a:t>
            </a:r>
            <a:r>
              <a:rPr lang="ru-RU" sz="1200" dirty="0">
                <a:solidFill>
                  <a:srgbClr val="A5937C"/>
                </a:solidFill>
                <a:latin typeface="Montserrat" pitchFamily="2" charset="77"/>
              </a:rPr>
              <a:t>Долгое нажатие - </a:t>
            </a:r>
            <a:r>
              <a:rPr lang="en-US" sz="1200" b="1" dirty="0">
                <a:solidFill>
                  <a:srgbClr val="A5937C"/>
                </a:solidFill>
                <a:latin typeface="Montserrat" pitchFamily="2" charset="77"/>
              </a:rPr>
              <a:t>Long Press / Long Tap</a:t>
            </a:r>
            <a:r>
              <a:rPr lang="ru-RU" sz="1200" b="1" dirty="0">
                <a:solidFill>
                  <a:srgbClr val="A5937C"/>
                </a:solidFill>
                <a:latin typeface="Montserrat" pitchFamily="2" charset="77"/>
              </a:rPr>
              <a:t> </a:t>
            </a:r>
            <a:r>
              <a:rPr lang="ru-RU" sz="1200" dirty="0">
                <a:solidFill>
                  <a:srgbClr val="A5937C"/>
                </a:solidFill>
                <a:latin typeface="Montserrat" pitchFamily="2" charset="77"/>
              </a:rPr>
              <a:t>- Удержание пальца на экране дольше обычного. Обычно вызывает контекстное меню или активирует режим редактирования.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A5937C"/>
                </a:solidFill>
                <a:latin typeface="Montserrat" pitchFamily="2" charset="77"/>
              </a:rPr>
              <a:t>👉➡️ </a:t>
            </a:r>
            <a:r>
              <a:rPr lang="ru-RU" sz="1200" dirty="0" err="1">
                <a:solidFill>
                  <a:srgbClr val="A5937C"/>
                </a:solidFill>
                <a:latin typeface="Montserrat" pitchFamily="2" charset="77"/>
              </a:rPr>
              <a:t>Свайп</a:t>
            </a:r>
            <a:r>
              <a:rPr lang="ru-RU" sz="1200" dirty="0">
                <a:solidFill>
                  <a:srgbClr val="A5937C"/>
                </a:solidFill>
                <a:latin typeface="Montserrat" pitchFamily="2" charset="77"/>
              </a:rPr>
              <a:t> – </a:t>
            </a:r>
            <a:r>
              <a:rPr lang="en-US" sz="1200" b="1" dirty="0">
                <a:solidFill>
                  <a:srgbClr val="A5937C"/>
                </a:solidFill>
                <a:latin typeface="Montserrat" pitchFamily="2" charset="77"/>
              </a:rPr>
              <a:t>Swipe</a:t>
            </a:r>
            <a:r>
              <a:rPr lang="ru-RU" sz="1200" dirty="0">
                <a:solidFill>
                  <a:srgbClr val="A5937C"/>
                </a:solidFill>
                <a:latin typeface="Montserrat" pitchFamily="2" charset="77"/>
              </a:rPr>
              <a:t> - Быстрое скольжение пальцем влево/вправо/вверх/вниз. Используется для прокрутки, переключения экранов, удаления элементов и т.д.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A5937C"/>
                </a:solidFill>
                <a:latin typeface="Montserrat" pitchFamily="2" charset="77"/>
              </a:rPr>
              <a:t>👉↔️ </a:t>
            </a:r>
            <a:r>
              <a:rPr lang="ru-RU" sz="1200" dirty="0" err="1">
                <a:solidFill>
                  <a:srgbClr val="A5937C"/>
                </a:solidFill>
                <a:latin typeface="Montserrat" pitchFamily="2" charset="77"/>
              </a:rPr>
              <a:t>Скролл</a:t>
            </a:r>
            <a:r>
              <a:rPr lang="ru-RU" sz="1200" dirty="0">
                <a:solidFill>
                  <a:srgbClr val="A5937C"/>
                </a:solidFill>
                <a:latin typeface="Montserrat" pitchFamily="2" charset="77"/>
              </a:rPr>
              <a:t> – </a:t>
            </a:r>
            <a:r>
              <a:rPr lang="en-US" sz="1200" b="1" dirty="0">
                <a:solidFill>
                  <a:srgbClr val="A5937C"/>
                </a:solidFill>
                <a:latin typeface="Montserrat" pitchFamily="2" charset="77"/>
              </a:rPr>
              <a:t>Scroll</a:t>
            </a:r>
            <a:r>
              <a:rPr lang="ru-RU" sz="1200" dirty="0">
                <a:solidFill>
                  <a:srgbClr val="A5937C"/>
                </a:solidFill>
                <a:latin typeface="Montserrat" pitchFamily="2" charset="77"/>
              </a:rPr>
              <a:t> - Медленное или быстрое перемещение по списку, экрану или странице.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A5937C"/>
                </a:solidFill>
                <a:latin typeface="Montserrat" pitchFamily="2" charset="77"/>
              </a:rPr>
              <a:t>✌️📈 </a:t>
            </a:r>
            <a:r>
              <a:rPr lang="ru-RU" sz="1200" dirty="0">
                <a:solidFill>
                  <a:srgbClr val="A5937C"/>
                </a:solidFill>
                <a:latin typeface="Montserrat" pitchFamily="2" charset="77"/>
              </a:rPr>
              <a:t>Разведение пальцев - </a:t>
            </a:r>
            <a:r>
              <a:rPr lang="en-US" sz="1200" b="1" dirty="0">
                <a:solidFill>
                  <a:srgbClr val="A5937C"/>
                </a:solidFill>
                <a:latin typeface="Montserrat" pitchFamily="2" charset="77"/>
              </a:rPr>
              <a:t>Pinch Out / Zoom In</a:t>
            </a:r>
            <a:r>
              <a:rPr lang="ru-RU" sz="1200" b="1" dirty="0">
                <a:solidFill>
                  <a:srgbClr val="A5937C"/>
                </a:solidFill>
                <a:latin typeface="Montserrat" pitchFamily="2" charset="77"/>
              </a:rPr>
              <a:t> </a:t>
            </a:r>
            <a:r>
              <a:rPr lang="ru-RU" sz="1200" dirty="0">
                <a:solidFill>
                  <a:srgbClr val="A5937C"/>
                </a:solidFill>
                <a:latin typeface="Montserrat" pitchFamily="2" charset="77"/>
              </a:rPr>
              <a:t>- Разведение двух пальцев на экране для увеличения масштаба (карт, фото, текста).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A5937C"/>
                </a:solidFill>
                <a:latin typeface="Montserrat" pitchFamily="2" charset="77"/>
              </a:rPr>
              <a:t>✌️📉 </a:t>
            </a:r>
            <a:r>
              <a:rPr lang="ru-RU" sz="1200" dirty="0">
                <a:solidFill>
                  <a:srgbClr val="A5937C"/>
                </a:solidFill>
                <a:latin typeface="Montserrat" pitchFamily="2" charset="77"/>
              </a:rPr>
              <a:t>Сведение пальцев - </a:t>
            </a:r>
            <a:r>
              <a:rPr lang="en-US" sz="1200" b="1" dirty="0">
                <a:solidFill>
                  <a:srgbClr val="A5937C"/>
                </a:solidFill>
                <a:latin typeface="Montserrat" pitchFamily="2" charset="77"/>
              </a:rPr>
              <a:t>Pinch In / Zoom Out</a:t>
            </a:r>
            <a:r>
              <a:rPr lang="ru-RU" sz="1200" b="1" dirty="0">
                <a:solidFill>
                  <a:srgbClr val="A5937C"/>
                </a:solidFill>
                <a:latin typeface="Montserrat" pitchFamily="2" charset="77"/>
              </a:rPr>
              <a:t> </a:t>
            </a:r>
            <a:r>
              <a:rPr lang="ru-RU" sz="1200" dirty="0">
                <a:solidFill>
                  <a:srgbClr val="A5937C"/>
                </a:solidFill>
                <a:latin typeface="Montserrat" pitchFamily="2" charset="77"/>
              </a:rPr>
              <a:t>- Сведение двух пальцев для уменьшения масштаба.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A5937C"/>
                </a:solidFill>
                <a:latin typeface="Montserrat" pitchFamily="2" charset="77"/>
              </a:rPr>
              <a:t>👉➡️ (</a:t>
            </a:r>
            <a:r>
              <a:rPr lang="ru-RU" sz="1200" dirty="0">
                <a:solidFill>
                  <a:srgbClr val="A5937C"/>
                </a:solidFill>
                <a:latin typeface="Montserrat" pitchFamily="2" charset="77"/>
              </a:rPr>
              <a:t>с края) - </a:t>
            </a:r>
            <a:r>
              <a:rPr lang="en-US" sz="1200" b="1" dirty="0">
                <a:solidFill>
                  <a:srgbClr val="A5937C"/>
                </a:solidFill>
                <a:latin typeface="Montserrat" pitchFamily="2" charset="77"/>
              </a:rPr>
              <a:t>Edge Swipe</a:t>
            </a:r>
            <a:r>
              <a:rPr lang="ru-RU" sz="1200" b="1" dirty="0">
                <a:solidFill>
                  <a:srgbClr val="A5937C"/>
                </a:solidFill>
                <a:latin typeface="Montserrat" pitchFamily="2" charset="77"/>
              </a:rPr>
              <a:t> </a:t>
            </a:r>
            <a:r>
              <a:rPr lang="ru-RU" sz="1200" dirty="0">
                <a:solidFill>
                  <a:srgbClr val="A5937C"/>
                </a:solidFill>
                <a:latin typeface="Montserrat" pitchFamily="2" charset="77"/>
              </a:rPr>
              <a:t>- </a:t>
            </a:r>
            <a:r>
              <a:rPr lang="ru-RU" sz="1200" dirty="0" err="1">
                <a:solidFill>
                  <a:srgbClr val="A5937C"/>
                </a:solidFill>
                <a:latin typeface="Montserrat" pitchFamily="2" charset="77"/>
              </a:rPr>
              <a:t>Свайп</a:t>
            </a:r>
            <a:r>
              <a:rPr lang="ru-RU" sz="1200" dirty="0">
                <a:solidFill>
                  <a:srgbClr val="A5937C"/>
                </a:solidFill>
                <a:latin typeface="Montserrat" pitchFamily="2" charset="77"/>
              </a:rPr>
              <a:t> от края экрана. Может использоваться для открытия бокового меню или возврата назад.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A5937C"/>
                </a:solidFill>
                <a:latin typeface="Montserrat" pitchFamily="2" charset="77"/>
              </a:rPr>
              <a:t>🖐️ </a:t>
            </a:r>
            <a:r>
              <a:rPr lang="ru-RU" sz="1200" dirty="0">
                <a:solidFill>
                  <a:srgbClr val="A5937C"/>
                </a:solidFill>
                <a:latin typeface="Montserrat" pitchFamily="2" charset="77"/>
              </a:rPr>
              <a:t>Перетаскивание – </a:t>
            </a:r>
            <a:r>
              <a:rPr lang="en-US" sz="1200" b="1" dirty="0">
                <a:solidFill>
                  <a:srgbClr val="A5937C"/>
                </a:solidFill>
                <a:latin typeface="Montserrat" pitchFamily="2" charset="77"/>
              </a:rPr>
              <a:t>Drag</a:t>
            </a:r>
            <a:r>
              <a:rPr lang="ru-RU" sz="1200" dirty="0">
                <a:solidFill>
                  <a:srgbClr val="A5937C"/>
                </a:solidFill>
                <a:latin typeface="Montserrat" pitchFamily="2" charset="77"/>
              </a:rPr>
              <a:t> - Нажатие и перемещение объекта по экрану. Используется для сортировки, перемещения элементов.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A5937C"/>
                </a:solidFill>
                <a:latin typeface="Montserrat" pitchFamily="2" charset="77"/>
              </a:rPr>
              <a:t>↘️ Смахивание вниз - </a:t>
            </a:r>
            <a:r>
              <a:rPr lang="en-US" sz="1200" b="1" dirty="0">
                <a:solidFill>
                  <a:srgbClr val="A5937C"/>
                </a:solidFill>
                <a:latin typeface="Montserrat" pitchFamily="2" charset="77"/>
              </a:rPr>
              <a:t>Pull to Refresh</a:t>
            </a:r>
            <a:r>
              <a:rPr lang="ru-RU" sz="1200" b="1" dirty="0">
                <a:solidFill>
                  <a:srgbClr val="A5937C"/>
                </a:solidFill>
                <a:latin typeface="Montserrat" pitchFamily="2" charset="77"/>
              </a:rPr>
              <a:t> </a:t>
            </a:r>
            <a:r>
              <a:rPr lang="ru-RU" sz="1200" dirty="0">
                <a:solidFill>
                  <a:srgbClr val="A5937C"/>
                </a:solidFill>
                <a:latin typeface="Montserrat" pitchFamily="2" charset="77"/>
              </a:rPr>
              <a:t>- </a:t>
            </a:r>
            <a:r>
              <a:rPr lang="ru-RU" sz="1200" dirty="0" err="1">
                <a:solidFill>
                  <a:srgbClr val="A5937C"/>
                </a:solidFill>
                <a:latin typeface="Montserrat" pitchFamily="2" charset="77"/>
              </a:rPr>
              <a:t>Свайп</a:t>
            </a:r>
            <a:r>
              <a:rPr lang="ru-RU" sz="1200" dirty="0">
                <a:solidFill>
                  <a:srgbClr val="A5937C"/>
                </a:solidFill>
                <a:latin typeface="Montserrat" pitchFamily="2" charset="77"/>
              </a:rPr>
              <a:t> вниз в списке для обновления контента. Часто используется в лентах и почтовых клиентах.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A5937C"/>
                </a:solidFill>
                <a:latin typeface="Montserrat" pitchFamily="2" charset="77"/>
              </a:rPr>
              <a:t>✨ </a:t>
            </a:r>
            <a:r>
              <a:rPr lang="ru-RU" sz="1200" dirty="0">
                <a:solidFill>
                  <a:srgbClr val="A5937C"/>
                </a:solidFill>
                <a:latin typeface="Montserrat" pitchFamily="2" charset="77"/>
              </a:rPr>
              <a:t>Быстрое смахивание – </a:t>
            </a:r>
            <a:r>
              <a:rPr lang="en-US" sz="1200" b="1" dirty="0">
                <a:solidFill>
                  <a:srgbClr val="A5937C"/>
                </a:solidFill>
                <a:latin typeface="Montserrat" pitchFamily="2" charset="77"/>
              </a:rPr>
              <a:t>Flick</a:t>
            </a:r>
            <a:r>
              <a:rPr lang="ru-RU" sz="1200" dirty="0">
                <a:solidFill>
                  <a:srgbClr val="A5937C"/>
                </a:solidFill>
                <a:latin typeface="Montserrat" pitchFamily="2" charset="77"/>
              </a:rPr>
              <a:t> - Короткий резкий </a:t>
            </a:r>
            <a:r>
              <a:rPr lang="ru-RU" sz="1200" dirty="0" err="1">
                <a:solidFill>
                  <a:srgbClr val="A5937C"/>
                </a:solidFill>
                <a:latin typeface="Montserrat" pitchFamily="2" charset="77"/>
              </a:rPr>
              <a:t>свайп</a:t>
            </a:r>
            <a:r>
              <a:rPr lang="ru-RU" sz="1200" dirty="0">
                <a:solidFill>
                  <a:srgbClr val="A5937C"/>
                </a:solidFill>
                <a:latin typeface="Montserrat" pitchFamily="2" charset="77"/>
              </a:rPr>
              <a:t>. Отличается от обычного </a:t>
            </a:r>
            <a:r>
              <a:rPr lang="ru-RU" sz="1200" dirty="0" err="1">
                <a:solidFill>
                  <a:srgbClr val="A5937C"/>
                </a:solidFill>
                <a:latin typeface="Montserrat" pitchFamily="2" charset="77"/>
              </a:rPr>
              <a:t>свайпа</a:t>
            </a:r>
            <a:r>
              <a:rPr lang="ru-RU" sz="1200" dirty="0">
                <a:solidFill>
                  <a:srgbClr val="A5937C"/>
                </a:solidFill>
                <a:latin typeface="Montserrat" pitchFamily="2" charset="77"/>
              </a:rPr>
              <a:t> скоростью. Может использоваться для быстрой прокрутки.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A5937C"/>
                </a:solidFill>
                <a:latin typeface="Montserrat" pitchFamily="2" charset="77"/>
              </a:rPr>
              <a:t>✋ </a:t>
            </a:r>
            <a:r>
              <a:rPr lang="ru-RU" sz="1200" dirty="0" err="1">
                <a:solidFill>
                  <a:srgbClr val="A5937C"/>
                </a:solidFill>
                <a:latin typeface="Montserrat" pitchFamily="2" charset="77"/>
              </a:rPr>
              <a:t>Многопальцевые</a:t>
            </a:r>
            <a:r>
              <a:rPr lang="ru-RU" sz="1200" dirty="0">
                <a:solidFill>
                  <a:srgbClr val="A5937C"/>
                </a:solidFill>
                <a:latin typeface="Montserrat" pitchFamily="2" charset="77"/>
              </a:rPr>
              <a:t> жесты - </a:t>
            </a:r>
            <a:r>
              <a:rPr lang="en-US" sz="1200" b="1" dirty="0">
                <a:solidFill>
                  <a:srgbClr val="A5937C"/>
                </a:solidFill>
                <a:latin typeface="Montserrat" pitchFamily="2" charset="77"/>
              </a:rPr>
              <a:t>Multi-finger gestures</a:t>
            </a:r>
            <a:r>
              <a:rPr lang="ru-RU" sz="1200" b="1" dirty="0">
                <a:solidFill>
                  <a:srgbClr val="A5937C"/>
                </a:solidFill>
                <a:latin typeface="Montserrat" pitchFamily="2" charset="77"/>
              </a:rPr>
              <a:t> </a:t>
            </a:r>
            <a:r>
              <a:rPr lang="ru-RU" sz="1200" dirty="0">
                <a:solidFill>
                  <a:srgbClr val="A5937C"/>
                </a:solidFill>
                <a:latin typeface="Montserrat" pitchFamily="2" charset="77"/>
              </a:rPr>
              <a:t>- Использование нескольких пальцев для выполнения действий (например, слайд тремя пальцами вниз для скриншота на </a:t>
            </a:r>
            <a:r>
              <a:rPr lang="en-US" sz="1200" dirty="0">
                <a:solidFill>
                  <a:srgbClr val="A5937C"/>
                </a:solidFill>
                <a:latin typeface="Montserrat" pitchFamily="2" charset="77"/>
              </a:rPr>
              <a:t>Android)</a:t>
            </a:r>
            <a:r>
              <a:rPr lang="ru-RU" sz="1200" dirty="0">
                <a:solidFill>
                  <a:srgbClr val="A5937C"/>
                </a:solidFill>
                <a:latin typeface="Montserrat" pitchFamily="2" charset="77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A5937C"/>
              </a:solidFill>
              <a:latin typeface="Montserrat" pitchFamily="2" charset="7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A5937C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428849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1C81B5-608F-4E24-AEC3-42D7A10069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563562"/>
            <a:ext cx="10715402" cy="444623"/>
          </a:xfrm>
        </p:spPr>
        <p:txBody>
          <a:bodyPr/>
          <a:lstStyle/>
          <a:p>
            <a:r>
              <a:rPr lang="en-US" sz="2400" dirty="0"/>
              <a:t>🌐 </a:t>
            </a:r>
            <a:r>
              <a:rPr lang="ru-RU" sz="2400" dirty="0">
                <a:solidFill>
                  <a:srgbClr val="1E628F"/>
                </a:solidFill>
                <a:latin typeface="Montserrat" pitchFamily="2" charset="77"/>
              </a:rPr>
              <a:t>Выбор браузеров для тестирования</a:t>
            </a:r>
            <a:br>
              <a:rPr lang="ru-RU" sz="2400" dirty="0">
                <a:solidFill>
                  <a:srgbClr val="1E628F"/>
                </a:solidFill>
                <a:latin typeface="Montserrat" pitchFamily="2" charset="77"/>
              </a:rPr>
            </a:br>
            <a:r>
              <a:rPr lang="ru-RU" sz="2400" dirty="0">
                <a:solidFill>
                  <a:srgbClr val="1E628F"/>
                </a:solidFill>
                <a:latin typeface="Montserrat" pitchFamily="2" charset="77"/>
              </a:rPr>
              <a:t>   </a:t>
            </a:r>
            <a:endParaRPr lang="ru-UA" sz="2400">
              <a:solidFill>
                <a:srgbClr val="1E628F"/>
              </a:solidFill>
              <a:latin typeface="Montserrat" pitchFamily="2" charset="77"/>
            </a:endParaRPr>
          </a:p>
        </p:txBody>
      </p:sp>
      <p:sp>
        <p:nvSpPr>
          <p:cNvPr id="5" name="Текст 1">
            <a:extLst>
              <a:ext uri="{FF2B5EF4-FFF2-40B4-BE49-F238E27FC236}">
                <a16:creationId xmlns:a16="http://schemas.microsoft.com/office/drawing/2014/main" id="{D2EC131C-A405-4D29-87B6-2AEFDA9877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53702" y="6176962"/>
            <a:ext cx="593614" cy="528637"/>
          </a:xfrm>
        </p:spPr>
        <p:txBody>
          <a:bodyPr/>
          <a:lstStyle/>
          <a:p>
            <a:r>
              <a:rPr lang="ru-RU" dirty="0"/>
              <a:t>05</a:t>
            </a:r>
            <a:endParaRPr lang="ru-U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E572AF-7613-5A57-63A4-3D1166981E02}"/>
              </a:ext>
            </a:extLst>
          </p:cNvPr>
          <p:cNvSpPr txBox="1"/>
          <p:nvPr/>
        </p:nvSpPr>
        <p:spPr>
          <a:xfrm>
            <a:off x="762000" y="1101969"/>
            <a:ext cx="107154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1E628F"/>
                </a:solidFill>
                <a:latin typeface="Montserrat" pitchFamily="2" charset="77"/>
              </a:rPr>
              <a:t>Внутренняя статистика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1E628F"/>
                </a:solidFill>
                <a:latin typeface="Montserrat" pitchFamily="2" charset="77"/>
              </a:rPr>
              <a:t>Использование (внутреннее или глобальное)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1E628F"/>
                </a:solidFill>
                <a:latin typeface="Montserrat" pitchFamily="2" charset="77"/>
              </a:rPr>
              <a:t>Страна использования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1E628F"/>
                </a:solidFill>
                <a:latin typeface="Montserrat" pitchFamily="2" charset="77"/>
              </a:rPr>
              <a:t>Характеристика пользователей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1E628F"/>
                </a:solidFill>
                <a:latin typeface="Montserrat" pitchFamily="2" charset="77"/>
              </a:rPr>
              <a:t>Движок</a:t>
            </a:r>
            <a:endParaRPr lang="en-US" dirty="0">
              <a:solidFill>
                <a:srgbClr val="1E628F"/>
              </a:solidFill>
              <a:latin typeface="Montserrat" pitchFamily="2" charset="77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5C3B7E1E-84B6-ED97-E64D-9667D422479A}"/>
              </a:ext>
            </a:extLst>
          </p:cNvPr>
          <p:cNvSpPr txBox="1">
            <a:spLocks/>
          </p:cNvSpPr>
          <p:nvPr/>
        </p:nvSpPr>
        <p:spPr>
          <a:xfrm>
            <a:off x="762000" y="2723205"/>
            <a:ext cx="10715402" cy="444623"/>
          </a:xfrm>
          <a:prstGeom prst="rect">
            <a:avLst/>
          </a:prstGeom>
        </p:spPr>
        <p:txBody>
          <a:bodyPr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u="none" strike="noStrike" kern="1200">
                <a:solidFill>
                  <a:schemeClr val="tx1"/>
                </a:solidFill>
                <a:effectLst/>
                <a:latin typeface="Montserrat" pitchFamily="2" charset="-52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rgbClr val="A5937C"/>
                </a:solidFill>
                <a:latin typeface="Montserrat" pitchFamily="2" charset="77"/>
              </a:rPr>
              <a:t>📱 </a:t>
            </a:r>
            <a:r>
              <a:rPr lang="ru-RU" sz="2400" dirty="0">
                <a:solidFill>
                  <a:srgbClr val="1E628F"/>
                </a:solidFill>
                <a:latin typeface="Montserrat" pitchFamily="2" charset="77"/>
              </a:rPr>
              <a:t>Выбор мобильных устройств для тестирования</a:t>
            </a:r>
            <a:br>
              <a:rPr lang="ru-RU" sz="2400" dirty="0">
                <a:solidFill>
                  <a:srgbClr val="1E628F"/>
                </a:solidFill>
                <a:latin typeface="Montserrat" pitchFamily="2" charset="77"/>
              </a:rPr>
            </a:br>
            <a:r>
              <a:rPr lang="ru-RU" sz="2400" dirty="0">
                <a:solidFill>
                  <a:srgbClr val="1E628F"/>
                </a:solidFill>
                <a:latin typeface="Montserrat" pitchFamily="2" charset="77"/>
              </a:rPr>
              <a:t>   </a:t>
            </a:r>
            <a:endParaRPr lang="ru-UA" sz="2400">
              <a:solidFill>
                <a:srgbClr val="1E628F"/>
              </a:solidFill>
              <a:latin typeface="Montserrat" pitchFamily="2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CF795A-C316-48E7-867C-A1F988DEFC56}"/>
              </a:ext>
            </a:extLst>
          </p:cNvPr>
          <p:cNvSpPr txBox="1"/>
          <p:nvPr/>
        </p:nvSpPr>
        <p:spPr>
          <a:xfrm>
            <a:off x="738299" y="3355374"/>
            <a:ext cx="107154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ru-RU" dirty="0">
                <a:solidFill>
                  <a:srgbClr val="1E628F"/>
                </a:solidFill>
                <a:latin typeface="Montserrat" pitchFamily="2" charset="77"/>
              </a:rPr>
              <a:t>Ко всему выше добавляем: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1E628F"/>
                </a:solidFill>
                <a:latin typeface="Montserrat" pitchFamily="2" charset="77"/>
              </a:rPr>
              <a:t>размеры экрана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E628F"/>
                </a:solidFill>
                <a:latin typeface="Montserrat" pitchFamily="2" charset="77"/>
              </a:rPr>
              <a:t>Android/ </a:t>
            </a:r>
            <a:r>
              <a:rPr lang="en-US" dirty="0" err="1">
                <a:solidFill>
                  <a:srgbClr val="1E628F"/>
                </a:solidFill>
                <a:latin typeface="Montserrat" pitchFamily="2" charset="77"/>
              </a:rPr>
              <a:t>iOs</a:t>
            </a:r>
            <a:endParaRPr lang="en-US" dirty="0">
              <a:solidFill>
                <a:srgbClr val="1E628F"/>
              </a:solidFill>
              <a:latin typeface="Montserrat" pitchFamily="2" charset="7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1E628F"/>
                </a:solidFill>
                <a:latin typeface="Montserrat" pitchFamily="2" charset="77"/>
              </a:rPr>
              <a:t>версии оси</a:t>
            </a:r>
            <a:endParaRPr lang="en-US" dirty="0">
              <a:solidFill>
                <a:srgbClr val="1E628F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269844407"/>
      </p:ext>
    </p:extLst>
  </p:cSld>
  <p:clrMapOvr>
    <a:masterClrMapping/>
  </p:clrMapOvr>
</p:sld>
</file>

<file path=ppt/theme/theme1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779</Words>
  <Application>Microsoft Macintosh PowerPoint</Application>
  <PresentationFormat>Widescreen</PresentationFormat>
  <Paragraphs>129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Montserrat</vt:lpstr>
      <vt:lpstr>1_Тема Office</vt:lpstr>
      <vt:lpstr>2_Тема Office</vt:lpstr>
      <vt:lpstr>Разомнемся</vt:lpstr>
      <vt:lpstr>PowerPoint Presentation</vt:lpstr>
      <vt:lpstr>Особенности тестирования мобильных приложений</vt:lpstr>
      <vt:lpstr>PowerPoint Presentation</vt:lpstr>
      <vt:lpstr>PowerPoint Presentation</vt:lpstr>
      <vt:lpstr>PowerPoint Presentation</vt:lpstr>
      <vt:lpstr>🌐 Выбор браузеров для тестирования 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Oksana Mishura</dc:creator>
  <cp:lastModifiedBy>Ekaterina Laptyuhova</cp:lastModifiedBy>
  <cp:revision>12</cp:revision>
  <dcterms:created xsi:type="dcterms:W3CDTF">2025-05-21T13:16:37Z</dcterms:created>
  <dcterms:modified xsi:type="dcterms:W3CDTF">2025-06-29T11:40:17Z</dcterms:modified>
</cp:coreProperties>
</file>